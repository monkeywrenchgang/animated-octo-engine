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6" r:id="rId7"/>
    <p:sldId id="261" r:id="rId8"/>
    <p:sldId id="267" r:id="rId9"/>
    <p:sldId id="262" r:id="rId10"/>
    <p:sldId id="263" r:id="rId11"/>
    <p:sldId id="264" r:id="rId12"/>
    <p:sldId id="26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4255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340"/>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0A89D"/>
          </a:solidFill>
          <a:ln/>
        </p:spPr>
        <p:txBody>
          <a:bodyPr/>
          <a:lstStyle/>
          <a:p>
            <a:endParaRPr lang="en-US"/>
          </a:p>
        </p:txBody>
      </p:sp>
      <p:sp>
        <p:nvSpPr>
          <p:cNvPr id="3" name="Shape 1"/>
          <p:cNvSpPr/>
          <p:nvPr/>
        </p:nvSpPr>
        <p:spPr>
          <a:xfrm>
            <a:off x="164592" y="0"/>
            <a:ext cx="11996928" cy="54864"/>
          </a:xfrm>
          <a:prstGeom prst="rect">
            <a:avLst/>
          </a:prstGeom>
          <a:solidFill>
            <a:srgbClr val="00A89D"/>
          </a:solidFill>
          <a:ln/>
        </p:spPr>
        <p:txBody>
          <a:bodyPr/>
          <a:lstStyle/>
          <a:p>
            <a:endParaRPr lang="en-US"/>
          </a:p>
        </p:txBody>
      </p:sp>
      <p:sp>
        <p:nvSpPr>
          <p:cNvPr id="4" name="Shape 2"/>
          <p:cNvSpPr/>
          <p:nvPr/>
        </p:nvSpPr>
        <p:spPr>
          <a:xfrm>
            <a:off x="7772400" y="-1371600"/>
            <a:ext cx="5943600" cy="5943600"/>
          </a:xfrm>
          <a:prstGeom prst="ellipse">
            <a:avLst/>
          </a:prstGeom>
          <a:solidFill>
            <a:srgbClr val="163354"/>
          </a:solidFill>
          <a:ln/>
        </p:spPr>
        <p:txBody>
          <a:bodyPr/>
          <a:lstStyle/>
          <a:p>
            <a:endParaRPr lang="en-US"/>
          </a:p>
        </p:txBody>
      </p:sp>
      <p:sp>
        <p:nvSpPr>
          <p:cNvPr id="5" name="Shape 3"/>
          <p:cNvSpPr/>
          <p:nvPr/>
        </p:nvSpPr>
        <p:spPr>
          <a:xfrm>
            <a:off x="8686800" y="-457200"/>
            <a:ext cx="4572000" cy="4572000"/>
          </a:xfrm>
          <a:prstGeom prst="ellipse">
            <a:avLst/>
          </a:prstGeom>
          <a:solidFill>
            <a:srgbClr val="00A89D"/>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0" y="1097280"/>
            <a:ext cx="822960" cy="822960"/>
          </a:xfrm>
          <a:prstGeom prst="rect">
            <a:avLst/>
          </a:prstGeom>
        </p:spPr>
      </p:pic>
      <p:pic>
        <p:nvPicPr>
          <p:cNvPr id="7" name="Image 1" descr="preencoded.png"/>
          <p:cNvPicPr>
            <a:picLocks noChangeAspect="1"/>
          </p:cNvPicPr>
          <p:nvPr/>
        </p:nvPicPr>
        <p:blipFill>
          <a:blip r:embed="rId4"/>
          <a:stretch>
            <a:fillRect/>
          </a:stretch>
        </p:blipFill>
        <p:spPr>
          <a:xfrm>
            <a:off x="10058400" y="1645920"/>
            <a:ext cx="822960" cy="822960"/>
          </a:xfrm>
          <a:prstGeom prst="rect">
            <a:avLst/>
          </a:prstGeom>
        </p:spPr>
      </p:pic>
      <p:pic>
        <p:nvPicPr>
          <p:cNvPr id="8" name="Image 2" descr="preencoded.png"/>
          <p:cNvPicPr>
            <a:picLocks noChangeAspect="1"/>
          </p:cNvPicPr>
          <p:nvPr/>
        </p:nvPicPr>
        <p:blipFill>
          <a:blip r:embed="rId5"/>
          <a:stretch>
            <a:fillRect/>
          </a:stretch>
        </p:blipFill>
        <p:spPr>
          <a:xfrm>
            <a:off x="9418320" y="2560320"/>
            <a:ext cx="822960" cy="822960"/>
          </a:xfrm>
          <a:prstGeom prst="rect">
            <a:avLst/>
          </a:prstGeom>
        </p:spPr>
      </p:pic>
      <p:sp>
        <p:nvSpPr>
          <p:cNvPr id="9" name="Shape 4"/>
          <p:cNvSpPr/>
          <p:nvPr/>
        </p:nvSpPr>
        <p:spPr>
          <a:xfrm>
            <a:off x="502920" y="1371600"/>
            <a:ext cx="2560320" cy="347472"/>
          </a:xfrm>
          <a:prstGeom prst="rect">
            <a:avLst/>
          </a:prstGeom>
          <a:solidFill>
            <a:srgbClr val="00A89D"/>
          </a:solidFill>
          <a:ln/>
        </p:spPr>
        <p:txBody>
          <a:bodyPr/>
          <a:lstStyle/>
          <a:p>
            <a:endParaRPr lang="en-US"/>
          </a:p>
        </p:txBody>
      </p:sp>
      <p:sp>
        <p:nvSpPr>
          <p:cNvPr id="10" name="Text 5"/>
          <p:cNvSpPr/>
          <p:nvPr/>
        </p:nvSpPr>
        <p:spPr>
          <a:xfrm>
            <a:off x="502920" y="1371600"/>
            <a:ext cx="2560320" cy="347472"/>
          </a:xfrm>
          <a:prstGeom prst="rect">
            <a:avLst/>
          </a:prstGeom>
          <a:noFill/>
          <a:ln/>
        </p:spPr>
        <p:txBody>
          <a:bodyPr wrap="square" lIns="0" tIns="0" rIns="0" bIns="0" rtlCol="0" anchor="ctr"/>
          <a:lstStyle/>
          <a:p>
            <a:pPr marL="0" indent="0" algn="ctr">
              <a:buNone/>
            </a:pPr>
            <a:r>
              <a:rPr lang="en-US" sz="900" b="1" dirty="0">
                <a:solidFill>
                  <a:srgbClr val="FFFFFF"/>
                </a:solidFill>
              </a:rPr>
              <a:t>DATA SERVICES OVERVIEW</a:t>
            </a:r>
            <a:endParaRPr lang="en-US" sz="900" dirty="0"/>
          </a:p>
        </p:txBody>
      </p:sp>
      <p:sp>
        <p:nvSpPr>
          <p:cNvPr id="11" name="Text 6"/>
          <p:cNvSpPr/>
          <p:nvPr/>
        </p:nvSpPr>
        <p:spPr>
          <a:xfrm>
            <a:off x="502920" y="1874520"/>
            <a:ext cx="7315200" cy="2011680"/>
          </a:xfrm>
          <a:prstGeom prst="rect">
            <a:avLst/>
          </a:prstGeom>
          <a:noFill/>
          <a:ln/>
        </p:spPr>
        <p:txBody>
          <a:bodyPr wrap="square" rtlCol="0" anchor="ctr"/>
          <a:lstStyle/>
          <a:p>
            <a:pPr marL="0" indent="0">
              <a:lnSpc>
                <a:spcPct val="110000"/>
              </a:lnSpc>
              <a:buNone/>
            </a:pPr>
            <a:r>
              <a:rPr lang="en-US" sz="5200" b="1" dirty="0">
                <a:solidFill>
                  <a:srgbClr val="FFFFFF"/>
                </a:solidFill>
                <a:latin typeface="Calibri" pitchFamily="34" charset="0"/>
                <a:ea typeface="Calibri" pitchFamily="34" charset="-122"/>
                <a:cs typeface="Calibri" pitchFamily="34" charset="-120"/>
              </a:rPr>
              <a:t>Your Data.</a:t>
            </a:r>
            <a:endParaRPr lang="en-US" sz="5200" dirty="0"/>
          </a:p>
          <a:p>
            <a:pPr marL="0" indent="0">
              <a:lnSpc>
                <a:spcPct val="110000"/>
              </a:lnSpc>
              <a:buNone/>
            </a:pPr>
            <a:r>
              <a:rPr lang="en-US" sz="5200" b="1" dirty="0">
                <a:solidFill>
                  <a:srgbClr val="FFFFFF"/>
                </a:solidFill>
                <a:latin typeface="Calibri" pitchFamily="34" charset="0"/>
                <a:ea typeface="Calibri" pitchFamily="34" charset="-122"/>
                <a:cs typeface="Calibri" pitchFamily="34" charset="-120"/>
              </a:rPr>
              <a:t>Your Advantage.</a:t>
            </a:r>
            <a:endParaRPr lang="en-US" sz="5200" dirty="0"/>
          </a:p>
        </p:txBody>
      </p:sp>
      <p:sp>
        <p:nvSpPr>
          <p:cNvPr id="12" name="Text 7"/>
          <p:cNvSpPr/>
          <p:nvPr/>
        </p:nvSpPr>
        <p:spPr>
          <a:xfrm>
            <a:off x="502920" y="3977640"/>
            <a:ext cx="7132320" cy="822960"/>
          </a:xfrm>
          <a:prstGeom prst="rect">
            <a:avLst/>
          </a:prstGeom>
          <a:noFill/>
          <a:ln/>
        </p:spPr>
        <p:txBody>
          <a:bodyPr wrap="square" rtlCol="0" anchor="ctr"/>
          <a:lstStyle/>
          <a:p>
            <a:pPr marL="0" indent="0">
              <a:buNone/>
            </a:pPr>
            <a:r>
              <a:rPr lang="en-US" sz="1600" dirty="0">
                <a:solidFill>
                  <a:srgbClr val="7B96B2"/>
                </a:solidFill>
                <a:latin typeface="Calibri" pitchFamily="34" charset="0"/>
                <a:ea typeface="Calibri" pitchFamily="34" charset="-122"/>
                <a:cs typeface="Calibri" pitchFamily="34" charset="-120"/>
              </a:rPr>
              <a:t>A guided tour of Jack Henry's Data Portfolio —</a:t>
            </a:r>
            <a:endParaRPr lang="en-US" sz="1600" dirty="0"/>
          </a:p>
          <a:p>
            <a:pPr marL="0" indent="0">
              <a:buNone/>
            </a:pPr>
            <a:r>
              <a:rPr lang="en-US" sz="1600" dirty="0">
                <a:solidFill>
                  <a:srgbClr val="7B96B2"/>
                </a:solidFill>
                <a:latin typeface="Calibri" pitchFamily="34" charset="0"/>
                <a:ea typeface="Calibri" pitchFamily="34" charset="-122"/>
                <a:cs typeface="Calibri" pitchFamily="34" charset="-120"/>
              </a:rPr>
              <a:t>DataHub, JHKnow, ARCU, and JHBI.</a:t>
            </a:r>
            <a:endParaRPr lang="en-US" sz="1600" dirty="0"/>
          </a:p>
        </p:txBody>
      </p:sp>
      <p:sp>
        <p:nvSpPr>
          <p:cNvPr id="13" name="Shape 8"/>
          <p:cNvSpPr/>
          <p:nvPr/>
        </p:nvSpPr>
        <p:spPr>
          <a:xfrm>
            <a:off x="164592" y="6492240"/>
            <a:ext cx="11996928" cy="365760"/>
          </a:xfrm>
          <a:prstGeom prst="rect">
            <a:avLst/>
          </a:prstGeom>
          <a:solidFill>
            <a:srgbClr val="163354"/>
          </a:solidFill>
          <a:ln/>
        </p:spPr>
        <p:txBody>
          <a:bodyPr/>
          <a:lstStyle/>
          <a:p>
            <a:endParaRPr lang="en-US"/>
          </a:p>
        </p:txBody>
      </p:sp>
      <p:sp>
        <p:nvSpPr>
          <p:cNvPr id="14" name="Text 9"/>
          <p:cNvSpPr/>
          <p:nvPr/>
        </p:nvSpPr>
        <p:spPr>
          <a:xfrm>
            <a:off x="457200" y="6492240"/>
            <a:ext cx="10972800" cy="365760"/>
          </a:xfrm>
          <a:prstGeom prst="rect">
            <a:avLst/>
          </a:prstGeom>
          <a:noFill/>
          <a:ln/>
        </p:spPr>
        <p:txBody>
          <a:bodyPr wrap="square" rtlCol="0" anchor="ctr"/>
          <a:lstStyle/>
          <a:p>
            <a:pPr marL="0" indent="0">
              <a:buNone/>
            </a:pPr>
            <a:r>
              <a:rPr lang="en-US" sz="900" dirty="0">
                <a:solidFill>
                  <a:srgbClr val="7B96B2"/>
                </a:solidFill>
              </a:rPr>
              <a:t>CONFIDENTIAL  |  JACK HENRY &amp; ASSOCIATES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D2340"/>
          </a:solidFill>
          <a:ln/>
        </p:spPr>
        <p:txBody>
          <a:bodyPr/>
          <a:lstStyle/>
          <a:p>
            <a:endParaRPr lang="en-US"/>
          </a:p>
        </p:txBody>
      </p:sp>
      <p:sp>
        <p:nvSpPr>
          <p:cNvPr id="3" name="Shape 1"/>
          <p:cNvSpPr/>
          <p:nvPr/>
        </p:nvSpPr>
        <p:spPr>
          <a:xfrm>
            <a:off x="0" y="1188720"/>
            <a:ext cx="12161520" cy="64008"/>
          </a:xfrm>
          <a:prstGeom prst="rect">
            <a:avLst/>
          </a:prstGeom>
          <a:solidFill>
            <a:srgbClr val="00A89D"/>
          </a:solidFill>
          <a:ln/>
        </p:spPr>
        <p:txBody>
          <a:bodyPr/>
          <a:lstStyle/>
          <a:p>
            <a:endParaRPr lang="en-US"/>
          </a:p>
        </p:txBody>
      </p:sp>
      <p:sp>
        <p:nvSpPr>
          <p:cNvPr id="4" name="Text 2"/>
          <p:cNvSpPr/>
          <p:nvPr/>
        </p:nvSpPr>
        <p:spPr>
          <a:xfrm>
            <a:off x="457200" y="0"/>
            <a:ext cx="10972800" cy="1188720"/>
          </a:xfrm>
          <a:prstGeom prst="rect">
            <a:avLst/>
          </a:prstGeom>
          <a:noFill/>
          <a:ln/>
        </p:spPr>
        <p:txBody>
          <a:bodyPr wrap="square" rtlCol="0" anchor="ctr"/>
          <a:lstStyle/>
          <a:p>
            <a:pPr marL="0" indent="0">
              <a:buNone/>
            </a:pPr>
            <a:r>
              <a:rPr lang="en-US" sz="3200" b="1" dirty="0">
                <a:solidFill>
                  <a:srgbClr val="FFFFFF"/>
                </a:solidFill>
              </a:rPr>
              <a:t>What We'll Cover Today</a:t>
            </a:r>
            <a:endParaRPr lang="en-US" sz="3200" dirty="0"/>
          </a:p>
        </p:txBody>
      </p:sp>
      <p:sp>
        <p:nvSpPr>
          <p:cNvPr id="5" name="Shape 3"/>
          <p:cNvSpPr/>
          <p:nvPr/>
        </p:nvSpPr>
        <p:spPr>
          <a:xfrm>
            <a:off x="411480" y="1508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6" name="Shape 4"/>
          <p:cNvSpPr/>
          <p:nvPr/>
        </p:nvSpPr>
        <p:spPr>
          <a:xfrm>
            <a:off x="411480" y="1508760"/>
            <a:ext cx="3566160" cy="64008"/>
          </a:xfrm>
          <a:prstGeom prst="rect">
            <a:avLst/>
          </a:prstGeom>
          <a:solidFill>
            <a:srgbClr val="00A89D"/>
          </a:solidFill>
          <a:ln/>
        </p:spPr>
        <p:txBody>
          <a:bodyPr/>
          <a:lstStyle/>
          <a:p>
            <a:endParaRPr lang="en-US"/>
          </a:p>
        </p:txBody>
      </p:sp>
      <p:sp>
        <p:nvSpPr>
          <p:cNvPr id="7" name="Shape 5"/>
          <p:cNvSpPr/>
          <p:nvPr/>
        </p:nvSpPr>
        <p:spPr>
          <a:xfrm>
            <a:off x="576072" y="1691640"/>
            <a:ext cx="457200" cy="457200"/>
          </a:xfrm>
          <a:prstGeom prst="ellipse">
            <a:avLst/>
          </a:prstGeom>
          <a:solidFill>
            <a:srgbClr val="0D2340"/>
          </a:solidFill>
          <a:ln/>
        </p:spPr>
        <p:txBody>
          <a:bodyPr/>
          <a:lstStyle/>
          <a:p>
            <a:endParaRPr lang="en-US"/>
          </a:p>
        </p:txBody>
      </p:sp>
      <p:sp>
        <p:nvSpPr>
          <p:cNvPr id="8" name="Text 6"/>
          <p:cNvSpPr/>
          <p:nvPr/>
        </p:nvSpPr>
        <p:spPr>
          <a:xfrm>
            <a:off x="576072" y="1691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pic>
        <p:nvPicPr>
          <p:cNvPr id="9" name="Image 0" descr="preencoded.png"/>
          <p:cNvPicPr>
            <a:picLocks noChangeAspect="1"/>
          </p:cNvPicPr>
          <p:nvPr/>
        </p:nvPicPr>
        <p:blipFill>
          <a:blip r:embed="rId3"/>
          <a:stretch>
            <a:fillRect/>
          </a:stretch>
        </p:blipFill>
        <p:spPr>
          <a:xfrm>
            <a:off x="3355848" y="1673352"/>
            <a:ext cx="365760" cy="365760"/>
          </a:xfrm>
          <a:prstGeom prst="rect">
            <a:avLst/>
          </a:prstGeom>
        </p:spPr>
      </p:pic>
      <p:sp>
        <p:nvSpPr>
          <p:cNvPr id="10" name="Text 7"/>
          <p:cNvSpPr/>
          <p:nvPr/>
        </p:nvSpPr>
        <p:spPr>
          <a:xfrm>
            <a:off x="576072" y="2221992"/>
            <a:ext cx="3236976" cy="365760"/>
          </a:xfrm>
          <a:prstGeom prst="rect">
            <a:avLst/>
          </a:prstGeom>
          <a:noFill/>
          <a:ln/>
        </p:spPr>
        <p:txBody>
          <a:bodyPr wrap="square" rtlCol="0" anchor="ctr"/>
          <a:lstStyle/>
          <a:p>
            <a:pPr marL="0" indent="0">
              <a:buNone/>
            </a:pPr>
            <a:r>
              <a:rPr lang="en-US" sz="1500" b="1" dirty="0">
                <a:solidFill>
                  <a:srgbClr val="0D2340"/>
                </a:solidFill>
              </a:rPr>
              <a:t>The Data Opportunity</a:t>
            </a:r>
            <a:endParaRPr lang="en-US" sz="1500" dirty="0"/>
          </a:p>
        </p:txBody>
      </p:sp>
      <p:sp>
        <p:nvSpPr>
          <p:cNvPr id="11" name="Text 8"/>
          <p:cNvSpPr/>
          <p:nvPr/>
        </p:nvSpPr>
        <p:spPr>
          <a:xfrm>
            <a:off x="576072" y="2587752"/>
            <a:ext cx="3236976" cy="685800"/>
          </a:xfrm>
          <a:prstGeom prst="rect">
            <a:avLst/>
          </a:prstGeom>
          <a:noFill/>
          <a:ln/>
        </p:spPr>
        <p:txBody>
          <a:bodyPr wrap="square" rtlCol="0" anchor="ctr"/>
          <a:lstStyle/>
          <a:p>
            <a:pPr marL="0" indent="0">
              <a:buNone/>
            </a:pPr>
            <a:r>
              <a:rPr lang="en-US" sz="1100" dirty="0">
                <a:solidFill>
                  <a:srgbClr val="2C4A6E"/>
                </a:solidFill>
              </a:rPr>
              <a:t>Why data is the next competitive frontier for community FIs</a:t>
            </a:r>
            <a:endParaRPr lang="en-US" sz="1100" dirty="0"/>
          </a:p>
        </p:txBody>
      </p:sp>
      <p:sp>
        <p:nvSpPr>
          <p:cNvPr id="12" name="Shape 9"/>
          <p:cNvSpPr/>
          <p:nvPr/>
        </p:nvSpPr>
        <p:spPr>
          <a:xfrm>
            <a:off x="4251960" y="1508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3" name="Shape 10"/>
          <p:cNvSpPr/>
          <p:nvPr/>
        </p:nvSpPr>
        <p:spPr>
          <a:xfrm>
            <a:off x="4251960" y="1508760"/>
            <a:ext cx="3566160" cy="64008"/>
          </a:xfrm>
          <a:prstGeom prst="rect">
            <a:avLst/>
          </a:prstGeom>
          <a:solidFill>
            <a:srgbClr val="00A89D"/>
          </a:solidFill>
          <a:ln/>
        </p:spPr>
        <p:txBody>
          <a:bodyPr/>
          <a:lstStyle/>
          <a:p>
            <a:endParaRPr lang="en-US"/>
          </a:p>
        </p:txBody>
      </p:sp>
      <p:sp>
        <p:nvSpPr>
          <p:cNvPr id="14" name="Shape 11"/>
          <p:cNvSpPr/>
          <p:nvPr/>
        </p:nvSpPr>
        <p:spPr>
          <a:xfrm>
            <a:off x="4416552" y="1691640"/>
            <a:ext cx="457200" cy="457200"/>
          </a:xfrm>
          <a:prstGeom prst="ellipse">
            <a:avLst/>
          </a:prstGeom>
          <a:solidFill>
            <a:srgbClr val="0D2340"/>
          </a:solidFill>
          <a:ln/>
        </p:spPr>
        <p:txBody>
          <a:bodyPr/>
          <a:lstStyle/>
          <a:p>
            <a:endParaRPr lang="en-US"/>
          </a:p>
        </p:txBody>
      </p:sp>
      <p:sp>
        <p:nvSpPr>
          <p:cNvPr id="15" name="Text 12"/>
          <p:cNvSpPr/>
          <p:nvPr/>
        </p:nvSpPr>
        <p:spPr>
          <a:xfrm>
            <a:off x="4416552" y="1691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pic>
        <p:nvPicPr>
          <p:cNvPr id="16" name="Image 1" descr="preencoded.png"/>
          <p:cNvPicPr>
            <a:picLocks noChangeAspect="1"/>
          </p:cNvPicPr>
          <p:nvPr/>
        </p:nvPicPr>
        <p:blipFill>
          <a:blip r:embed="rId4"/>
          <a:stretch>
            <a:fillRect/>
          </a:stretch>
        </p:blipFill>
        <p:spPr>
          <a:xfrm>
            <a:off x="7196328" y="1673352"/>
            <a:ext cx="365760" cy="365760"/>
          </a:xfrm>
          <a:prstGeom prst="rect">
            <a:avLst/>
          </a:prstGeom>
        </p:spPr>
      </p:pic>
      <p:sp>
        <p:nvSpPr>
          <p:cNvPr id="17" name="Text 13"/>
          <p:cNvSpPr/>
          <p:nvPr/>
        </p:nvSpPr>
        <p:spPr>
          <a:xfrm>
            <a:off x="4416552" y="2221992"/>
            <a:ext cx="3236976" cy="365760"/>
          </a:xfrm>
          <a:prstGeom prst="rect">
            <a:avLst/>
          </a:prstGeom>
          <a:noFill/>
          <a:ln/>
        </p:spPr>
        <p:txBody>
          <a:bodyPr wrap="square" rtlCol="0" anchor="ctr"/>
          <a:lstStyle/>
          <a:p>
            <a:pPr marL="0" indent="0">
              <a:buNone/>
            </a:pPr>
            <a:r>
              <a:rPr lang="en-US" sz="1500" b="1" dirty="0">
                <a:solidFill>
                  <a:srgbClr val="0D2340"/>
                </a:solidFill>
              </a:rPr>
              <a:t>DataHub</a:t>
            </a:r>
            <a:endParaRPr lang="en-US" sz="1500" dirty="0"/>
          </a:p>
        </p:txBody>
      </p:sp>
      <p:sp>
        <p:nvSpPr>
          <p:cNvPr id="18" name="Text 14"/>
          <p:cNvSpPr/>
          <p:nvPr/>
        </p:nvSpPr>
        <p:spPr>
          <a:xfrm>
            <a:off x="4416552" y="2587752"/>
            <a:ext cx="3236976" cy="685800"/>
          </a:xfrm>
          <a:prstGeom prst="rect">
            <a:avLst/>
          </a:prstGeom>
          <a:noFill/>
          <a:ln/>
        </p:spPr>
        <p:txBody>
          <a:bodyPr wrap="square" rtlCol="0" anchor="ctr"/>
          <a:lstStyle/>
          <a:p>
            <a:pPr marL="0" indent="0">
              <a:buNone/>
            </a:pPr>
            <a:r>
              <a:rPr lang="en-US" sz="1100" dirty="0">
                <a:solidFill>
                  <a:srgbClr val="2C4A6E"/>
                </a:solidFill>
              </a:rPr>
              <a:t>Raw, standardized data feeds from your JH core systems — direct to your cloud</a:t>
            </a:r>
            <a:endParaRPr lang="en-US" sz="1100" dirty="0"/>
          </a:p>
        </p:txBody>
      </p:sp>
      <p:sp>
        <p:nvSpPr>
          <p:cNvPr id="19" name="Shape 15"/>
          <p:cNvSpPr/>
          <p:nvPr/>
        </p:nvSpPr>
        <p:spPr>
          <a:xfrm>
            <a:off x="8092440" y="1508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0" name="Shape 16"/>
          <p:cNvSpPr/>
          <p:nvPr/>
        </p:nvSpPr>
        <p:spPr>
          <a:xfrm>
            <a:off x="8092440" y="1508760"/>
            <a:ext cx="3566160" cy="64008"/>
          </a:xfrm>
          <a:prstGeom prst="rect">
            <a:avLst/>
          </a:prstGeom>
          <a:solidFill>
            <a:srgbClr val="00A89D"/>
          </a:solidFill>
          <a:ln/>
        </p:spPr>
        <p:txBody>
          <a:bodyPr/>
          <a:lstStyle/>
          <a:p>
            <a:endParaRPr lang="en-US"/>
          </a:p>
        </p:txBody>
      </p:sp>
      <p:sp>
        <p:nvSpPr>
          <p:cNvPr id="21" name="Shape 17"/>
          <p:cNvSpPr/>
          <p:nvPr/>
        </p:nvSpPr>
        <p:spPr>
          <a:xfrm>
            <a:off x="8257032" y="1691640"/>
            <a:ext cx="457200" cy="457200"/>
          </a:xfrm>
          <a:prstGeom prst="ellipse">
            <a:avLst/>
          </a:prstGeom>
          <a:solidFill>
            <a:srgbClr val="0D2340"/>
          </a:solidFill>
          <a:ln/>
        </p:spPr>
        <p:txBody>
          <a:bodyPr/>
          <a:lstStyle/>
          <a:p>
            <a:endParaRPr lang="en-US"/>
          </a:p>
        </p:txBody>
      </p:sp>
      <p:sp>
        <p:nvSpPr>
          <p:cNvPr id="22" name="Text 18"/>
          <p:cNvSpPr/>
          <p:nvPr/>
        </p:nvSpPr>
        <p:spPr>
          <a:xfrm>
            <a:off x="8257032" y="1691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pic>
        <p:nvPicPr>
          <p:cNvPr id="23" name="Image 2" descr="preencoded.png"/>
          <p:cNvPicPr>
            <a:picLocks noChangeAspect="1"/>
          </p:cNvPicPr>
          <p:nvPr/>
        </p:nvPicPr>
        <p:blipFill>
          <a:blip r:embed="rId5"/>
          <a:stretch>
            <a:fillRect/>
          </a:stretch>
        </p:blipFill>
        <p:spPr>
          <a:xfrm>
            <a:off x="11036808" y="1673352"/>
            <a:ext cx="365760" cy="365760"/>
          </a:xfrm>
          <a:prstGeom prst="rect">
            <a:avLst/>
          </a:prstGeom>
        </p:spPr>
      </p:pic>
      <p:sp>
        <p:nvSpPr>
          <p:cNvPr id="24" name="Text 19"/>
          <p:cNvSpPr/>
          <p:nvPr/>
        </p:nvSpPr>
        <p:spPr>
          <a:xfrm>
            <a:off x="8257032" y="2221992"/>
            <a:ext cx="3236976" cy="365760"/>
          </a:xfrm>
          <a:prstGeom prst="rect">
            <a:avLst/>
          </a:prstGeom>
          <a:noFill/>
          <a:ln/>
        </p:spPr>
        <p:txBody>
          <a:bodyPr wrap="square" rtlCol="0" anchor="ctr"/>
          <a:lstStyle/>
          <a:p>
            <a:pPr marL="0" indent="0">
              <a:buNone/>
            </a:pPr>
            <a:r>
              <a:rPr lang="en-US" sz="1500" b="1" dirty="0">
                <a:solidFill>
                  <a:srgbClr val="0D2340"/>
                </a:solidFill>
              </a:rPr>
              <a:t>JHKnow &amp; ARCU</a:t>
            </a:r>
            <a:endParaRPr lang="en-US" sz="1500" dirty="0"/>
          </a:p>
        </p:txBody>
      </p:sp>
      <p:sp>
        <p:nvSpPr>
          <p:cNvPr id="25" name="Text 20"/>
          <p:cNvSpPr/>
          <p:nvPr/>
        </p:nvSpPr>
        <p:spPr>
          <a:xfrm>
            <a:off x="8257032" y="2587752"/>
            <a:ext cx="3236976" cy="685800"/>
          </a:xfrm>
          <a:prstGeom prst="rect">
            <a:avLst/>
          </a:prstGeom>
          <a:noFill/>
          <a:ln/>
        </p:spPr>
        <p:txBody>
          <a:bodyPr wrap="square" rtlCol="0" anchor="ctr"/>
          <a:lstStyle/>
          <a:p>
            <a:pPr marL="0" indent="0">
              <a:buNone/>
            </a:pPr>
            <a:r>
              <a:rPr lang="en-US" sz="1100" dirty="0">
                <a:solidFill>
                  <a:srgbClr val="2C4A6E"/>
                </a:solidFill>
              </a:rPr>
              <a:t>Pre-modeled analytics warehouse + reporting — ready on day one</a:t>
            </a:r>
            <a:endParaRPr lang="en-US" sz="1100" dirty="0"/>
          </a:p>
        </p:txBody>
      </p:sp>
      <p:sp>
        <p:nvSpPr>
          <p:cNvPr id="26" name="Shape 21"/>
          <p:cNvSpPr/>
          <p:nvPr/>
        </p:nvSpPr>
        <p:spPr>
          <a:xfrm>
            <a:off x="411480" y="3794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7" name="Shape 22"/>
          <p:cNvSpPr/>
          <p:nvPr/>
        </p:nvSpPr>
        <p:spPr>
          <a:xfrm>
            <a:off x="411480" y="3794760"/>
            <a:ext cx="3566160" cy="64008"/>
          </a:xfrm>
          <a:prstGeom prst="rect">
            <a:avLst/>
          </a:prstGeom>
          <a:solidFill>
            <a:srgbClr val="00A89D"/>
          </a:solidFill>
          <a:ln/>
        </p:spPr>
        <p:txBody>
          <a:bodyPr/>
          <a:lstStyle/>
          <a:p>
            <a:endParaRPr lang="en-US"/>
          </a:p>
        </p:txBody>
      </p:sp>
      <p:sp>
        <p:nvSpPr>
          <p:cNvPr id="28" name="Shape 23"/>
          <p:cNvSpPr/>
          <p:nvPr/>
        </p:nvSpPr>
        <p:spPr>
          <a:xfrm>
            <a:off x="576072" y="3977640"/>
            <a:ext cx="457200" cy="457200"/>
          </a:xfrm>
          <a:prstGeom prst="ellipse">
            <a:avLst/>
          </a:prstGeom>
          <a:solidFill>
            <a:srgbClr val="0D2340"/>
          </a:solidFill>
          <a:ln/>
        </p:spPr>
        <p:txBody>
          <a:bodyPr/>
          <a:lstStyle/>
          <a:p>
            <a:endParaRPr lang="en-US"/>
          </a:p>
        </p:txBody>
      </p:sp>
      <p:sp>
        <p:nvSpPr>
          <p:cNvPr id="29" name="Text 24"/>
          <p:cNvSpPr/>
          <p:nvPr/>
        </p:nvSpPr>
        <p:spPr>
          <a:xfrm>
            <a:off x="576072" y="3977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pic>
        <p:nvPicPr>
          <p:cNvPr id="30" name="Image 3" descr="preencoded.png"/>
          <p:cNvPicPr>
            <a:picLocks noChangeAspect="1"/>
          </p:cNvPicPr>
          <p:nvPr/>
        </p:nvPicPr>
        <p:blipFill>
          <a:blip r:embed="rId6"/>
          <a:stretch>
            <a:fillRect/>
          </a:stretch>
        </p:blipFill>
        <p:spPr>
          <a:xfrm>
            <a:off x="3355848" y="3959352"/>
            <a:ext cx="365760" cy="365760"/>
          </a:xfrm>
          <a:prstGeom prst="rect">
            <a:avLst/>
          </a:prstGeom>
        </p:spPr>
      </p:pic>
      <p:sp>
        <p:nvSpPr>
          <p:cNvPr id="31" name="Text 25"/>
          <p:cNvSpPr/>
          <p:nvPr/>
        </p:nvSpPr>
        <p:spPr>
          <a:xfrm>
            <a:off x="576072" y="4507992"/>
            <a:ext cx="3236976" cy="365760"/>
          </a:xfrm>
          <a:prstGeom prst="rect">
            <a:avLst/>
          </a:prstGeom>
          <a:noFill/>
          <a:ln/>
        </p:spPr>
        <p:txBody>
          <a:bodyPr wrap="square" rtlCol="0" anchor="ctr"/>
          <a:lstStyle/>
          <a:p>
            <a:pPr marL="0" indent="0">
              <a:buNone/>
            </a:pPr>
            <a:r>
              <a:rPr lang="en-US" sz="1500" b="1" dirty="0">
                <a:solidFill>
                  <a:srgbClr val="0D2340"/>
                </a:solidFill>
              </a:rPr>
              <a:t>JHBI</a:t>
            </a:r>
            <a:endParaRPr lang="en-US" sz="1500" dirty="0"/>
          </a:p>
        </p:txBody>
      </p:sp>
      <p:sp>
        <p:nvSpPr>
          <p:cNvPr id="32" name="Text 26"/>
          <p:cNvSpPr/>
          <p:nvPr/>
        </p:nvSpPr>
        <p:spPr>
          <a:xfrm>
            <a:off x="576072" y="4873752"/>
            <a:ext cx="3236976" cy="685800"/>
          </a:xfrm>
          <a:prstGeom prst="rect">
            <a:avLst/>
          </a:prstGeom>
          <a:noFill/>
          <a:ln/>
        </p:spPr>
        <p:txBody>
          <a:bodyPr wrap="square" rtlCol="0" anchor="ctr"/>
          <a:lstStyle/>
          <a:p>
            <a:pPr marL="0" indent="0">
              <a:buNone/>
            </a:pPr>
            <a:r>
              <a:rPr lang="en-US" sz="1100" dirty="0">
                <a:solidFill>
                  <a:srgbClr val="2C4A6E"/>
                </a:solidFill>
              </a:rPr>
              <a:t>Cloud-based DaaS platform — data models, AI query builder, Identity Resolution &amp; more</a:t>
            </a:r>
            <a:endParaRPr lang="en-US" sz="1100" dirty="0"/>
          </a:p>
        </p:txBody>
      </p:sp>
      <p:sp>
        <p:nvSpPr>
          <p:cNvPr id="33" name="Shape 27"/>
          <p:cNvSpPr/>
          <p:nvPr/>
        </p:nvSpPr>
        <p:spPr>
          <a:xfrm>
            <a:off x="4251960" y="3794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34" name="Shape 28"/>
          <p:cNvSpPr/>
          <p:nvPr/>
        </p:nvSpPr>
        <p:spPr>
          <a:xfrm>
            <a:off x="4251960" y="3794760"/>
            <a:ext cx="3566160" cy="64008"/>
          </a:xfrm>
          <a:prstGeom prst="rect">
            <a:avLst/>
          </a:prstGeom>
          <a:solidFill>
            <a:srgbClr val="00A89D"/>
          </a:solidFill>
          <a:ln/>
        </p:spPr>
        <p:txBody>
          <a:bodyPr/>
          <a:lstStyle/>
          <a:p>
            <a:endParaRPr lang="en-US"/>
          </a:p>
        </p:txBody>
      </p:sp>
      <p:sp>
        <p:nvSpPr>
          <p:cNvPr id="35" name="Shape 29"/>
          <p:cNvSpPr/>
          <p:nvPr/>
        </p:nvSpPr>
        <p:spPr>
          <a:xfrm>
            <a:off x="4416552" y="3977640"/>
            <a:ext cx="457200" cy="457200"/>
          </a:xfrm>
          <a:prstGeom prst="ellipse">
            <a:avLst/>
          </a:prstGeom>
          <a:solidFill>
            <a:srgbClr val="0D2340"/>
          </a:solidFill>
          <a:ln/>
        </p:spPr>
        <p:txBody>
          <a:bodyPr/>
          <a:lstStyle/>
          <a:p>
            <a:endParaRPr lang="en-US"/>
          </a:p>
        </p:txBody>
      </p:sp>
      <p:sp>
        <p:nvSpPr>
          <p:cNvPr id="36" name="Text 30"/>
          <p:cNvSpPr/>
          <p:nvPr/>
        </p:nvSpPr>
        <p:spPr>
          <a:xfrm>
            <a:off x="4416552" y="3977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pic>
        <p:nvPicPr>
          <p:cNvPr id="37" name="Image 4" descr="preencoded.png"/>
          <p:cNvPicPr>
            <a:picLocks noChangeAspect="1"/>
          </p:cNvPicPr>
          <p:nvPr/>
        </p:nvPicPr>
        <p:blipFill>
          <a:blip r:embed="rId7"/>
          <a:stretch>
            <a:fillRect/>
          </a:stretch>
        </p:blipFill>
        <p:spPr>
          <a:xfrm>
            <a:off x="7196328" y="3959352"/>
            <a:ext cx="365760" cy="365760"/>
          </a:xfrm>
          <a:prstGeom prst="rect">
            <a:avLst/>
          </a:prstGeom>
        </p:spPr>
      </p:pic>
      <p:sp>
        <p:nvSpPr>
          <p:cNvPr id="38" name="Text 31"/>
          <p:cNvSpPr/>
          <p:nvPr/>
        </p:nvSpPr>
        <p:spPr>
          <a:xfrm>
            <a:off x="4416552" y="4507992"/>
            <a:ext cx="3236976" cy="365760"/>
          </a:xfrm>
          <a:prstGeom prst="rect">
            <a:avLst/>
          </a:prstGeom>
          <a:noFill/>
          <a:ln/>
        </p:spPr>
        <p:txBody>
          <a:bodyPr wrap="square" rtlCol="0" anchor="ctr"/>
          <a:lstStyle/>
          <a:p>
            <a:pPr marL="0" indent="0">
              <a:buNone/>
            </a:pPr>
            <a:r>
              <a:rPr lang="en-US" sz="1500" b="1" dirty="0">
                <a:solidFill>
                  <a:srgbClr val="0D2340"/>
                </a:solidFill>
              </a:rPr>
              <a:t>How It All Fits</a:t>
            </a:r>
            <a:endParaRPr lang="en-US" sz="1500" dirty="0"/>
          </a:p>
        </p:txBody>
      </p:sp>
      <p:sp>
        <p:nvSpPr>
          <p:cNvPr id="39" name="Text 32"/>
          <p:cNvSpPr/>
          <p:nvPr/>
        </p:nvSpPr>
        <p:spPr>
          <a:xfrm>
            <a:off x="4416552" y="4873752"/>
            <a:ext cx="3236976" cy="685800"/>
          </a:xfrm>
          <a:prstGeom prst="rect">
            <a:avLst/>
          </a:prstGeom>
          <a:noFill/>
          <a:ln/>
        </p:spPr>
        <p:txBody>
          <a:bodyPr wrap="square" rtlCol="0" anchor="ctr"/>
          <a:lstStyle/>
          <a:p>
            <a:pPr marL="0" indent="0">
              <a:buNone/>
            </a:pPr>
            <a:r>
              <a:rPr lang="en-US" sz="1100" dirty="0">
                <a:solidFill>
                  <a:srgbClr val="2C4A6E"/>
                </a:solidFill>
              </a:rPr>
              <a:t>The full stack: from raw data to executive insight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340"/>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89D"/>
          </a:solidFill>
          <a:ln/>
        </p:spPr>
        <p:txBody>
          <a:bodyPr/>
          <a:lstStyle/>
          <a:p>
            <a:endParaRPr lang="en-US"/>
          </a:p>
        </p:txBody>
      </p:sp>
      <p:sp>
        <p:nvSpPr>
          <p:cNvPr id="3" name="Text 1"/>
          <p:cNvSpPr/>
          <p:nvPr/>
        </p:nvSpPr>
        <p:spPr>
          <a:xfrm>
            <a:off x="365760" y="320040"/>
            <a:ext cx="9144000" cy="594360"/>
          </a:xfrm>
          <a:prstGeom prst="rect">
            <a:avLst/>
          </a:prstGeom>
          <a:noFill/>
          <a:ln/>
        </p:spPr>
        <p:txBody>
          <a:bodyPr wrap="square" rtlCol="0" anchor="ctr"/>
          <a:lstStyle/>
          <a:p>
            <a:pPr marL="0" indent="0">
              <a:buNone/>
            </a:pPr>
            <a:r>
              <a:rPr lang="en-US" sz="3200" b="1" dirty="0">
                <a:solidFill>
                  <a:srgbClr val="FFFFFF"/>
                </a:solidFill>
              </a:rPr>
              <a:t>The Data Opportunity</a:t>
            </a:r>
            <a:endParaRPr lang="en-US" sz="3200" dirty="0"/>
          </a:p>
        </p:txBody>
      </p:sp>
      <p:sp>
        <p:nvSpPr>
          <p:cNvPr id="4" name="Text 2"/>
          <p:cNvSpPr/>
          <p:nvPr/>
        </p:nvSpPr>
        <p:spPr>
          <a:xfrm>
            <a:off x="365760" y="960120"/>
            <a:ext cx="9144000" cy="411480"/>
          </a:xfrm>
          <a:prstGeom prst="rect">
            <a:avLst/>
          </a:prstGeom>
          <a:noFill/>
          <a:ln/>
        </p:spPr>
        <p:txBody>
          <a:bodyPr wrap="square" rtlCol="0" anchor="ctr"/>
          <a:lstStyle/>
          <a:p>
            <a:pPr marL="0" indent="0">
              <a:buNone/>
            </a:pPr>
            <a:r>
              <a:rPr lang="en-US" sz="1600" i="1" dirty="0">
                <a:solidFill>
                  <a:srgbClr val="00A89D"/>
                </a:solidFill>
              </a:rPr>
              <a:t>You already own the most valuable asset in financial services.</a:t>
            </a:r>
            <a:endParaRPr lang="en-US" sz="1600" dirty="0"/>
          </a:p>
        </p:txBody>
      </p:sp>
      <p:sp>
        <p:nvSpPr>
          <p:cNvPr id="5" name="Shape 3"/>
          <p:cNvSpPr/>
          <p:nvPr/>
        </p:nvSpPr>
        <p:spPr>
          <a:xfrm>
            <a:off x="365760" y="1600200"/>
            <a:ext cx="3566160" cy="2926080"/>
          </a:xfrm>
          <a:prstGeom prst="rect">
            <a:avLst/>
          </a:prstGeom>
          <a:solidFill>
            <a:srgbClr val="163354"/>
          </a:solidFill>
          <a:ln/>
          <a:effectLst>
            <a:outerShdw blurRad="127000" dist="38100" dir="8100000" algn="bl" rotWithShape="0">
              <a:srgbClr val="000000">
                <a:alpha val="20000"/>
              </a:srgbClr>
            </a:outerShdw>
          </a:effectLst>
        </p:spPr>
        <p:txBody>
          <a:bodyPr/>
          <a:lstStyle/>
          <a:p>
            <a:endParaRPr lang="en-US"/>
          </a:p>
        </p:txBody>
      </p:sp>
      <p:sp>
        <p:nvSpPr>
          <p:cNvPr id="6" name="Shape 4"/>
          <p:cNvSpPr/>
          <p:nvPr/>
        </p:nvSpPr>
        <p:spPr>
          <a:xfrm>
            <a:off x="365760" y="1600200"/>
            <a:ext cx="3566160" cy="64008"/>
          </a:xfrm>
          <a:prstGeom prst="rect">
            <a:avLst/>
          </a:prstGeom>
          <a:solidFill>
            <a:srgbClr val="00A89D"/>
          </a:solidFill>
          <a:ln/>
        </p:spPr>
        <p:txBody>
          <a:bodyPr/>
          <a:lstStyle/>
          <a:p>
            <a:endParaRPr lang="en-US"/>
          </a:p>
        </p:txBody>
      </p:sp>
      <p:sp>
        <p:nvSpPr>
          <p:cNvPr id="7" name="Text 5"/>
          <p:cNvSpPr/>
          <p:nvPr/>
        </p:nvSpPr>
        <p:spPr>
          <a:xfrm>
            <a:off x="548640" y="1737360"/>
            <a:ext cx="3200400" cy="1005840"/>
          </a:xfrm>
          <a:prstGeom prst="rect">
            <a:avLst/>
          </a:prstGeom>
          <a:noFill/>
          <a:ln/>
        </p:spPr>
        <p:txBody>
          <a:bodyPr wrap="square" rtlCol="0" anchor="ctr"/>
          <a:lstStyle/>
          <a:p>
            <a:pPr marL="0" indent="0">
              <a:buNone/>
            </a:pPr>
            <a:r>
              <a:rPr lang="en-US" sz="5200" b="1" dirty="0">
                <a:solidFill>
                  <a:srgbClr val="00A89D"/>
                </a:solidFill>
                <a:latin typeface="Calibri" pitchFamily="34" charset="0"/>
                <a:ea typeface="Calibri" pitchFamily="34" charset="-122"/>
                <a:cs typeface="Calibri" pitchFamily="34" charset="-120"/>
              </a:rPr>
              <a:t>80%</a:t>
            </a:r>
            <a:endParaRPr lang="en-US" sz="5200" dirty="0"/>
          </a:p>
        </p:txBody>
      </p:sp>
      <p:sp>
        <p:nvSpPr>
          <p:cNvPr id="8" name="Text 6"/>
          <p:cNvSpPr/>
          <p:nvPr/>
        </p:nvSpPr>
        <p:spPr>
          <a:xfrm>
            <a:off x="548640" y="2743200"/>
            <a:ext cx="3200400" cy="685800"/>
          </a:xfrm>
          <a:prstGeom prst="rect">
            <a:avLst/>
          </a:prstGeom>
          <a:noFill/>
          <a:ln/>
        </p:spPr>
        <p:txBody>
          <a:bodyPr wrap="square" rtlCol="0" anchor="ctr"/>
          <a:lstStyle/>
          <a:p>
            <a:pPr marL="0" indent="0">
              <a:buNone/>
            </a:pPr>
            <a:r>
              <a:rPr lang="en-US" sz="1300" b="1" dirty="0">
                <a:solidFill>
                  <a:srgbClr val="FFFFFF"/>
                </a:solidFill>
              </a:rPr>
              <a:t>of FI leaders say data is critical to their strategy</a:t>
            </a:r>
            <a:endParaRPr lang="en-US" sz="1300" dirty="0"/>
          </a:p>
        </p:txBody>
      </p:sp>
      <p:sp>
        <p:nvSpPr>
          <p:cNvPr id="9" name="Text 7"/>
          <p:cNvSpPr/>
          <p:nvPr/>
        </p:nvSpPr>
        <p:spPr>
          <a:xfrm>
            <a:off x="548640" y="3429000"/>
            <a:ext cx="3200400" cy="822960"/>
          </a:xfrm>
          <a:prstGeom prst="rect">
            <a:avLst/>
          </a:prstGeom>
          <a:noFill/>
          <a:ln/>
        </p:spPr>
        <p:txBody>
          <a:bodyPr wrap="square" rtlCol="0" anchor="ctr"/>
          <a:lstStyle/>
          <a:p>
            <a:pPr marL="0" indent="0">
              <a:buNone/>
            </a:pPr>
            <a:r>
              <a:rPr lang="en-US" sz="1100" dirty="0">
                <a:solidFill>
                  <a:srgbClr val="7B96B2"/>
                </a:solidFill>
              </a:rPr>
              <a:t>but fewer than 30% have a modern analytics stack</a:t>
            </a:r>
            <a:endParaRPr lang="en-US" sz="1100" dirty="0"/>
          </a:p>
        </p:txBody>
      </p:sp>
      <p:sp>
        <p:nvSpPr>
          <p:cNvPr id="10" name="Shape 8"/>
          <p:cNvSpPr/>
          <p:nvPr/>
        </p:nvSpPr>
        <p:spPr>
          <a:xfrm>
            <a:off x="4206240" y="1600200"/>
            <a:ext cx="3566160" cy="2926080"/>
          </a:xfrm>
          <a:prstGeom prst="rect">
            <a:avLst/>
          </a:prstGeom>
          <a:solidFill>
            <a:srgbClr val="163354"/>
          </a:solidFill>
          <a:ln/>
          <a:effectLst>
            <a:outerShdw blurRad="127000" dist="38100" dir="8100000" algn="bl" rotWithShape="0">
              <a:srgbClr val="000000">
                <a:alpha val="20000"/>
              </a:srgbClr>
            </a:outerShdw>
          </a:effectLst>
        </p:spPr>
        <p:txBody>
          <a:bodyPr/>
          <a:lstStyle/>
          <a:p>
            <a:endParaRPr lang="en-US"/>
          </a:p>
        </p:txBody>
      </p:sp>
      <p:sp>
        <p:nvSpPr>
          <p:cNvPr id="11" name="Shape 9"/>
          <p:cNvSpPr/>
          <p:nvPr/>
        </p:nvSpPr>
        <p:spPr>
          <a:xfrm>
            <a:off x="4206240" y="1600200"/>
            <a:ext cx="3566160" cy="64008"/>
          </a:xfrm>
          <a:prstGeom prst="rect">
            <a:avLst/>
          </a:prstGeom>
          <a:solidFill>
            <a:srgbClr val="00A89D"/>
          </a:solidFill>
          <a:ln/>
        </p:spPr>
        <p:txBody>
          <a:bodyPr/>
          <a:lstStyle/>
          <a:p>
            <a:endParaRPr lang="en-US"/>
          </a:p>
        </p:txBody>
      </p:sp>
      <p:sp>
        <p:nvSpPr>
          <p:cNvPr id="12" name="Text 10"/>
          <p:cNvSpPr/>
          <p:nvPr/>
        </p:nvSpPr>
        <p:spPr>
          <a:xfrm>
            <a:off x="4389120" y="1737360"/>
            <a:ext cx="3200400" cy="1005840"/>
          </a:xfrm>
          <a:prstGeom prst="rect">
            <a:avLst/>
          </a:prstGeom>
          <a:noFill/>
          <a:ln/>
        </p:spPr>
        <p:txBody>
          <a:bodyPr wrap="square" rtlCol="0" anchor="ctr"/>
          <a:lstStyle/>
          <a:p>
            <a:pPr marL="0" indent="0">
              <a:buNone/>
            </a:pPr>
            <a:r>
              <a:rPr lang="en-US" sz="5200" b="1" dirty="0">
                <a:solidFill>
                  <a:srgbClr val="00A89D"/>
                </a:solidFill>
                <a:latin typeface="Calibri" pitchFamily="34" charset="0"/>
                <a:ea typeface="Calibri" pitchFamily="34" charset="-122"/>
                <a:cs typeface="Calibri" pitchFamily="34" charset="-120"/>
              </a:rPr>
              <a:t>3–5×</a:t>
            </a:r>
            <a:endParaRPr lang="en-US" sz="5200" dirty="0"/>
          </a:p>
        </p:txBody>
      </p:sp>
      <p:sp>
        <p:nvSpPr>
          <p:cNvPr id="13" name="Text 11"/>
          <p:cNvSpPr/>
          <p:nvPr/>
        </p:nvSpPr>
        <p:spPr>
          <a:xfrm>
            <a:off x="4389120" y="2743200"/>
            <a:ext cx="3200400" cy="685800"/>
          </a:xfrm>
          <a:prstGeom prst="rect">
            <a:avLst/>
          </a:prstGeom>
          <a:noFill/>
          <a:ln/>
        </p:spPr>
        <p:txBody>
          <a:bodyPr wrap="square" rtlCol="0" anchor="ctr"/>
          <a:lstStyle/>
          <a:p>
            <a:pPr marL="0" indent="0">
              <a:buNone/>
            </a:pPr>
            <a:r>
              <a:rPr lang="en-US" sz="1300" b="1" dirty="0">
                <a:solidFill>
                  <a:srgbClr val="FFFFFF"/>
                </a:solidFill>
              </a:rPr>
              <a:t>more wallet share from data-driven personalization</a:t>
            </a:r>
            <a:endParaRPr lang="en-US" sz="1300" dirty="0"/>
          </a:p>
        </p:txBody>
      </p:sp>
      <p:sp>
        <p:nvSpPr>
          <p:cNvPr id="14" name="Text 12"/>
          <p:cNvSpPr/>
          <p:nvPr/>
        </p:nvSpPr>
        <p:spPr>
          <a:xfrm>
            <a:off x="4389120" y="3429000"/>
            <a:ext cx="3200400" cy="822960"/>
          </a:xfrm>
          <a:prstGeom prst="rect">
            <a:avLst/>
          </a:prstGeom>
          <a:noFill/>
          <a:ln/>
        </p:spPr>
        <p:txBody>
          <a:bodyPr wrap="square" rtlCol="0" anchor="ctr"/>
          <a:lstStyle/>
          <a:p>
            <a:pPr marL="0" indent="0">
              <a:buNone/>
            </a:pPr>
            <a:r>
              <a:rPr lang="en-US" sz="1100" dirty="0">
                <a:solidFill>
                  <a:srgbClr val="7B96B2"/>
                </a:solidFill>
              </a:rPr>
              <a:t>vs. institutions operating without behavioral insights</a:t>
            </a:r>
            <a:endParaRPr lang="en-US" sz="1100" dirty="0"/>
          </a:p>
        </p:txBody>
      </p:sp>
      <p:sp>
        <p:nvSpPr>
          <p:cNvPr id="15" name="Shape 13"/>
          <p:cNvSpPr/>
          <p:nvPr/>
        </p:nvSpPr>
        <p:spPr>
          <a:xfrm>
            <a:off x="8046720" y="1600200"/>
            <a:ext cx="3566160" cy="2926080"/>
          </a:xfrm>
          <a:prstGeom prst="rect">
            <a:avLst/>
          </a:prstGeom>
          <a:solidFill>
            <a:srgbClr val="163354"/>
          </a:solidFill>
          <a:ln/>
          <a:effectLst>
            <a:outerShdw blurRad="127000" dist="38100" dir="8100000" algn="bl" rotWithShape="0">
              <a:srgbClr val="000000">
                <a:alpha val="20000"/>
              </a:srgbClr>
            </a:outerShdw>
          </a:effectLst>
        </p:spPr>
        <p:txBody>
          <a:bodyPr/>
          <a:lstStyle/>
          <a:p>
            <a:endParaRPr lang="en-US"/>
          </a:p>
        </p:txBody>
      </p:sp>
      <p:sp>
        <p:nvSpPr>
          <p:cNvPr id="16" name="Shape 14"/>
          <p:cNvSpPr/>
          <p:nvPr/>
        </p:nvSpPr>
        <p:spPr>
          <a:xfrm>
            <a:off x="8046720" y="1600200"/>
            <a:ext cx="3566160" cy="64008"/>
          </a:xfrm>
          <a:prstGeom prst="rect">
            <a:avLst/>
          </a:prstGeom>
          <a:solidFill>
            <a:srgbClr val="00A89D"/>
          </a:solidFill>
          <a:ln/>
        </p:spPr>
        <p:txBody>
          <a:bodyPr/>
          <a:lstStyle/>
          <a:p>
            <a:endParaRPr lang="en-US"/>
          </a:p>
        </p:txBody>
      </p:sp>
      <p:sp>
        <p:nvSpPr>
          <p:cNvPr id="17" name="Text 15"/>
          <p:cNvSpPr/>
          <p:nvPr/>
        </p:nvSpPr>
        <p:spPr>
          <a:xfrm>
            <a:off x="8229600" y="1737360"/>
            <a:ext cx="3200400" cy="1005840"/>
          </a:xfrm>
          <a:prstGeom prst="rect">
            <a:avLst/>
          </a:prstGeom>
          <a:noFill/>
          <a:ln/>
        </p:spPr>
        <p:txBody>
          <a:bodyPr wrap="square" rtlCol="0" anchor="ctr"/>
          <a:lstStyle/>
          <a:p>
            <a:pPr marL="0" indent="0">
              <a:buNone/>
            </a:pPr>
            <a:r>
              <a:rPr lang="en-US" sz="5200" b="1" dirty="0">
                <a:solidFill>
                  <a:srgbClr val="00A89D"/>
                </a:solidFill>
                <a:latin typeface="Calibri" pitchFamily="34" charset="0"/>
                <a:ea typeface="Calibri" pitchFamily="34" charset="-122"/>
                <a:cs typeface="Calibri" pitchFamily="34" charset="-120"/>
              </a:rPr>
              <a:t>Day 1</a:t>
            </a:r>
            <a:endParaRPr lang="en-US" sz="5200" dirty="0"/>
          </a:p>
        </p:txBody>
      </p:sp>
      <p:sp>
        <p:nvSpPr>
          <p:cNvPr id="18" name="Text 16"/>
          <p:cNvSpPr/>
          <p:nvPr/>
        </p:nvSpPr>
        <p:spPr>
          <a:xfrm>
            <a:off x="8229600" y="2743200"/>
            <a:ext cx="3200400" cy="685800"/>
          </a:xfrm>
          <a:prstGeom prst="rect">
            <a:avLst/>
          </a:prstGeom>
          <a:noFill/>
          <a:ln/>
        </p:spPr>
        <p:txBody>
          <a:bodyPr wrap="square" rtlCol="0" anchor="ctr"/>
          <a:lstStyle/>
          <a:p>
            <a:pPr marL="0" indent="0">
              <a:buNone/>
            </a:pPr>
            <a:r>
              <a:rPr lang="en-US" sz="1300" b="1" dirty="0">
                <a:solidFill>
                  <a:srgbClr val="FFFFFF"/>
                </a:solidFill>
              </a:rPr>
              <a:t>time-to-value with a pre-modeled data warehouse</a:t>
            </a:r>
            <a:endParaRPr lang="en-US" sz="1300" dirty="0"/>
          </a:p>
        </p:txBody>
      </p:sp>
      <p:sp>
        <p:nvSpPr>
          <p:cNvPr id="19" name="Text 17"/>
          <p:cNvSpPr/>
          <p:nvPr/>
        </p:nvSpPr>
        <p:spPr>
          <a:xfrm>
            <a:off x="8229600" y="3429000"/>
            <a:ext cx="3200400" cy="822960"/>
          </a:xfrm>
          <a:prstGeom prst="rect">
            <a:avLst/>
          </a:prstGeom>
          <a:noFill/>
          <a:ln/>
        </p:spPr>
        <p:txBody>
          <a:bodyPr wrap="square" rtlCol="0" anchor="ctr"/>
          <a:lstStyle/>
          <a:p>
            <a:pPr marL="0" indent="0">
              <a:buNone/>
            </a:pPr>
            <a:r>
              <a:rPr lang="en-US" sz="1100" dirty="0">
                <a:solidFill>
                  <a:srgbClr val="7B96B2"/>
                </a:solidFill>
              </a:rPr>
              <a:t>vs. 12–18 months to build an internal data lake</a:t>
            </a:r>
            <a:endParaRPr lang="en-US" sz="1100" dirty="0"/>
          </a:p>
        </p:txBody>
      </p:sp>
      <p:sp>
        <p:nvSpPr>
          <p:cNvPr id="20" name="Shape 18"/>
          <p:cNvSpPr/>
          <p:nvPr/>
        </p:nvSpPr>
        <p:spPr>
          <a:xfrm>
            <a:off x="365760" y="4754880"/>
            <a:ext cx="11430000" cy="1005840"/>
          </a:xfrm>
          <a:prstGeom prst="rect">
            <a:avLst/>
          </a:prstGeom>
          <a:solidFill>
            <a:srgbClr val="00A89D"/>
          </a:solidFill>
          <a:ln/>
        </p:spPr>
        <p:txBody>
          <a:bodyPr/>
          <a:lstStyle/>
          <a:p>
            <a:endParaRPr lang="en-US"/>
          </a:p>
        </p:txBody>
      </p:sp>
      <p:sp>
        <p:nvSpPr>
          <p:cNvPr id="21" name="Text 19"/>
          <p:cNvSpPr/>
          <p:nvPr/>
        </p:nvSpPr>
        <p:spPr>
          <a:xfrm>
            <a:off x="548640" y="4754880"/>
            <a:ext cx="11064240" cy="1005840"/>
          </a:xfrm>
          <a:prstGeom prst="rect">
            <a:avLst/>
          </a:prstGeom>
          <a:noFill/>
          <a:ln/>
        </p:spPr>
        <p:txBody>
          <a:bodyPr wrap="square" rtlCol="0" anchor="ctr"/>
          <a:lstStyle/>
          <a:p>
            <a:pPr marL="0" indent="0">
              <a:buNone/>
            </a:pPr>
            <a:r>
              <a:rPr lang="en-US" sz="1500" b="1" dirty="0">
                <a:solidFill>
                  <a:srgbClr val="0D2340"/>
                </a:solidFill>
              </a:rPr>
              <a:t>As an existing Jack Henry client, you're uniquely positioned — your data is already there. The question is whether you're using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D2340"/>
          </a:solidFill>
          <a:ln/>
        </p:spPr>
        <p:txBody>
          <a:bodyPr/>
          <a:lstStyle/>
          <a:p>
            <a:endParaRPr lang="en-US"/>
          </a:p>
        </p:txBody>
      </p:sp>
      <p:sp>
        <p:nvSpPr>
          <p:cNvPr id="3" name="Shape 1"/>
          <p:cNvSpPr/>
          <p:nvPr/>
        </p:nvSpPr>
        <p:spPr>
          <a:xfrm>
            <a:off x="0" y="1188720"/>
            <a:ext cx="12161520" cy="64008"/>
          </a:xfrm>
          <a:prstGeom prst="rect">
            <a:avLst/>
          </a:prstGeom>
          <a:solidFill>
            <a:srgbClr val="00A89D"/>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320040" y="274320"/>
            <a:ext cx="594360" cy="594360"/>
          </a:xfrm>
          <a:prstGeom prst="rect">
            <a:avLst/>
          </a:prstGeom>
        </p:spPr>
      </p:pic>
      <p:sp>
        <p:nvSpPr>
          <p:cNvPr id="5" name="Text 2"/>
          <p:cNvSpPr/>
          <p:nvPr/>
        </p:nvSpPr>
        <p:spPr>
          <a:xfrm>
            <a:off x="1005840" y="0"/>
            <a:ext cx="4572000" cy="1188720"/>
          </a:xfrm>
          <a:prstGeom prst="rect">
            <a:avLst/>
          </a:prstGeom>
          <a:noFill/>
          <a:ln/>
        </p:spPr>
        <p:txBody>
          <a:bodyPr wrap="square" rtlCol="0" anchor="ctr"/>
          <a:lstStyle/>
          <a:p>
            <a:pPr marL="0" indent="0">
              <a:buNone/>
            </a:pPr>
            <a:r>
              <a:rPr lang="en-US" sz="3200" b="1" dirty="0">
                <a:solidFill>
                  <a:srgbClr val="FFFFFF"/>
                </a:solidFill>
              </a:rPr>
              <a:t>DataHub</a:t>
            </a:r>
            <a:endParaRPr lang="en-US" sz="3200" dirty="0"/>
          </a:p>
        </p:txBody>
      </p:sp>
      <p:sp>
        <p:nvSpPr>
          <p:cNvPr id="6" name="Text 3"/>
          <p:cNvSpPr/>
          <p:nvPr/>
        </p:nvSpPr>
        <p:spPr>
          <a:xfrm>
            <a:off x="1005840" y="502920"/>
            <a:ext cx="8229600" cy="640080"/>
          </a:xfrm>
          <a:prstGeom prst="rect">
            <a:avLst/>
          </a:prstGeom>
          <a:noFill/>
          <a:ln/>
        </p:spPr>
        <p:txBody>
          <a:bodyPr wrap="square" rtlCol="0" anchor="ctr"/>
          <a:lstStyle/>
          <a:p>
            <a:pPr marL="0" indent="0">
              <a:buNone/>
            </a:pPr>
            <a:r>
              <a:rPr lang="en-US" sz="1300" dirty="0">
                <a:solidFill>
                  <a:srgbClr val="33BDB3"/>
                </a:solidFill>
              </a:rPr>
              <a:t>Raw data from your Jack Henry systems — standardized, cloud-delivered, developer-ready.</a:t>
            </a:r>
            <a:endParaRPr lang="en-US" sz="1300" dirty="0"/>
          </a:p>
        </p:txBody>
      </p:sp>
      <p:sp>
        <p:nvSpPr>
          <p:cNvPr id="7" name="Text 4"/>
          <p:cNvSpPr/>
          <p:nvPr/>
        </p:nvSpPr>
        <p:spPr>
          <a:xfrm>
            <a:off x="365760" y="1463040"/>
            <a:ext cx="5303520" cy="365760"/>
          </a:xfrm>
          <a:prstGeom prst="rect">
            <a:avLst/>
          </a:prstGeom>
          <a:noFill/>
          <a:ln/>
        </p:spPr>
        <p:txBody>
          <a:bodyPr wrap="square" rtlCol="0" anchor="ctr"/>
          <a:lstStyle/>
          <a:p>
            <a:pPr marL="0" indent="0">
              <a:buNone/>
            </a:pPr>
            <a:r>
              <a:rPr lang="en-US" sz="1600" b="1" dirty="0">
                <a:solidFill>
                  <a:srgbClr val="0D2340"/>
                </a:solidFill>
              </a:rPr>
              <a:t>What It Is</a:t>
            </a:r>
            <a:endParaRPr lang="en-US" sz="1600" dirty="0"/>
          </a:p>
        </p:txBody>
      </p:sp>
      <p:sp>
        <p:nvSpPr>
          <p:cNvPr id="8" name="Text 5"/>
          <p:cNvSpPr/>
          <p:nvPr/>
        </p:nvSpPr>
        <p:spPr>
          <a:xfrm>
            <a:off x="365760" y="1874520"/>
            <a:ext cx="5303520" cy="1188720"/>
          </a:xfrm>
          <a:prstGeom prst="rect">
            <a:avLst/>
          </a:prstGeom>
          <a:noFill/>
          <a:ln/>
        </p:spPr>
        <p:txBody>
          <a:bodyPr wrap="square" rtlCol="0" anchor="ctr"/>
          <a:lstStyle/>
          <a:p>
            <a:pPr marL="0" indent="0">
              <a:buNone/>
            </a:pPr>
            <a:r>
              <a:rPr lang="en-US" sz="1200" dirty="0">
                <a:solidFill>
                  <a:srgbClr val="2C4A6E"/>
                </a:solidFill>
              </a:rPr>
              <a:t>DataHub delivers monthly batch feeds of raw and aggregated data from your Jack Henry core systems directly into your cloud environment (Google BigQuery). No ETL pipelines to build. No data extraction projects. The data is yours — formatted and waiting.</a:t>
            </a:r>
            <a:endParaRPr lang="en-US" sz="1200" dirty="0"/>
          </a:p>
        </p:txBody>
      </p:sp>
      <p:sp>
        <p:nvSpPr>
          <p:cNvPr id="9" name="Text 6"/>
          <p:cNvSpPr/>
          <p:nvPr/>
        </p:nvSpPr>
        <p:spPr>
          <a:xfrm>
            <a:off x="365760" y="3200400"/>
            <a:ext cx="5303520" cy="320040"/>
          </a:xfrm>
          <a:prstGeom prst="rect">
            <a:avLst/>
          </a:prstGeom>
          <a:noFill/>
          <a:ln/>
        </p:spPr>
        <p:txBody>
          <a:bodyPr wrap="square" rtlCol="0" anchor="ctr"/>
          <a:lstStyle/>
          <a:p>
            <a:pPr marL="0" indent="0">
              <a:buNone/>
            </a:pPr>
            <a:r>
              <a:rPr lang="en-US" sz="1400" b="1" dirty="0">
                <a:solidFill>
                  <a:srgbClr val="0D2340"/>
                </a:solidFill>
              </a:rPr>
              <a:t>Available Data Feeds</a:t>
            </a:r>
            <a:endParaRPr lang="en-US" sz="1400" dirty="0"/>
          </a:p>
        </p:txBody>
      </p:sp>
      <p:sp>
        <p:nvSpPr>
          <p:cNvPr id="10" name="Shape 7"/>
          <p:cNvSpPr/>
          <p:nvPr/>
        </p:nvSpPr>
        <p:spPr>
          <a:xfrm>
            <a:off x="365760" y="3566160"/>
            <a:ext cx="2514600" cy="658368"/>
          </a:xfrm>
          <a:prstGeom prst="rect">
            <a:avLst/>
          </a:prstGeom>
          <a:solidFill>
            <a:srgbClr val="FFFFFF"/>
          </a:solidFill>
          <a:ln w="12700">
            <a:solidFill>
              <a:srgbClr val="E8ECF1"/>
            </a:solidFill>
            <a:prstDash val="solid"/>
          </a:ln>
        </p:spPr>
        <p:txBody>
          <a:bodyPr/>
          <a:lstStyle/>
          <a:p>
            <a:endParaRPr lang="en-US"/>
          </a:p>
        </p:txBody>
      </p:sp>
      <p:sp>
        <p:nvSpPr>
          <p:cNvPr id="11" name="Shape 8"/>
          <p:cNvSpPr/>
          <p:nvPr/>
        </p:nvSpPr>
        <p:spPr>
          <a:xfrm>
            <a:off x="365760" y="3566160"/>
            <a:ext cx="73152" cy="658368"/>
          </a:xfrm>
          <a:prstGeom prst="rect">
            <a:avLst/>
          </a:prstGeom>
          <a:solidFill>
            <a:srgbClr val="00A89D"/>
          </a:solidFill>
          <a:ln/>
        </p:spPr>
        <p:txBody>
          <a:bodyPr/>
          <a:lstStyle/>
          <a:p>
            <a:endParaRPr lang="en-US"/>
          </a:p>
        </p:txBody>
      </p:sp>
      <p:sp>
        <p:nvSpPr>
          <p:cNvPr id="12" name="Text 9"/>
          <p:cNvSpPr/>
          <p:nvPr/>
        </p:nvSpPr>
        <p:spPr>
          <a:xfrm>
            <a:off x="530352" y="3621024"/>
            <a:ext cx="2286000" cy="274320"/>
          </a:xfrm>
          <a:prstGeom prst="rect">
            <a:avLst/>
          </a:prstGeom>
          <a:noFill/>
          <a:ln/>
        </p:spPr>
        <p:txBody>
          <a:bodyPr wrap="square" rtlCol="0" anchor="ctr"/>
          <a:lstStyle/>
          <a:p>
            <a:pPr marL="0" indent="0">
              <a:buNone/>
            </a:pPr>
            <a:r>
              <a:rPr lang="en-US" sz="1100" b="1" dirty="0">
                <a:solidFill>
                  <a:srgbClr val="0D2340"/>
                </a:solidFill>
              </a:rPr>
              <a:t>SilverLake Core</a:t>
            </a:r>
            <a:endParaRPr lang="en-US" sz="1100" dirty="0"/>
          </a:p>
        </p:txBody>
      </p:sp>
      <p:sp>
        <p:nvSpPr>
          <p:cNvPr id="13" name="Text 10"/>
          <p:cNvSpPr/>
          <p:nvPr/>
        </p:nvSpPr>
        <p:spPr>
          <a:xfrm>
            <a:off x="530352" y="3886200"/>
            <a:ext cx="2286000" cy="256032"/>
          </a:xfrm>
          <a:prstGeom prst="rect">
            <a:avLst/>
          </a:prstGeom>
          <a:noFill/>
          <a:ln/>
        </p:spPr>
        <p:txBody>
          <a:bodyPr wrap="square" rtlCol="0" anchor="ctr"/>
          <a:lstStyle/>
          <a:p>
            <a:pPr marL="0" indent="0">
              <a:buNone/>
            </a:pPr>
            <a:r>
              <a:rPr lang="en-US" sz="950" dirty="0">
                <a:solidFill>
                  <a:srgbClr val="4A6080"/>
                </a:solidFill>
              </a:rPr>
              <a:t>Core banking transactions &amp; balances</a:t>
            </a:r>
            <a:endParaRPr lang="en-US" sz="950" dirty="0"/>
          </a:p>
        </p:txBody>
      </p:sp>
      <p:sp>
        <p:nvSpPr>
          <p:cNvPr id="14" name="Shape 11"/>
          <p:cNvSpPr/>
          <p:nvPr/>
        </p:nvSpPr>
        <p:spPr>
          <a:xfrm>
            <a:off x="3063240" y="3566160"/>
            <a:ext cx="2514600" cy="658368"/>
          </a:xfrm>
          <a:prstGeom prst="rect">
            <a:avLst/>
          </a:prstGeom>
          <a:solidFill>
            <a:srgbClr val="FFFFFF"/>
          </a:solidFill>
          <a:ln w="12700">
            <a:solidFill>
              <a:srgbClr val="E8ECF1"/>
            </a:solidFill>
            <a:prstDash val="solid"/>
          </a:ln>
        </p:spPr>
        <p:txBody>
          <a:bodyPr/>
          <a:lstStyle/>
          <a:p>
            <a:endParaRPr lang="en-US"/>
          </a:p>
        </p:txBody>
      </p:sp>
      <p:sp>
        <p:nvSpPr>
          <p:cNvPr id="15" name="Shape 12"/>
          <p:cNvSpPr/>
          <p:nvPr/>
        </p:nvSpPr>
        <p:spPr>
          <a:xfrm>
            <a:off x="3063240" y="3566160"/>
            <a:ext cx="73152" cy="658368"/>
          </a:xfrm>
          <a:prstGeom prst="rect">
            <a:avLst/>
          </a:prstGeom>
          <a:solidFill>
            <a:srgbClr val="00A89D"/>
          </a:solidFill>
          <a:ln/>
        </p:spPr>
        <p:txBody>
          <a:bodyPr/>
          <a:lstStyle/>
          <a:p>
            <a:endParaRPr lang="en-US"/>
          </a:p>
        </p:txBody>
      </p:sp>
      <p:sp>
        <p:nvSpPr>
          <p:cNvPr id="16" name="Text 13"/>
          <p:cNvSpPr/>
          <p:nvPr/>
        </p:nvSpPr>
        <p:spPr>
          <a:xfrm>
            <a:off x="3227832" y="3621024"/>
            <a:ext cx="2286000" cy="274320"/>
          </a:xfrm>
          <a:prstGeom prst="rect">
            <a:avLst/>
          </a:prstGeom>
          <a:noFill/>
          <a:ln/>
        </p:spPr>
        <p:txBody>
          <a:bodyPr wrap="square" rtlCol="0" anchor="ctr"/>
          <a:lstStyle/>
          <a:p>
            <a:pPr marL="0" indent="0">
              <a:buNone/>
            </a:pPr>
            <a:r>
              <a:rPr lang="en-US" sz="1100" b="1" dirty="0">
                <a:solidFill>
                  <a:srgbClr val="0D2340"/>
                </a:solidFill>
              </a:rPr>
              <a:t>Digital / Banno</a:t>
            </a:r>
            <a:endParaRPr lang="en-US" sz="1100" dirty="0"/>
          </a:p>
        </p:txBody>
      </p:sp>
      <p:sp>
        <p:nvSpPr>
          <p:cNvPr id="17" name="Text 14"/>
          <p:cNvSpPr/>
          <p:nvPr/>
        </p:nvSpPr>
        <p:spPr>
          <a:xfrm>
            <a:off x="3227832" y="3886200"/>
            <a:ext cx="2286000" cy="256032"/>
          </a:xfrm>
          <a:prstGeom prst="rect">
            <a:avLst/>
          </a:prstGeom>
          <a:noFill/>
          <a:ln/>
        </p:spPr>
        <p:txBody>
          <a:bodyPr wrap="square" rtlCol="0" anchor="ctr"/>
          <a:lstStyle/>
          <a:p>
            <a:pPr marL="0" indent="0">
              <a:buNone/>
            </a:pPr>
            <a:r>
              <a:rPr lang="en-US" sz="950" dirty="0">
                <a:solidFill>
                  <a:srgbClr val="4A6080"/>
                </a:solidFill>
              </a:rPr>
              <a:t>Digital banking channel activity</a:t>
            </a:r>
            <a:endParaRPr lang="en-US" sz="950" dirty="0"/>
          </a:p>
        </p:txBody>
      </p:sp>
      <p:sp>
        <p:nvSpPr>
          <p:cNvPr id="18" name="Shape 15"/>
          <p:cNvSpPr/>
          <p:nvPr/>
        </p:nvSpPr>
        <p:spPr>
          <a:xfrm>
            <a:off x="365760" y="4343400"/>
            <a:ext cx="2514600" cy="658368"/>
          </a:xfrm>
          <a:prstGeom prst="rect">
            <a:avLst/>
          </a:prstGeom>
          <a:solidFill>
            <a:srgbClr val="FFFFFF"/>
          </a:solidFill>
          <a:ln w="12700">
            <a:solidFill>
              <a:srgbClr val="E8ECF1"/>
            </a:solidFill>
            <a:prstDash val="solid"/>
          </a:ln>
        </p:spPr>
        <p:txBody>
          <a:bodyPr/>
          <a:lstStyle/>
          <a:p>
            <a:endParaRPr lang="en-US"/>
          </a:p>
        </p:txBody>
      </p:sp>
      <p:sp>
        <p:nvSpPr>
          <p:cNvPr id="19" name="Shape 16"/>
          <p:cNvSpPr/>
          <p:nvPr/>
        </p:nvSpPr>
        <p:spPr>
          <a:xfrm>
            <a:off x="365760" y="4343400"/>
            <a:ext cx="73152" cy="658368"/>
          </a:xfrm>
          <a:prstGeom prst="rect">
            <a:avLst/>
          </a:prstGeom>
          <a:solidFill>
            <a:srgbClr val="00A89D"/>
          </a:solidFill>
          <a:ln/>
        </p:spPr>
        <p:txBody>
          <a:bodyPr/>
          <a:lstStyle/>
          <a:p>
            <a:endParaRPr lang="en-US"/>
          </a:p>
        </p:txBody>
      </p:sp>
      <p:sp>
        <p:nvSpPr>
          <p:cNvPr id="20" name="Text 17"/>
          <p:cNvSpPr/>
          <p:nvPr/>
        </p:nvSpPr>
        <p:spPr>
          <a:xfrm>
            <a:off x="530352" y="4398264"/>
            <a:ext cx="2286000" cy="274320"/>
          </a:xfrm>
          <a:prstGeom prst="rect">
            <a:avLst/>
          </a:prstGeom>
          <a:noFill/>
          <a:ln/>
        </p:spPr>
        <p:txBody>
          <a:bodyPr wrap="square" rtlCol="0" anchor="ctr"/>
          <a:lstStyle/>
          <a:p>
            <a:pPr marL="0" indent="0">
              <a:buNone/>
            </a:pPr>
            <a:r>
              <a:rPr lang="en-US" sz="1100" b="1" dirty="0">
                <a:solidFill>
                  <a:srgbClr val="0D2340"/>
                </a:solidFill>
              </a:rPr>
              <a:t>Digital Core</a:t>
            </a:r>
            <a:endParaRPr lang="en-US" sz="1100" dirty="0"/>
          </a:p>
        </p:txBody>
      </p:sp>
      <p:sp>
        <p:nvSpPr>
          <p:cNvPr id="21" name="Text 18"/>
          <p:cNvSpPr/>
          <p:nvPr/>
        </p:nvSpPr>
        <p:spPr>
          <a:xfrm>
            <a:off x="530352" y="4663440"/>
            <a:ext cx="2286000" cy="256032"/>
          </a:xfrm>
          <a:prstGeom prst="rect">
            <a:avLst/>
          </a:prstGeom>
          <a:noFill/>
          <a:ln/>
        </p:spPr>
        <p:txBody>
          <a:bodyPr wrap="square" rtlCol="0" anchor="ctr"/>
          <a:lstStyle/>
          <a:p>
            <a:pPr marL="0" indent="0">
              <a:buNone/>
            </a:pPr>
            <a:r>
              <a:rPr lang="en-US" sz="950" dirty="0">
                <a:solidFill>
                  <a:srgbClr val="4A6080"/>
                </a:solidFill>
              </a:rPr>
              <a:t>Cloud-native core data</a:t>
            </a:r>
            <a:endParaRPr lang="en-US" sz="950" dirty="0"/>
          </a:p>
        </p:txBody>
      </p:sp>
      <p:sp>
        <p:nvSpPr>
          <p:cNvPr id="22" name="Shape 19"/>
          <p:cNvSpPr/>
          <p:nvPr/>
        </p:nvSpPr>
        <p:spPr>
          <a:xfrm>
            <a:off x="3063240" y="4343400"/>
            <a:ext cx="2514600" cy="658368"/>
          </a:xfrm>
          <a:prstGeom prst="rect">
            <a:avLst/>
          </a:prstGeom>
          <a:solidFill>
            <a:srgbClr val="FFFFFF"/>
          </a:solidFill>
          <a:ln w="12700">
            <a:solidFill>
              <a:srgbClr val="E8ECF1"/>
            </a:solidFill>
            <a:prstDash val="solid"/>
          </a:ln>
        </p:spPr>
        <p:txBody>
          <a:bodyPr/>
          <a:lstStyle/>
          <a:p>
            <a:endParaRPr lang="en-US"/>
          </a:p>
        </p:txBody>
      </p:sp>
      <p:sp>
        <p:nvSpPr>
          <p:cNvPr id="23" name="Shape 20"/>
          <p:cNvSpPr/>
          <p:nvPr/>
        </p:nvSpPr>
        <p:spPr>
          <a:xfrm>
            <a:off x="3063240" y="4343400"/>
            <a:ext cx="73152" cy="658368"/>
          </a:xfrm>
          <a:prstGeom prst="rect">
            <a:avLst/>
          </a:prstGeom>
          <a:solidFill>
            <a:srgbClr val="00A89D"/>
          </a:solidFill>
          <a:ln/>
        </p:spPr>
        <p:txBody>
          <a:bodyPr/>
          <a:lstStyle/>
          <a:p>
            <a:endParaRPr lang="en-US"/>
          </a:p>
        </p:txBody>
      </p:sp>
      <p:sp>
        <p:nvSpPr>
          <p:cNvPr id="24" name="Text 21"/>
          <p:cNvSpPr/>
          <p:nvPr/>
        </p:nvSpPr>
        <p:spPr>
          <a:xfrm>
            <a:off x="3227832" y="4398264"/>
            <a:ext cx="2286000" cy="274320"/>
          </a:xfrm>
          <a:prstGeom prst="rect">
            <a:avLst/>
          </a:prstGeom>
          <a:noFill/>
          <a:ln/>
        </p:spPr>
        <p:txBody>
          <a:bodyPr wrap="square" rtlCol="0" anchor="ctr"/>
          <a:lstStyle/>
          <a:p>
            <a:pPr marL="0" indent="0">
              <a:buNone/>
            </a:pPr>
            <a:r>
              <a:rPr lang="en-US" sz="1100" b="1" dirty="0">
                <a:solidFill>
                  <a:srgbClr val="0D2340"/>
                </a:solidFill>
              </a:rPr>
              <a:t>Wire Transfers</a:t>
            </a:r>
            <a:endParaRPr lang="en-US" sz="1100" dirty="0"/>
          </a:p>
        </p:txBody>
      </p:sp>
      <p:sp>
        <p:nvSpPr>
          <p:cNvPr id="25" name="Text 22"/>
          <p:cNvSpPr/>
          <p:nvPr/>
        </p:nvSpPr>
        <p:spPr>
          <a:xfrm>
            <a:off x="3227832" y="4663440"/>
            <a:ext cx="2286000" cy="256032"/>
          </a:xfrm>
          <a:prstGeom prst="rect">
            <a:avLst/>
          </a:prstGeom>
          <a:noFill/>
          <a:ln/>
        </p:spPr>
        <p:txBody>
          <a:bodyPr wrap="square" rtlCol="0" anchor="ctr"/>
          <a:lstStyle/>
          <a:p>
            <a:pPr marL="0" indent="0">
              <a:buNone/>
            </a:pPr>
            <a:r>
              <a:rPr lang="en-US" sz="950" dirty="0">
                <a:solidFill>
                  <a:srgbClr val="4A6080"/>
                </a:solidFill>
              </a:rPr>
              <a:t>Wire transaction records</a:t>
            </a:r>
            <a:endParaRPr lang="en-US" sz="950" dirty="0"/>
          </a:p>
        </p:txBody>
      </p:sp>
      <p:sp>
        <p:nvSpPr>
          <p:cNvPr id="26" name="Shape 23"/>
          <p:cNvSpPr/>
          <p:nvPr/>
        </p:nvSpPr>
        <p:spPr>
          <a:xfrm>
            <a:off x="365760" y="5120640"/>
            <a:ext cx="2514600" cy="658368"/>
          </a:xfrm>
          <a:prstGeom prst="rect">
            <a:avLst/>
          </a:prstGeom>
          <a:solidFill>
            <a:srgbClr val="FFFFFF"/>
          </a:solidFill>
          <a:ln w="12700">
            <a:solidFill>
              <a:srgbClr val="E8ECF1"/>
            </a:solidFill>
            <a:prstDash val="solid"/>
          </a:ln>
        </p:spPr>
        <p:txBody>
          <a:bodyPr/>
          <a:lstStyle/>
          <a:p>
            <a:endParaRPr lang="en-US"/>
          </a:p>
        </p:txBody>
      </p:sp>
      <p:sp>
        <p:nvSpPr>
          <p:cNvPr id="27" name="Shape 24"/>
          <p:cNvSpPr/>
          <p:nvPr/>
        </p:nvSpPr>
        <p:spPr>
          <a:xfrm>
            <a:off x="365760" y="5120640"/>
            <a:ext cx="73152" cy="658368"/>
          </a:xfrm>
          <a:prstGeom prst="rect">
            <a:avLst/>
          </a:prstGeom>
          <a:solidFill>
            <a:srgbClr val="00A89D"/>
          </a:solidFill>
          <a:ln/>
        </p:spPr>
        <p:txBody>
          <a:bodyPr/>
          <a:lstStyle/>
          <a:p>
            <a:endParaRPr lang="en-US"/>
          </a:p>
        </p:txBody>
      </p:sp>
      <p:sp>
        <p:nvSpPr>
          <p:cNvPr id="28" name="Text 25"/>
          <p:cNvSpPr/>
          <p:nvPr/>
        </p:nvSpPr>
        <p:spPr>
          <a:xfrm>
            <a:off x="530352" y="5175504"/>
            <a:ext cx="2286000" cy="274320"/>
          </a:xfrm>
          <a:prstGeom prst="rect">
            <a:avLst/>
          </a:prstGeom>
          <a:noFill/>
          <a:ln/>
        </p:spPr>
        <p:txBody>
          <a:bodyPr wrap="square" rtlCol="0" anchor="ctr"/>
          <a:lstStyle/>
          <a:p>
            <a:pPr marL="0" indent="0">
              <a:buNone/>
            </a:pPr>
            <a:r>
              <a:rPr lang="en-US" sz="1100" b="1" dirty="0">
                <a:solidFill>
                  <a:srgbClr val="0D2340"/>
                </a:solidFill>
              </a:rPr>
              <a:t>Sanctions Screening</a:t>
            </a:r>
            <a:endParaRPr lang="en-US" sz="1100" dirty="0"/>
          </a:p>
        </p:txBody>
      </p:sp>
      <p:sp>
        <p:nvSpPr>
          <p:cNvPr id="29" name="Text 26"/>
          <p:cNvSpPr/>
          <p:nvPr/>
        </p:nvSpPr>
        <p:spPr>
          <a:xfrm>
            <a:off x="530352" y="5440680"/>
            <a:ext cx="2286000" cy="256032"/>
          </a:xfrm>
          <a:prstGeom prst="rect">
            <a:avLst/>
          </a:prstGeom>
          <a:noFill/>
          <a:ln/>
        </p:spPr>
        <p:txBody>
          <a:bodyPr wrap="square" rtlCol="0" anchor="ctr"/>
          <a:lstStyle/>
          <a:p>
            <a:pPr marL="0" indent="0">
              <a:buNone/>
            </a:pPr>
            <a:r>
              <a:rPr lang="en-US" sz="950" dirty="0">
                <a:solidFill>
                  <a:srgbClr val="4A6080"/>
                </a:solidFill>
              </a:rPr>
              <a:t>Compliance screening results</a:t>
            </a:r>
            <a:endParaRPr lang="en-US" sz="950" dirty="0"/>
          </a:p>
        </p:txBody>
      </p:sp>
      <p:sp>
        <p:nvSpPr>
          <p:cNvPr id="30" name="Shape 27"/>
          <p:cNvSpPr/>
          <p:nvPr/>
        </p:nvSpPr>
        <p:spPr>
          <a:xfrm>
            <a:off x="3063240" y="5120640"/>
            <a:ext cx="2514600" cy="658368"/>
          </a:xfrm>
          <a:prstGeom prst="rect">
            <a:avLst/>
          </a:prstGeom>
          <a:solidFill>
            <a:srgbClr val="FFFFFF"/>
          </a:solidFill>
          <a:ln w="12700">
            <a:solidFill>
              <a:srgbClr val="E8ECF1"/>
            </a:solidFill>
            <a:prstDash val="solid"/>
          </a:ln>
        </p:spPr>
        <p:txBody>
          <a:bodyPr/>
          <a:lstStyle/>
          <a:p>
            <a:endParaRPr lang="en-US"/>
          </a:p>
        </p:txBody>
      </p:sp>
      <p:sp>
        <p:nvSpPr>
          <p:cNvPr id="31" name="Shape 28"/>
          <p:cNvSpPr/>
          <p:nvPr/>
        </p:nvSpPr>
        <p:spPr>
          <a:xfrm>
            <a:off x="3063240" y="5120640"/>
            <a:ext cx="73152" cy="658368"/>
          </a:xfrm>
          <a:prstGeom prst="rect">
            <a:avLst/>
          </a:prstGeom>
          <a:solidFill>
            <a:srgbClr val="00A89D"/>
          </a:solidFill>
          <a:ln/>
        </p:spPr>
        <p:txBody>
          <a:bodyPr/>
          <a:lstStyle/>
          <a:p>
            <a:endParaRPr lang="en-US"/>
          </a:p>
        </p:txBody>
      </p:sp>
      <p:sp>
        <p:nvSpPr>
          <p:cNvPr id="32" name="Text 29"/>
          <p:cNvSpPr/>
          <p:nvPr/>
        </p:nvSpPr>
        <p:spPr>
          <a:xfrm>
            <a:off x="3227832" y="5175504"/>
            <a:ext cx="2286000" cy="274320"/>
          </a:xfrm>
          <a:prstGeom prst="rect">
            <a:avLst/>
          </a:prstGeom>
          <a:noFill/>
          <a:ln/>
        </p:spPr>
        <p:txBody>
          <a:bodyPr wrap="square" rtlCol="0" anchor="ctr"/>
          <a:lstStyle/>
          <a:p>
            <a:pPr marL="0" indent="0">
              <a:buNone/>
            </a:pPr>
            <a:r>
              <a:rPr lang="en-US" sz="1100" b="1" dirty="0">
                <a:solidFill>
                  <a:srgbClr val="0D2340"/>
                </a:solidFill>
              </a:rPr>
              <a:t>Monthly Payment Agg.</a:t>
            </a:r>
            <a:endParaRPr lang="en-US" sz="1100" dirty="0"/>
          </a:p>
        </p:txBody>
      </p:sp>
      <p:sp>
        <p:nvSpPr>
          <p:cNvPr id="33" name="Text 30"/>
          <p:cNvSpPr/>
          <p:nvPr/>
        </p:nvSpPr>
        <p:spPr>
          <a:xfrm>
            <a:off x="3227832" y="5440680"/>
            <a:ext cx="2286000" cy="256032"/>
          </a:xfrm>
          <a:prstGeom prst="rect">
            <a:avLst/>
          </a:prstGeom>
          <a:noFill/>
          <a:ln/>
        </p:spPr>
        <p:txBody>
          <a:bodyPr wrap="square" rtlCol="0" anchor="ctr"/>
          <a:lstStyle/>
          <a:p>
            <a:pPr marL="0" indent="0">
              <a:buNone/>
            </a:pPr>
            <a:r>
              <a:rPr lang="en-US" sz="950" dirty="0">
                <a:solidFill>
                  <a:srgbClr val="4A6080"/>
                </a:solidFill>
              </a:rPr>
              <a:t>Payment aggregates &amp; trends</a:t>
            </a:r>
            <a:endParaRPr lang="en-US" sz="950" dirty="0"/>
          </a:p>
        </p:txBody>
      </p:sp>
      <p:sp>
        <p:nvSpPr>
          <p:cNvPr id="34" name="Shape 31"/>
          <p:cNvSpPr/>
          <p:nvPr/>
        </p:nvSpPr>
        <p:spPr>
          <a:xfrm>
            <a:off x="6126480" y="1417320"/>
            <a:ext cx="5669280" cy="5074920"/>
          </a:xfrm>
          <a:prstGeom prst="rect">
            <a:avLst/>
          </a:prstGeom>
          <a:solidFill>
            <a:srgbClr val="0D2340"/>
          </a:solidFill>
          <a:ln/>
        </p:spPr>
        <p:txBody>
          <a:bodyPr/>
          <a:lstStyle/>
          <a:p>
            <a:endParaRPr lang="en-US"/>
          </a:p>
        </p:txBody>
      </p:sp>
      <p:sp>
        <p:nvSpPr>
          <p:cNvPr id="35" name="Text 32"/>
          <p:cNvSpPr/>
          <p:nvPr/>
        </p:nvSpPr>
        <p:spPr>
          <a:xfrm>
            <a:off x="6355080" y="1600200"/>
            <a:ext cx="5212080" cy="411480"/>
          </a:xfrm>
          <a:prstGeom prst="rect">
            <a:avLst/>
          </a:prstGeom>
          <a:noFill/>
          <a:ln/>
        </p:spPr>
        <p:txBody>
          <a:bodyPr wrap="square" rtlCol="0" anchor="ctr"/>
          <a:lstStyle/>
          <a:p>
            <a:pPr marL="0" indent="0">
              <a:buNone/>
            </a:pPr>
            <a:r>
              <a:rPr lang="en-US" sz="1600" b="1" dirty="0">
                <a:solidFill>
                  <a:srgbClr val="00A89D"/>
                </a:solidFill>
              </a:rPr>
              <a:t>How It Works</a:t>
            </a:r>
            <a:endParaRPr lang="en-US" sz="1600" dirty="0"/>
          </a:p>
        </p:txBody>
      </p:sp>
      <p:sp>
        <p:nvSpPr>
          <p:cNvPr id="36" name="Shape 33"/>
          <p:cNvSpPr/>
          <p:nvPr/>
        </p:nvSpPr>
        <p:spPr>
          <a:xfrm>
            <a:off x="6355080" y="2103120"/>
            <a:ext cx="384048" cy="384048"/>
          </a:xfrm>
          <a:prstGeom prst="ellipse">
            <a:avLst/>
          </a:prstGeom>
          <a:solidFill>
            <a:srgbClr val="00A89D"/>
          </a:solidFill>
          <a:ln/>
        </p:spPr>
        <p:txBody>
          <a:bodyPr/>
          <a:lstStyle/>
          <a:p>
            <a:endParaRPr lang="en-US"/>
          </a:p>
        </p:txBody>
      </p:sp>
      <p:sp>
        <p:nvSpPr>
          <p:cNvPr id="37" name="Text 34"/>
          <p:cNvSpPr/>
          <p:nvPr/>
        </p:nvSpPr>
        <p:spPr>
          <a:xfrm>
            <a:off x="6355080" y="2103120"/>
            <a:ext cx="384048" cy="384048"/>
          </a:xfrm>
          <a:prstGeom prst="rect">
            <a:avLst/>
          </a:prstGeom>
          <a:noFill/>
          <a:ln/>
        </p:spPr>
        <p:txBody>
          <a:bodyPr wrap="square" lIns="0" tIns="0" rIns="0" bIns="0" rtlCol="0" anchor="ctr"/>
          <a:lstStyle/>
          <a:p>
            <a:pPr marL="0" indent="0" algn="ctr">
              <a:buNone/>
            </a:pPr>
            <a:r>
              <a:rPr lang="en-US" sz="1300" b="1" dirty="0">
                <a:solidFill>
                  <a:srgbClr val="0D2340"/>
                </a:solidFill>
              </a:rPr>
              <a:t>1</a:t>
            </a:r>
            <a:endParaRPr lang="en-US" sz="1300" dirty="0"/>
          </a:p>
        </p:txBody>
      </p:sp>
      <p:sp>
        <p:nvSpPr>
          <p:cNvPr id="38" name="Text 35"/>
          <p:cNvSpPr/>
          <p:nvPr/>
        </p:nvSpPr>
        <p:spPr>
          <a:xfrm>
            <a:off x="6858000" y="2066544"/>
            <a:ext cx="4663440" cy="320040"/>
          </a:xfrm>
          <a:prstGeom prst="rect">
            <a:avLst/>
          </a:prstGeom>
          <a:noFill/>
          <a:ln/>
        </p:spPr>
        <p:txBody>
          <a:bodyPr wrap="square" rtlCol="0" anchor="ctr"/>
          <a:lstStyle/>
          <a:p>
            <a:pPr marL="0" indent="0">
              <a:buNone/>
            </a:pPr>
            <a:r>
              <a:rPr lang="en-US" sz="1200" b="1" dirty="0">
                <a:solidFill>
                  <a:srgbClr val="FFFFFF"/>
                </a:solidFill>
              </a:rPr>
              <a:t>Your JH Core Systems</a:t>
            </a:r>
            <a:endParaRPr lang="en-US" sz="1200" dirty="0"/>
          </a:p>
        </p:txBody>
      </p:sp>
      <p:sp>
        <p:nvSpPr>
          <p:cNvPr id="39" name="Text 36"/>
          <p:cNvSpPr/>
          <p:nvPr/>
        </p:nvSpPr>
        <p:spPr>
          <a:xfrm>
            <a:off x="6858000" y="2377440"/>
            <a:ext cx="4663440" cy="502920"/>
          </a:xfrm>
          <a:prstGeom prst="rect">
            <a:avLst/>
          </a:prstGeom>
          <a:noFill/>
          <a:ln/>
        </p:spPr>
        <p:txBody>
          <a:bodyPr wrap="square" rtlCol="0" anchor="ctr"/>
          <a:lstStyle/>
          <a:p>
            <a:pPr marL="0" indent="0">
              <a:buNone/>
            </a:pPr>
            <a:r>
              <a:rPr lang="en-US" sz="1050" dirty="0">
                <a:solidFill>
                  <a:srgbClr val="7B96B2"/>
                </a:solidFill>
              </a:rPr>
              <a:t>SilverLake, Banno, Payments, and more — already generating data every day.</a:t>
            </a:r>
            <a:endParaRPr lang="en-US" sz="1050" dirty="0"/>
          </a:p>
        </p:txBody>
      </p:sp>
      <p:sp>
        <p:nvSpPr>
          <p:cNvPr id="40" name="Shape 37"/>
          <p:cNvSpPr/>
          <p:nvPr/>
        </p:nvSpPr>
        <p:spPr>
          <a:xfrm>
            <a:off x="6547104" y="2505456"/>
            <a:ext cx="0" cy="640080"/>
          </a:xfrm>
          <a:prstGeom prst="line">
            <a:avLst/>
          </a:prstGeom>
          <a:noFill/>
          <a:ln w="12700">
            <a:solidFill>
              <a:srgbClr val="00A89D"/>
            </a:solidFill>
            <a:prstDash val="dash"/>
          </a:ln>
        </p:spPr>
        <p:txBody>
          <a:bodyPr/>
          <a:lstStyle/>
          <a:p>
            <a:endParaRPr lang="en-US"/>
          </a:p>
        </p:txBody>
      </p:sp>
      <p:sp>
        <p:nvSpPr>
          <p:cNvPr id="41" name="Shape 38"/>
          <p:cNvSpPr/>
          <p:nvPr/>
        </p:nvSpPr>
        <p:spPr>
          <a:xfrm>
            <a:off x="6355080" y="3154680"/>
            <a:ext cx="384048" cy="384048"/>
          </a:xfrm>
          <a:prstGeom prst="ellipse">
            <a:avLst/>
          </a:prstGeom>
          <a:solidFill>
            <a:srgbClr val="00A89D"/>
          </a:solidFill>
          <a:ln/>
        </p:spPr>
        <p:txBody>
          <a:bodyPr/>
          <a:lstStyle/>
          <a:p>
            <a:endParaRPr lang="en-US"/>
          </a:p>
        </p:txBody>
      </p:sp>
      <p:sp>
        <p:nvSpPr>
          <p:cNvPr id="42" name="Text 39"/>
          <p:cNvSpPr/>
          <p:nvPr/>
        </p:nvSpPr>
        <p:spPr>
          <a:xfrm>
            <a:off x="6355080" y="3154680"/>
            <a:ext cx="384048" cy="384048"/>
          </a:xfrm>
          <a:prstGeom prst="rect">
            <a:avLst/>
          </a:prstGeom>
          <a:noFill/>
          <a:ln/>
        </p:spPr>
        <p:txBody>
          <a:bodyPr wrap="square" lIns="0" tIns="0" rIns="0" bIns="0" rtlCol="0" anchor="ctr"/>
          <a:lstStyle/>
          <a:p>
            <a:pPr marL="0" indent="0" algn="ctr">
              <a:buNone/>
            </a:pPr>
            <a:r>
              <a:rPr lang="en-US" sz="1300" b="1" dirty="0">
                <a:solidFill>
                  <a:srgbClr val="0D2340"/>
                </a:solidFill>
              </a:rPr>
              <a:t>2</a:t>
            </a:r>
            <a:endParaRPr lang="en-US" sz="1300" dirty="0"/>
          </a:p>
        </p:txBody>
      </p:sp>
      <p:sp>
        <p:nvSpPr>
          <p:cNvPr id="43" name="Text 40"/>
          <p:cNvSpPr/>
          <p:nvPr/>
        </p:nvSpPr>
        <p:spPr>
          <a:xfrm>
            <a:off x="6858000" y="3118104"/>
            <a:ext cx="4663440" cy="320040"/>
          </a:xfrm>
          <a:prstGeom prst="rect">
            <a:avLst/>
          </a:prstGeom>
          <a:noFill/>
          <a:ln/>
        </p:spPr>
        <p:txBody>
          <a:bodyPr wrap="square" rtlCol="0" anchor="ctr"/>
          <a:lstStyle/>
          <a:p>
            <a:pPr marL="0" indent="0">
              <a:buNone/>
            </a:pPr>
            <a:r>
              <a:rPr lang="en-US" sz="1200" b="1" dirty="0">
                <a:solidFill>
                  <a:srgbClr val="FFFFFF"/>
                </a:solidFill>
              </a:rPr>
              <a:t>Jack Henry Extracts &amp; Standardizes</a:t>
            </a:r>
            <a:endParaRPr lang="en-US" sz="1200" dirty="0"/>
          </a:p>
        </p:txBody>
      </p:sp>
      <p:sp>
        <p:nvSpPr>
          <p:cNvPr id="44" name="Text 41"/>
          <p:cNvSpPr/>
          <p:nvPr/>
        </p:nvSpPr>
        <p:spPr>
          <a:xfrm>
            <a:off x="6858000" y="3429000"/>
            <a:ext cx="4663440" cy="502920"/>
          </a:xfrm>
          <a:prstGeom prst="rect">
            <a:avLst/>
          </a:prstGeom>
          <a:noFill/>
          <a:ln/>
        </p:spPr>
        <p:txBody>
          <a:bodyPr wrap="square" rtlCol="0" anchor="ctr"/>
          <a:lstStyle/>
          <a:p>
            <a:pPr marL="0" indent="0">
              <a:buNone/>
            </a:pPr>
            <a:r>
              <a:rPr lang="en-US" sz="1050" dirty="0">
                <a:solidFill>
                  <a:srgbClr val="7B96B2"/>
                </a:solidFill>
              </a:rPr>
              <a:t>Monthly batch extractions are normalized into canonical, dereference, and raw formats.</a:t>
            </a:r>
            <a:endParaRPr lang="en-US" sz="1050" dirty="0"/>
          </a:p>
        </p:txBody>
      </p:sp>
      <p:sp>
        <p:nvSpPr>
          <p:cNvPr id="45" name="Shape 42"/>
          <p:cNvSpPr/>
          <p:nvPr/>
        </p:nvSpPr>
        <p:spPr>
          <a:xfrm>
            <a:off x="6547104" y="3557016"/>
            <a:ext cx="0" cy="640080"/>
          </a:xfrm>
          <a:prstGeom prst="line">
            <a:avLst/>
          </a:prstGeom>
          <a:noFill/>
          <a:ln w="12700">
            <a:solidFill>
              <a:srgbClr val="00A89D"/>
            </a:solidFill>
            <a:prstDash val="dash"/>
          </a:ln>
        </p:spPr>
        <p:txBody>
          <a:bodyPr/>
          <a:lstStyle/>
          <a:p>
            <a:endParaRPr lang="en-US"/>
          </a:p>
        </p:txBody>
      </p:sp>
      <p:sp>
        <p:nvSpPr>
          <p:cNvPr id="46" name="Shape 43"/>
          <p:cNvSpPr/>
          <p:nvPr/>
        </p:nvSpPr>
        <p:spPr>
          <a:xfrm>
            <a:off x="6355080" y="4206240"/>
            <a:ext cx="384048" cy="384048"/>
          </a:xfrm>
          <a:prstGeom prst="ellipse">
            <a:avLst/>
          </a:prstGeom>
          <a:solidFill>
            <a:srgbClr val="00A89D"/>
          </a:solidFill>
          <a:ln/>
        </p:spPr>
        <p:txBody>
          <a:bodyPr/>
          <a:lstStyle/>
          <a:p>
            <a:endParaRPr lang="en-US"/>
          </a:p>
        </p:txBody>
      </p:sp>
      <p:sp>
        <p:nvSpPr>
          <p:cNvPr id="47" name="Text 44"/>
          <p:cNvSpPr/>
          <p:nvPr/>
        </p:nvSpPr>
        <p:spPr>
          <a:xfrm>
            <a:off x="6355080" y="4206240"/>
            <a:ext cx="384048" cy="384048"/>
          </a:xfrm>
          <a:prstGeom prst="rect">
            <a:avLst/>
          </a:prstGeom>
          <a:noFill/>
          <a:ln/>
        </p:spPr>
        <p:txBody>
          <a:bodyPr wrap="square" lIns="0" tIns="0" rIns="0" bIns="0" rtlCol="0" anchor="ctr"/>
          <a:lstStyle/>
          <a:p>
            <a:pPr marL="0" indent="0" algn="ctr">
              <a:buNone/>
            </a:pPr>
            <a:r>
              <a:rPr lang="en-US" sz="1300" b="1" dirty="0">
                <a:solidFill>
                  <a:srgbClr val="0D2340"/>
                </a:solidFill>
              </a:rPr>
              <a:t>3</a:t>
            </a:r>
            <a:endParaRPr lang="en-US" sz="1300" dirty="0"/>
          </a:p>
        </p:txBody>
      </p:sp>
      <p:sp>
        <p:nvSpPr>
          <p:cNvPr id="48" name="Text 45"/>
          <p:cNvSpPr/>
          <p:nvPr/>
        </p:nvSpPr>
        <p:spPr>
          <a:xfrm>
            <a:off x="6858000" y="4169664"/>
            <a:ext cx="4663440" cy="320040"/>
          </a:xfrm>
          <a:prstGeom prst="rect">
            <a:avLst/>
          </a:prstGeom>
          <a:noFill/>
          <a:ln/>
        </p:spPr>
        <p:txBody>
          <a:bodyPr wrap="square" rtlCol="0" anchor="ctr"/>
          <a:lstStyle/>
          <a:p>
            <a:pPr marL="0" indent="0">
              <a:buNone/>
            </a:pPr>
            <a:r>
              <a:rPr lang="en-US" sz="1200" b="1" dirty="0">
                <a:solidFill>
                  <a:srgbClr val="FFFFFF"/>
                </a:solidFill>
              </a:rPr>
              <a:t>Delivered to BigQuery</a:t>
            </a:r>
            <a:endParaRPr lang="en-US" sz="1200" dirty="0"/>
          </a:p>
        </p:txBody>
      </p:sp>
      <p:sp>
        <p:nvSpPr>
          <p:cNvPr id="49" name="Text 46"/>
          <p:cNvSpPr/>
          <p:nvPr/>
        </p:nvSpPr>
        <p:spPr>
          <a:xfrm>
            <a:off x="6858000" y="4480560"/>
            <a:ext cx="4663440" cy="502920"/>
          </a:xfrm>
          <a:prstGeom prst="rect">
            <a:avLst/>
          </a:prstGeom>
          <a:noFill/>
          <a:ln/>
        </p:spPr>
        <p:txBody>
          <a:bodyPr wrap="square" rtlCol="0" anchor="ctr"/>
          <a:lstStyle/>
          <a:p>
            <a:pPr marL="0" indent="0">
              <a:buNone/>
            </a:pPr>
            <a:r>
              <a:rPr lang="en-US" sz="1050" dirty="0">
                <a:solidFill>
                  <a:srgbClr val="7B96B2"/>
                </a:solidFill>
              </a:rPr>
              <a:t>Data lands in your dedicated Google BigQuery dataset on GCP — single-tenant, secure.</a:t>
            </a:r>
            <a:endParaRPr lang="en-US" sz="1050" dirty="0"/>
          </a:p>
        </p:txBody>
      </p:sp>
      <p:sp>
        <p:nvSpPr>
          <p:cNvPr id="50" name="Shape 47"/>
          <p:cNvSpPr/>
          <p:nvPr/>
        </p:nvSpPr>
        <p:spPr>
          <a:xfrm>
            <a:off x="6547104" y="4608576"/>
            <a:ext cx="0" cy="640080"/>
          </a:xfrm>
          <a:prstGeom prst="line">
            <a:avLst/>
          </a:prstGeom>
          <a:noFill/>
          <a:ln w="12700">
            <a:solidFill>
              <a:srgbClr val="00A89D"/>
            </a:solidFill>
            <a:prstDash val="dash"/>
          </a:ln>
        </p:spPr>
        <p:txBody>
          <a:bodyPr/>
          <a:lstStyle/>
          <a:p>
            <a:endParaRPr lang="en-US"/>
          </a:p>
        </p:txBody>
      </p:sp>
      <p:sp>
        <p:nvSpPr>
          <p:cNvPr id="51" name="Shape 48"/>
          <p:cNvSpPr/>
          <p:nvPr/>
        </p:nvSpPr>
        <p:spPr>
          <a:xfrm>
            <a:off x="6355080" y="5257800"/>
            <a:ext cx="384048" cy="384048"/>
          </a:xfrm>
          <a:prstGeom prst="ellipse">
            <a:avLst/>
          </a:prstGeom>
          <a:solidFill>
            <a:srgbClr val="00A89D"/>
          </a:solidFill>
          <a:ln/>
        </p:spPr>
        <p:txBody>
          <a:bodyPr/>
          <a:lstStyle/>
          <a:p>
            <a:endParaRPr lang="en-US"/>
          </a:p>
        </p:txBody>
      </p:sp>
      <p:sp>
        <p:nvSpPr>
          <p:cNvPr id="52" name="Text 49"/>
          <p:cNvSpPr/>
          <p:nvPr/>
        </p:nvSpPr>
        <p:spPr>
          <a:xfrm>
            <a:off x="6355080" y="5257800"/>
            <a:ext cx="384048" cy="384048"/>
          </a:xfrm>
          <a:prstGeom prst="rect">
            <a:avLst/>
          </a:prstGeom>
          <a:noFill/>
          <a:ln/>
        </p:spPr>
        <p:txBody>
          <a:bodyPr wrap="square" lIns="0" tIns="0" rIns="0" bIns="0" rtlCol="0" anchor="ctr"/>
          <a:lstStyle/>
          <a:p>
            <a:pPr marL="0" indent="0" algn="ctr">
              <a:buNone/>
            </a:pPr>
            <a:r>
              <a:rPr lang="en-US" sz="1300" b="1" dirty="0">
                <a:solidFill>
                  <a:srgbClr val="0D2340"/>
                </a:solidFill>
              </a:rPr>
              <a:t>4</a:t>
            </a:r>
            <a:endParaRPr lang="en-US" sz="1300" dirty="0"/>
          </a:p>
        </p:txBody>
      </p:sp>
      <p:sp>
        <p:nvSpPr>
          <p:cNvPr id="53" name="Text 50"/>
          <p:cNvSpPr/>
          <p:nvPr/>
        </p:nvSpPr>
        <p:spPr>
          <a:xfrm>
            <a:off x="6858000" y="5221224"/>
            <a:ext cx="4663440" cy="320040"/>
          </a:xfrm>
          <a:prstGeom prst="rect">
            <a:avLst/>
          </a:prstGeom>
          <a:noFill/>
          <a:ln/>
        </p:spPr>
        <p:txBody>
          <a:bodyPr wrap="square" rtlCol="0" anchor="ctr"/>
          <a:lstStyle/>
          <a:p>
            <a:pPr marL="0" indent="0">
              <a:buNone/>
            </a:pPr>
            <a:r>
              <a:rPr lang="en-US" sz="1200" b="1" dirty="0">
                <a:solidFill>
                  <a:srgbClr val="FFFFFF"/>
                </a:solidFill>
              </a:rPr>
              <a:t>You Use It Your Way</a:t>
            </a:r>
            <a:endParaRPr lang="en-US" sz="1200" dirty="0"/>
          </a:p>
        </p:txBody>
      </p:sp>
      <p:sp>
        <p:nvSpPr>
          <p:cNvPr id="54" name="Text 51"/>
          <p:cNvSpPr/>
          <p:nvPr/>
        </p:nvSpPr>
        <p:spPr>
          <a:xfrm>
            <a:off x="6858000" y="5532120"/>
            <a:ext cx="4663440" cy="502920"/>
          </a:xfrm>
          <a:prstGeom prst="rect">
            <a:avLst/>
          </a:prstGeom>
          <a:noFill/>
          <a:ln/>
        </p:spPr>
        <p:txBody>
          <a:bodyPr wrap="square" rtlCol="0" anchor="ctr"/>
          <a:lstStyle/>
          <a:p>
            <a:pPr marL="0" indent="0">
              <a:buNone/>
            </a:pPr>
            <a:r>
              <a:rPr lang="en-US" sz="1050" dirty="0">
                <a:solidFill>
                  <a:srgbClr val="7B96B2"/>
                </a:solidFill>
              </a:rPr>
              <a:t>Connect your BI tools, data science workflows, or build custom applications on top.</a:t>
            </a:r>
            <a:endParaRPr lang="en-US" sz="1050" dirty="0"/>
          </a:p>
        </p:txBody>
      </p:sp>
      <p:sp>
        <p:nvSpPr>
          <p:cNvPr id="55" name="Shape 52"/>
          <p:cNvSpPr/>
          <p:nvPr/>
        </p:nvSpPr>
        <p:spPr>
          <a:xfrm>
            <a:off x="6355080" y="6172200"/>
            <a:ext cx="5303520" cy="274320"/>
          </a:xfrm>
          <a:prstGeom prst="rect">
            <a:avLst/>
          </a:prstGeom>
          <a:solidFill>
            <a:srgbClr val="163354"/>
          </a:solidFill>
          <a:ln/>
        </p:spPr>
        <p:txBody>
          <a:bodyPr/>
          <a:lstStyle/>
          <a:p>
            <a:endParaRPr lang="en-US"/>
          </a:p>
        </p:txBody>
      </p:sp>
      <p:sp>
        <p:nvSpPr>
          <p:cNvPr id="56" name="Text 53"/>
          <p:cNvSpPr/>
          <p:nvPr/>
        </p:nvSpPr>
        <p:spPr>
          <a:xfrm>
            <a:off x="6355080" y="6172200"/>
            <a:ext cx="5303520" cy="274320"/>
          </a:xfrm>
          <a:prstGeom prst="rect">
            <a:avLst/>
          </a:prstGeom>
          <a:noFill/>
          <a:ln/>
        </p:spPr>
        <p:txBody>
          <a:bodyPr wrap="square" rtlCol="0" anchor="ctr"/>
          <a:lstStyle/>
          <a:p>
            <a:pPr marL="0" indent="0" algn="ctr">
              <a:buNone/>
            </a:pPr>
            <a:r>
              <a:rPr lang="en-US" sz="900" dirty="0">
                <a:solidFill>
                  <a:srgbClr val="7B96B2"/>
                </a:solidFill>
              </a:rPr>
              <a:t>GCP BigQuery  •  Single-Tenant  •  SOC2 Compliant  •  Monthly Refresh</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D2340"/>
          </a:solidFill>
          <a:ln/>
        </p:spPr>
        <p:txBody>
          <a:bodyPr/>
          <a:lstStyle/>
          <a:p>
            <a:endParaRPr lang="en-US"/>
          </a:p>
        </p:txBody>
      </p:sp>
      <p:sp>
        <p:nvSpPr>
          <p:cNvPr id="3" name="Shape 1"/>
          <p:cNvSpPr/>
          <p:nvPr/>
        </p:nvSpPr>
        <p:spPr>
          <a:xfrm>
            <a:off x="0" y="1188720"/>
            <a:ext cx="12161520" cy="64008"/>
          </a:xfrm>
          <a:prstGeom prst="rect">
            <a:avLst/>
          </a:prstGeom>
          <a:solidFill>
            <a:srgbClr val="00A89D"/>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320040" y="274320"/>
            <a:ext cx="594360" cy="594360"/>
          </a:xfrm>
          <a:prstGeom prst="rect">
            <a:avLst/>
          </a:prstGeom>
        </p:spPr>
      </p:pic>
      <p:sp>
        <p:nvSpPr>
          <p:cNvPr id="5" name="Text 2"/>
          <p:cNvSpPr/>
          <p:nvPr/>
        </p:nvSpPr>
        <p:spPr>
          <a:xfrm>
            <a:off x="1005840" y="0"/>
            <a:ext cx="6400800" cy="1188720"/>
          </a:xfrm>
          <a:prstGeom prst="rect">
            <a:avLst/>
          </a:prstGeom>
          <a:noFill/>
          <a:ln/>
        </p:spPr>
        <p:txBody>
          <a:bodyPr wrap="square" rtlCol="0" anchor="ctr"/>
          <a:lstStyle/>
          <a:p>
            <a:pPr marL="0" indent="0">
              <a:buNone/>
            </a:pPr>
            <a:r>
              <a:rPr lang="en-US" sz="3200" b="1" dirty="0">
                <a:solidFill>
                  <a:srgbClr val="FFFFFF"/>
                </a:solidFill>
              </a:rPr>
              <a:t>JHKnow &amp; ARCU</a:t>
            </a:r>
            <a:endParaRPr lang="en-US" sz="3200" dirty="0"/>
          </a:p>
        </p:txBody>
      </p:sp>
      <p:sp>
        <p:nvSpPr>
          <p:cNvPr id="6" name="Text 3"/>
          <p:cNvSpPr/>
          <p:nvPr/>
        </p:nvSpPr>
        <p:spPr>
          <a:xfrm>
            <a:off x="1005840" y="530352"/>
            <a:ext cx="8229600" cy="594360"/>
          </a:xfrm>
          <a:prstGeom prst="rect">
            <a:avLst/>
          </a:prstGeom>
          <a:noFill/>
          <a:ln/>
        </p:spPr>
        <p:txBody>
          <a:bodyPr wrap="square" rtlCol="0" anchor="ctr"/>
          <a:lstStyle/>
          <a:p>
            <a:pPr marL="0" indent="0">
              <a:buNone/>
            </a:pPr>
            <a:r>
              <a:rPr lang="en-US" sz="1300" dirty="0">
                <a:solidFill>
                  <a:srgbClr val="33BDB3"/>
                </a:solidFill>
              </a:rPr>
              <a:t>Pre-modeled banking analytics warehouse + reporting — ready to run on day one.</a:t>
            </a:r>
            <a:endParaRPr lang="en-US" sz="1300" dirty="0"/>
          </a:p>
        </p:txBody>
      </p:sp>
      <p:sp>
        <p:nvSpPr>
          <p:cNvPr id="7" name="Shape 4"/>
          <p:cNvSpPr/>
          <p:nvPr/>
        </p:nvSpPr>
        <p:spPr>
          <a:xfrm>
            <a:off x="365760" y="1463040"/>
            <a:ext cx="11430000" cy="749808"/>
          </a:xfrm>
          <a:prstGeom prst="rect">
            <a:avLst/>
          </a:prstGeom>
          <a:solidFill>
            <a:srgbClr val="E0F5F4"/>
          </a:solidFill>
          <a:ln w="12700">
            <a:solidFill>
              <a:srgbClr val="00A89D"/>
            </a:solidFill>
            <a:prstDash val="solid"/>
          </a:ln>
        </p:spPr>
        <p:txBody>
          <a:bodyPr/>
          <a:lstStyle/>
          <a:p>
            <a:endParaRPr lang="en-US"/>
          </a:p>
        </p:txBody>
      </p:sp>
      <p:sp>
        <p:nvSpPr>
          <p:cNvPr id="8" name="Text 5"/>
          <p:cNvSpPr/>
          <p:nvPr/>
        </p:nvSpPr>
        <p:spPr>
          <a:xfrm>
            <a:off x="548640" y="1463040"/>
            <a:ext cx="11064240" cy="749808"/>
          </a:xfrm>
          <a:prstGeom prst="rect">
            <a:avLst/>
          </a:prstGeom>
          <a:noFill/>
          <a:ln/>
        </p:spPr>
        <p:txBody>
          <a:bodyPr wrap="square" rtlCol="0" anchor="ctr"/>
          <a:lstStyle/>
          <a:p>
            <a:pPr marL="0" indent="0">
              <a:buNone/>
            </a:pPr>
            <a:r>
              <a:rPr lang="en-US" sz="1200" i="1" dirty="0">
                <a:solidFill>
                  <a:srgbClr val="0D2340"/>
                </a:solidFill>
              </a:rPr>
              <a:t>Think of JHKnow/ARCU as your bank's data warehouse and analytics layer — already built, already modeled, already loaded with your Jack Henry data. No 18-month data lake project. No data engineering team required.</a:t>
            </a:r>
            <a:endParaRPr lang="en-US" sz="1200" dirty="0"/>
          </a:p>
        </p:txBody>
      </p:sp>
      <p:sp>
        <p:nvSpPr>
          <p:cNvPr id="9" name="Shape 6"/>
          <p:cNvSpPr/>
          <p:nvPr/>
        </p:nvSpPr>
        <p:spPr>
          <a:xfrm>
            <a:off x="365760" y="2423160"/>
            <a:ext cx="5577840" cy="41605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0" name="Shape 7"/>
          <p:cNvSpPr/>
          <p:nvPr/>
        </p:nvSpPr>
        <p:spPr>
          <a:xfrm>
            <a:off x="365760" y="2423160"/>
            <a:ext cx="5577840" cy="594360"/>
          </a:xfrm>
          <a:prstGeom prst="rect">
            <a:avLst/>
          </a:prstGeom>
          <a:solidFill>
            <a:srgbClr val="0D2340"/>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48640" y="2496312"/>
            <a:ext cx="438912" cy="438912"/>
          </a:xfrm>
          <a:prstGeom prst="rect">
            <a:avLst/>
          </a:prstGeom>
        </p:spPr>
      </p:pic>
      <p:sp>
        <p:nvSpPr>
          <p:cNvPr id="12" name="Text 8"/>
          <p:cNvSpPr/>
          <p:nvPr/>
        </p:nvSpPr>
        <p:spPr>
          <a:xfrm>
            <a:off x="1078992" y="2423160"/>
            <a:ext cx="4663440" cy="594360"/>
          </a:xfrm>
          <a:prstGeom prst="rect">
            <a:avLst/>
          </a:prstGeom>
          <a:noFill/>
          <a:ln/>
        </p:spPr>
        <p:txBody>
          <a:bodyPr wrap="square" rtlCol="0" anchor="ctr"/>
          <a:lstStyle/>
          <a:p>
            <a:pPr marL="0" indent="0">
              <a:buNone/>
            </a:pPr>
            <a:r>
              <a:rPr lang="en-US" sz="2000" b="1" dirty="0">
                <a:solidFill>
                  <a:srgbClr val="FFFFFF"/>
                </a:solidFill>
              </a:rPr>
              <a:t>JHKnow</a:t>
            </a:r>
            <a:endParaRPr lang="en-US" sz="2000" dirty="0"/>
          </a:p>
        </p:txBody>
      </p:sp>
      <p:sp>
        <p:nvSpPr>
          <p:cNvPr id="13" name="Text 9"/>
          <p:cNvSpPr/>
          <p:nvPr/>
        </p:nvSpPr>
        <p:spPr>
          <a:xfrm>
            <a:off x="548640" y="3063240"/>
            <a:ext cx="5212080" cy="347472"/>
          </a:xfrm>
          <a:prstGeom prst="rect">
            <a:avLst/>
          </a:prstGeom>
          <a:noFill/>
          <a:ln/>
        </p:spPr>
        <p:txBody>
          <a:bodyPr wrap="square" rtlCol="0" anchor="ctr"/>
          <a:lstStyle/>
          <a:p>
            <a:pPr marL="0" indent="0">
              <a:buNone/>
            </a:pPr>
            <a:r>
              <a:rPr lang="en-US" sz="1150" b="1" i="1" dirty="0">
                <a:solidFill>
                  <a:srgbClr val="00A89D"/>
                </a:solidFill>
              </a:rPr>
              <a:t>Curated data warehouse for banks (SilverLake)</a:t>
            </a:r>
            <a:endParaRPr lang="en-US" sz="1150" dirty="0"/>
          </a:p>
        </p:txBody>
      </p:sp>
      <p:pic>
        <p:nvPicPr>
          <p:cNvPr id="14" name="Image 2" descr="preencoded.png"/>
          <p:cNvPicPr>
            <a:picLocks noChangeAspect="1"/>
          </p:cNvPicPr>
          <p:nvPr/>
        </p:nvPicPr>
        <p:blipFill>
          <a:blip r:embed="rId5"/>
          <a:stretch>
            <a:fillRect/>
          </a:stretch>
        </p:blipFill>
        <p:spPr>
          <a:xfrm>
            <a:off x="548640" y="3493008"/>
            <a:ext cx="237744" cy="237744"/>
          </a:xfrm>
          <a:prstGeom prst="rect">
            <a:avLst/>
          </a:prstGeom>
        </p:spPr>
      </p:pic>
      <p:sp>
        <p:nvSpPr>
          <p:cNvPr id="15" name="Text 10"/>
          <p:cNvSpPr/>
          <p:nvPr/>
        </p:nvSpPr>
        <p:spPr>
          <a:xfrm>
            <a:off x="868680" y="3456432"/>
            <a:ext cx="4892040" cy="411480"/>
          </a:xfrm>
          <a:prstGeom prst="rect">
            <a:avLst/>
          </a:prstGeom>
          <a:noFill/>
          <a:ln/>
        </p:spPr>
        <p:txBody>
          <a:bodyPr wrap="square" rtlCol="0" anchor="ctr"/>
          <a:lstStyle/>
          <a:p>
            <a:pPr marL="0" indent="0">
              <a:buNone/>
            </a:pPr>
            <a:r>
              <a:rPr lang="en-US" sz="1150" dirty="0">
                <a:solidFill>
                  <a:srgbClr val="2C4A6E"/>
                </a:solidFill>
              </a:rPr>
              <a:t>Pre-built data models for core banking data</a:t>
            </a:r>
            <a:endParaRPr lang="en-US" sz="1150" dirty="0"/>
          </a:p>
        </p:txBody>
      </p:sp>
      <p:pic>
        <p:nvPicPr>
          <p:cNvPr id="16" name="Image 3" descr="preencoded.png"/>
          <p:cNvPicPr>
            <a:picLocks noChangeAspect="1"/>
          </p:cNvPicPr>
          <p:nvPr/>
        </p:nvPicPr>
        <p:blipFill>
          <a:blip r:embed="rId5"/>
          <a:stretch>
            <a:fillRect/>
          </a:stretch>
        </p:blipFill>
        <p:spPr>
          <a:xfrm>
            <a:off x="548640" y="3968496"/>
            <a:ext cx="237744" cy="237744"/>
          </a:xfrm>
          <a:prstGeom prst="rect">
            <a:avLst/>
          </a:prstGeom>
        </p:spPr>
      </p:pic>
      <p:sp>
        <p:nvSpPr>
          <p:cNvPr id="17" name="Text 11"/>
          <p:cNvSpPr/>
          <p:nvPr/>
        </p:nvSpPr>
        <p:spPr>
          <a:xfrm>
            <a:off x="868680" y="3931920"/>
            <a:ext cx="4892040" cy="411480"/>
          </a:xfrm>
          <a:prstGeom prst="rect">
            <a:avLst/>
          </a:prstGeom>
          <a:noFill/>
          <a:ln/>
        </p:spPr>
        <p:txBody>
          <a:bodyPr wrap="square" rtlCol="0" anchor="ctr"/>
          <a:lstStyle/>
          <a:p>
            <a:pPr marL="0" indent="0">
              <a:buNone/>
            </a:pPr>
            <a:r>
              <a:rPr lang="en-US" sz="1150" dirty="0">
                <a:solidFill>
                  <a:srgbClr val="2C4A6E"/>
                </a:solidFill>
              </a:rPr>
              <a:t>Standard operational &amp; executive reports</a:t>
            </a:r>
            <a:endParaRPr lang="en-US" sz="1150" dirty="0"/>
          </a:p>
        </p:txBody>
      </p:sp>
      <p:pic>
        <p:nvPicPr>
          <p:cNvPr id="18" name="Image 4" descr="preencoded.png"/>
          <p:cNvPicPr>
            <a:picLocks noChangeAspect="1"/>
          </p:cNvPicPr>
          <p:nvPr/>
        </p:nvPicPr>
        <p:blipFill>
          <a:blip r:embed="rId5"/>
          <a:stretch>
            <a:fillRect/>
          </a:stretch>
        </p:blipFill>
        <p:spPr>
          <a:xfrm>
            <a:off x="548640" y="4443984"/>
            <a:ext cx="237744" cy="237744"/>
          </a:xfrm>
          <a:prstGeom prst="rect">
            <a:avLst/>
          </a:prstGeom>
        </p:spPr>
      </p:pic>
      <p:sp>
        <p:nvSpPr>
          <p:cNvPr id="19" name="Text 12"/>
          <p:cNvSpPr/>
          <p:nvPr/>
        </p:nvSpPr>
        <p:spPr>
          <a:xfrm>
            <a:off x="868680" y="4407408"/>
            <a:ext cx="4892040" cy="411480"/>
          </a:xfrm>
          <a:prstGeom prst="rect">
            <a:avLst/>
          </a:prstGeom>
          <a:noFill/>
          <a:ln/>
        </p:spPr>
        <p:txBody>
          <a:bodyPr wrap="square" rtlCol="0" anchor="ctr"/>
          <a:lstStyle/>
          <a:p>
            <a:pPr marL="0" indent="0">
              <a:buNone/>
            </a:pPr>
            <a:r>
              <a:rPr lang="en-US" sz="1150" dirty="0">
                <a:solidFill>
                  <a:srgbClr val="2C4A6E"/>
                </a:solidFill>
              </a:rPr>
              <a:t>Deposit trends, loan performance, branch/channel usage</a:t>
            </a:r>
            <a:endParaRPr lang="en-US" sz="1150" dirty="0"/>
          </a:p>
        </p:txBody>
      </p:sp>
      <p:pic>
        <p:nvPicPr>
          <p:cNvPr id="20" name="Image 5" descr="preencoded.png"/>
          <p:cNvPicPr>
            <a:picLocks noChangeAspect="1"/>
          </p:cNvPicPr>
          <p:nvPr/>
        </p:nvPicPr>
        <p:blipFill>
          <a:blip r:embed="rId5"/>
          <a:stretch>
            <a:fillRect/>
          </a:stretch>
        </p:blipFill>
        <p:spPr>
          <a:xfrm>
            <a:off x="548640" y="4919472"/>
            <a:ext cx="237744" cy="237744"/>
          </a:xfrm>
          <a:prstGeom prst="rect">
            <a:avLst/>
          </a:prstGeom>
        </p:spPr>
      </p:pic>
      <p:sp>
        <p:nvSpPr>
          <p:cNvPr id="21" name="Text 13"/>
          <p:cNvSpPr/>
          <p:nvPr/>
        </p:nvSpPr>
        <p:spPr>
          <a:xfrm>
            <a:off x="868680" y="4882896"/>
            <a:ext cx="4892040" cy="411480"/>
          </a:xfrm>
          <a:prstGeom prst="rect">
            <a:avLst/>
          </a:prstGeom>
          <a:noFill/>
          <a:ln/>
        </p:spPr>
        <p:txBody>
          <a:bodyPr wrap="square" rtlCol="0" anchor="ctr"/>
          <a:lstStyle/>
          <a:p>
            <a:pPr marL="0" indent="0">
              <a:buNone/>
            </a:pPr>
            <a:r>
              <a:rPr lang="en-US" sz="1150" dirty="0">
                <a:solidFill>
                  <a:srgbClr val="2C4A6E"/>
                </a:solidFill>
              </a:rPr>
              <a:t>Customer behavior &amp; lifecycle analytics</a:t>
            </a:r>
            <a:endParaRPr lang="en-US" sz="1150" dirty="0"/>
          </a:p>
        </p:txBody>
      </p:sp>
      <p:pic>
        <p:nvPicPr>
          <p:cNvPr id="22" name="Image 6" descr="preencoded.png"/>
          <p:cNvPicPr>
            <a:picLocks noChangeAspect="1"/>
          </p:cNvPicPr>
          <p:nvPr/>
        </p:nvPicPr>
        <p:blipFill>
          <a:blip r:embed="rId5"/>
          <a:stretch>
            <a:fillRect/>
          </a:stretch>
        </p:blipFill>
        <p:spPr>
          <a:xfrm>
            <a:off x="548640" y="5394960"/>
            <a:ext cx="237744" cy="237744"/>
          </a:xfrm>
          <a:prstGeom prst="rect">
            <a:avLst/>
          </a:prstGeom>
        </p:spPr>
      </p:pic>
      <p:sp>
        <p:nvSpPr>
          <p:cNvPr id="23" name="Text 14"/>
          <p:cNvSpPr/>
          <p:nvPr/>
        </p:nvSpPr>
        <p:spPr>
          <a:xfrm>
            <a:off x="868680" y="5358384"/>
            <a:ext cx="4892040" cy="411480"/>
          </a:xfrm>
          <a:prstGeom prst="rect">
            <a:avLst/>
          </a:prstGeom>
          <a:noFill/>
          <a:ln/>
        </p:spPr>
        <p:txBody>
          <a:bodyPr wrap="square" rtlCol="0" anchor="ctr"/>
          <a:lstStyle/>
          <a:p>
            <a:pPr marL="0" indent="0">
              <a:buNone/>
            </a:pPr>
            <a:r>
              <a:rPr lang="en-US" sz="1150" dirty="0">
                <a:solidFill>
                  <a:srgbClr val="2C4A6E"/>
                </a:solidFill>
              </a:rPr>
              <a:t>Regulatory &amp; audit-ready reporting</a:t>
            </a:r>
            <a:endParaRPr lang="en-US" sz="1150" dirty="0"/>
          </a:p>
        </p:txBody>
      </p:sp>
      <p:pic>
        <p:nvPicPr>
          <p:cNvPr id="24" name="Image 7" descr="preencoded.png"/>
          <p:cNvPicPr>
            <a:picLocks noChangeAspect="1"/>
          </p:cNvPicPr>
          <p:nvPr/>
        </p:nvPicPr>
        <p:blipFill>
          <a:blip r:embed="rId5"/>
          <a:stretch>
            <a:fillRect/>
          </a:stretch>
        </p:blipFill>
        <p:spPr>
          <a:xfrm>
            <a:off x="548640" y="5870448"/>
            <a:ext cx="237744" cy="237744"/>
          </a:xfrm>
          <a:prstGeom prst="rect">
            <a:avLst/>
          </a:prstGeom>
        </p:spPr>
      </p:pic>
      <p:sp>
        <p:nvSpPr>
          <p:cNvPr id="25" name="Text 15"/>
          <p:cNvSpPr/>
          <p:nvPr/>
        </p:nvSpPr>
        <p:spPr>
          <a:xfrm>
            <a:off x="868680" y="5833872"/>
            <a:ext cx="4892040" cy="411480"/>
          </a:xfrm>
          <a:prstGeom prst="rect">
            <a:avLst/>
          </a:prstGeom>
          <a:noFill/>
          <a:ln/>
        </p:spPr>
        <p:txBody>
          <a:bodyPr wrap="square" rtlCol="0" anchor="ctr"/>
          <a:lstStyle/>
          <a:p>
            <a:pPr marL="0" indent="0">
              <a:buNone/>
            </a:pPr>
            <a:r>
              <a:rPr lang="en-US" sz="1150" dirty="0">
                <a:solidFill>
                  <a:srgbClr val="2C4A6E"/>
                </a:solidFill>
              </a:rPr>
              <a:t>Self-service dashboards with drill-down</a:t>
            </a:r>
            <a:endParaRPr lang="en-US" sz="1150" dirty="0"/>
          </a:p>
        </p:txBody>
      </p:sp>
      <p:sp>
        <p:nvSpPr>
          <p:cNvPr id="26" name="Shape 16"/>
          <p:cNvSpPr/>
          <p:nvPr/>
        </p:nvSpPr>
        <p:spPr>
          <a:xfrm>
            <a:off x="6263640" y="2423160"/>
            <a:ext cx="5577840" cy="41605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7" name="Shape 17"/>
          <p:cNvSpPr/>
          <p:nvPr/>
        </p:nvSpPr>
        <p:spPr>
          <a:xfrm>
            <a:off x="6263640" y="2423160"/>
            <a:ext cx="5577840" cy="594360"/>
          </a:xfrm>
          <a:prstGeom prst="rect">
            <a:avLst/>
          </a:prstGeom>
          <a:solidFill>
            <a:srgbClr val="163354"/>
          </a:solidFill>
          <a:ln/>
        </p:spPr>
        <p:txBody>
          <a:bodyPr/>
          <a:lstStyle/>
          <a:p>
            <a:endParaRPr lang="en-US"/>
          </a:p>
        </p:txBody>
      </p:sp>
      <p:pic>
        <p:nvPicPr>
          <p:cNvPr id="28" name="Image 8" descr="preencoded.png"/>
          <p:cNvPicPr>
            <a:picLocks noChangeAspect="1"/>
          </p:cNvPicPr>
          <p:nvPr/>
        </p:nvPicPr>
        <p:blipFill>
          <a:blip r:embed="rId6"/>
          <a:stretch>
            <a:fillRect/>
          </a:stretch>
        </p:blipFill>
        <p:spPr>
          <a:xfrm>
            <a:off x="6446520" y="2496312"/>
            <a:ext cx="438912" cy="438912"/>
          </a:xfrm>
          <a:prstGeom prst="rect">
            <a:avLst/>
          </a:prstGeom>
        </p:spPr>
      </p:pic>
      <p:sp>
        <p:nvSpPr>
          <p:cNvPr id="29" name="Text 18"/>
          <p:cNvSpPr/>
          <p:nvPr/>
        </p:nvSpPr>
        <p:spPr>
          <a:xfrm>
            <a:off x="6976872" y="2423160"/>
            <a:ext cx="4663440" cy="594360"/>
          </a:xfrm>
          <a:prstGeom prst="rect">
            <a:avLst/>
          </a:prstGeom>
          <a:noFill/>
          <a:ln/>
        </p:spPr>
        <p:txBody>
          <a:bodyPr wrap="square" rtlCol="0" anchor="ctr"/>
          <a:lstStyle/>
          <a:p>
            <a:pPr marL="0" indent="0">
              <a:buNone/>
            </a:pPr>
            <a:r>
              <a:rPr lang="en-US" sz="2000" b="1" dirty="0">
                <a:solidFill>
                  <a:srgbClr val="FFFFFF"/>
                </a:solidFill>
              </a:rPr>
              <a:t>ARCU</a:t>
            </a:r>
            <a:endParaRPr lang="en-US" sz="2000" dirty="0"/>
          </a:p>
        </p:txBody>
      </p:sp>
      <p:sp>
        <p:nvSpPr>
          <p:cNvPr id="30" name="Text 19"/>
          <p:cNvSpPr/>
          <p:nvPr/>
        </p:nvSpPr>
        <p:spPr>
          <a:xfrm>
            <a:off x="6446520" y="3063240"/>
            <a:ext cx="5212080" cy="347472"/>
          </a:xfrm>
          <a:prstGeom prst="rect">
            <a:avLst/>
          </a:prstGeom>
          <a:noFill/>
          <a:ln/>
        </p:spPr>
        <p:txBody>
          <a:bodyPr wrap="square" rtlCol="0" anchor="ctr"/>
          <a:lstStyle/>
          <a:p>
            <a:pPr marL="0" indent="0">
              <a:buNone/>
            </a:pPr>
            <a:r>
              <a:rPr lang="en-US" sz="1150" b="1" i="1" dirty="0">
                <a:solidFill>
                  <a:srgbClr val="00A89D"/>
                </a:solidFill>
              </a:rPr>
              <a:t>Curated data warehouse for credit unions (Symitar)</a:t>
            </a:r>
            <a:endParaRPr lang="en-US" sz="1150" dirty="0"/>
          </a:p>
        </p:txBody>
      </p:sp>
      <p:pic>
        <p:nvPicPr>
          <p:cNvPr id="31" name="Image 9" descr="preencoded.png"/>
          <p:cNvPicPr>
            <a:picLocks noChangeAspect="1"/>
          </p:cNvPicPr>
          <p:nvPr/>
        </p:nvPicPr>
        <p:blipFill>
          <a:blip r:embed="rId5"/>
          <a:stretch>
            <a:fillRect/>
          </a:stretch>
        </p:blipFill>
        <p:spPr>
          <a:xfrm>
            <a:off x="6446520" y="3493008"/>
            <a:ext cx="237744" cy="237744"/>
          </a:xfrm>
          <a:prstGeom prst="rect">
            <a:avLst/>
          </a:prstGeom>
        </p:spPr>
      </p:pic>
      <p:sp>
        <p:nvSpPr>
          <p:cNvPr id="32" name="Text 20"/>
          <p:cNvSpPr/>
          <p:nvPr/>
        </p:nvSpPr>
        <p:spPr>
          <a:xfrm>
            <a:off x="6766560" y="3456432"/>
            <a:ext cx="4892040" cy="411480"/>
          </a:xfrm>
          <a:prstGeom prst="rect">
            <a:avLst/>
          </a:prstGeom>
          <a:noFill/>
          <a:ln/>
        </p:spPr>
        <p:txBody>
          <a:bodyPr wrap="square" rtlCol="0" anchor="ctr"/>
          <a:lstStyle/>
          <a:p>
            <a:pPr marL="0" indent="0">
              <a:buNone/>
            </a:pPr>
            <a:r>
              <a:rPr lang="en-US" sz="1150" dirty="0">
                <a:solidFill>
                  <a:srgbClr val="2C4A6E"/>
                </a:solidFill>
              </a:rPr>
              <a:t>Same pre-modeled architecture — optimized for CUs</a:t>
            </a:r>
            <a:endParaRPr lang="en-US" sz="1150" dirty="0"/>
          </a:p>
        </p:txBody>
      </p:sp>
      <p:pic>
        <p:nvPicPr>
          <p:cNvPr id="33" name="Image 10" descr="preencoded.png"/>
          <p:cNvPicPr>
            <a:picLocks noChangeAspect="1"/>
          </p:cNvPicPr>
          <p:nvPr/>
        </p:nvPicPr>
        <p:blipFill>
          <a:blip r:embed="rId5"/>
          <a:stretch>
            <a:fillRect/>
          </a:stretch>
        </p:blipFill>
        <p:spPr>
          <a:xfrm>
            <a:off x="6446520" y="3968496"/>
            <a:ext cx="237744" cy="237744"/>
          </a:xfrm>
          <a:prstGeom prst="rect">
            <a:avLst/>
          </a:prstGeom>
        </p:spPr>
      </p:pic>
      <p:sp>
        <p:nvSpPr>
          <p:cNvPr id="34" name="Text 21"/>
          <p:cNvSpPr/>
          <p:nvPr/>
        </p:nvSpPr>
        <p:spPr>
          <a:xfrm>
            <a:off x="6766560" y="3931920"/>
            <a:ext cx="4892040" cy="411480"/>
          </a:xfrm>
          <a:prstGeom prst="rect">
            <a:avLst/>
          </a:prstGeom>
          <a:noFill/>
          <a:ln/>
        </p:spPr>
        <p:txBody>
          <a:bodyPr wrap="square" rtlCol="0" anchor="ctr"/>
          <a:lstStyle/>
          <a:p>
            <a:pPr marL="0" indent="0">
              <a:buNone/>
            </a:pPr>
            <a:r>
              <a:rPr lang="en-US" sz="1150" dirty="0">
                <a:solidFill>
                  <a:srgbClr val="2C4A6E"/>
                </a:solidFill>
              </a:rPr>
              <a:t>Member account &amp; transaction analysis</a:t>
            </a:r>
            <a:endParaRPr lang="en-US" sz="1150" dirty="0"/>
          </a:p>
        </p:txBody>
      </p:sp>
      <p:pic>
        <p:nvPicPr>
          <p:cNvPr id="35" name="Image 11" descr="preencoded.png"/>
          <p:cNvPicPr>
            <a:picLocks noChangeAspect="1"/>
          </p:cNvPicPr>
          <p:nvPr/>
        </p:nvPicPr>
        <p:blipFill>
          <a:blip r:embed="rId5"/>
          <a:stretch>
            <a:fillRect/>
          </a:stretch>
        </p:blipFill>
        <p:spPr>
          <a:xfrm>
            <a:off x="6446520" y="4443984"/>
            <a:ext cx="237744" cy="237744"/>
          </a:xfrm>
          <a:prstGeom prst="rect">
            <a:avLst/>
          </a:prstGeom>
        </p:spPr>
      </p:pic>
      <p:sp>
        <p:nvSpPr>
          <p:cNvPr id="36" name="Text 22"/>
          <p:cNvSpPr/>
          <p:nvPr/>
        </p:nvSpPr>
        <p:spPr>
          <a:xfrm>
            <a:off x="6766560" y="4407408"/>
            <a:ext cx="4892040" cy="411480"/>
          </a:xfrm>
          <a:prstGeom prst="rect">
            <a:avLst/>
          </a:prstGeom>
          <a:noFill/>
          <a:ln/>
        </p:spPr>
        <p:txBody>
          <a:bodyPr wrap="square" rtlCol="0" anchor="ctr"/>
          <a:lstStyle/>
          <a:p>
            <a:pPr marL="0" indent="0">
              <a:buNone/>
            </a:pPr>
            <a:r>
              <a:rPr lang="en-US" sz="1150" dirty="0">
                <a:solidFill>
                  <a:srgbClr val="2C4A6E"/>
                </a:solidFill>
              </a:rPr>
              <a:t>Share &amp; loan performance dashboards</a:t>
            </a:r>
            <a:endParaRPr lang="en-US" sz="1150" dirty="0"/>
          </a:p>
        </p:txBody>
      </p:sp>
      <p:pic>
        <p:nvPicPr>
          <p:cNvPr id="37" name="Image 12" descr="preencoded.png"/>
          <p:cNvPicPr>
            <a:picLocks noChangeAspect="1"/>
          </p:cNvPicPr>
          <p:nvPr/>
        </p:nvPicPr>
        <p:blipFill>
          <a:blip r:embed="rId5"/>
          <a:stretch>
            <a:fillRect/>
          </a:stretch>
        </p:blipFill>
        <p:spPr>
          <a:xfrm>
            <a:off x="6446520" y="4919472"/>
            <a:ext cx="237744" cy="237744"/>
          </a:xfrm>
          <a:prstGeom prst="rect">
            <a:avLst/>
          </a:prstGeom>
        </p:spPr>
      </p:pic>
      <p:sp>
        <p:nvSpPr>
          <p:cNvPr id="38" name="Text 23"/>
          <p:cNvSpPr/>
          <p:nvPr/>
        </p:nvSpPr>
        <p:spPr>
          <a:xfrm>
            <a:off x="6766560" y="4882896"/>
            <a:ext cx="4892040" cy="411480"/>
          </a:xfrm>
          <a:prstGeom prst="rect">
            <a:avLst/>
          </a:prstGeom>
          <a:noFill/>
          <a:ln/>
        </p:spPr>
        <p:txBody>
          <a:bodyPr wrap="square" rtlCol="0" anchor="ctr"/>
          <a:lstStyle/>
          <a:p>
            <a:pPr marL="0" indent="0">
              <a:buNone/>
            </a:pPr>
            <a:r>
              <a:rPr lang="en-US" sz="1150" dirty="0">
                <a:solidFill>
                  <a:srgbClr val="2C4A6E"/>
                </a:solidFill>
              </a:rPr>
              <a:t>Card &amp; payments activity reporting</a:t>
            </a:r>
            <a:endParaRPr lang="en-US" sz="1150" dirty="0"/>
          </a:p>
        </p:txBody>
      </p:sp>
      <p:pic>
        <p:nvPicPr>
          <p:cNvPr id="39" name="Image 13" descr="preencoded.png"/>
          <p:cNvPicPr>
            <a:picLocks noChangeAspect="1"/>
          </p:cNvPicPr>
          <p:nvPr/>
        </p:nvPicPr>
        <p:blipFill>
          <a:blip r:embed="rId5"/>
          <a:stretch>
            <a:fillRect/>
          </a:stretch>
        </p:blipFill>
        <p:spPr>
          <a:xfrm>
            <a:off x="6446520" y="5394960"/>
            <a:ext cx="237744" cy="237744"/>
          </a:xfrm>
          <a:prstGeom prst="rect">
            <a:avLst/>
          </a:prstGeom>
        </p:spPr>
      </p:pic>
      <p:sp>
        <p:nvSpPr>
          <p:cNvPr id="40" name="Text 24"/>
          <p:cNvSpPr/>
          <p:nvPr/>
        </p:nvSpPr>
        <p:spPr>
          <a:xfrm>
            <a:off x="6766560" y="5358384"/>
            <a:ext cx="4892040" cy="411480"/>
          </a:xfrm>
          <a:prstGeom prst="rect">
            <a:avLst/>
          </a:prstGeom>
          <a:noFill/>
          <a:ln/>
        </p:spPr>
        <p:txBody>
          <a:bodyPr wrap="square" rtlCol="0" anchor="ctr"/>
          <a:lstStyle/>
          <a:p>
            <a:pPr marL="0" indent="0">
              <a:buNone/>
            </a:pPr>
            <a:r>
              <a:rPr lang="en-US" sz="1150" dirty="0">
                <a:solidFill>
                  <a:srgbClr val="2C4A6E"/>
                </a:solidFill>
              </a:rPr>
              <a:t>Channel usage (branch, digital, call center)</a:t>
            </a:r>
            <a:endParaRPr lang="en-US" sz="1150" dirty="0"/>
          </a:p>
        </p:txBody>
      </p:sp>
      <p:pic>
        <p:nvPicPr>
          <p:cNvPr id="41" name="Image 14" descr="preencoded.png"/>
          <p:cNvPicPr>
            <a:picLocks noChangeAspect="1"/>
          </p:cNvPicPr>
          <p:nvPr/>
        </p:nvPicPr>
        <p:blipFill>
          <a:blip r:embed="rId5"/>
          <a:stretch>
            <a:fillRect/>
          </a:stretch>
        </p:blipFill>
        <p:spPr>
          <a:xfrm>
            <a:off x="6446520" y="5870448"/>
            <a:ext cx="237744" cy="237744"/>
          </a:xfrm>
          <a:prstGeom prst="rect">
            <a:avLst/>
          </a:prstGeom>
        </p:spPr>
      </p:pic>
      <p:sp>
        <p:nvSpPr>
          <p:cNvPr id="42" name="Text 25"/>
          <p:cNvSpPr/>
          <p:nvPr/>
        </p:nvSpPr>
        <p:spPr>
          <a:xfrm>
            <a:off x="6766560" y="5833872"/>
            <a:ext cx="4892040" cy="411480"/>
          </a:xfrm>
          <a:prstGeom prst="rect">
            <a:avLst/>
          </a:prstGeom>
          <a:noFill/>
          <a:ln/>
        </p:spPr>
        <p:txBody>
          <a:bodyPr wrap="square" rtlCol="0" anchor="ctr"/>
          <a:lstStyle/>
          <a:p>
            <a:pPr marL="0" indent="0">
              <a:buNone/>
            </a:pPr>
            <a:r>
              <a:rPr lang="en-US" sz="1150" dirty="0">
                <a:solidFill>
                  <a:srgbClr val="2C4A6E"/>
                </a:solidFill>
              </a:rPr>
              <a:t>Performance benchmarking &amp; peer comparison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Why Medallion Architecture">
    <p:bg>
      <p:bgPr>
        <a:solidFill>
          <a:srgbClr val="F4F6F9"/>
        </a:solidFill>
        <a:effectLst/>
      </p:bgPr>
    </p:bg>
    <p:spTree>
      <p:nvGrpSpPr>
        <p:cNvPr id="1" name=""/>
        <p:cNvGrpSpPr/>
        <p:nvPr/>
      </p:nvGrpSpPr>
      <p:grpSpPr>
        <a:xfrm>
          <a:off x="0" y="0"/>
          <a:ext cx="0" cy="0"/>
          <a:chOff x="0" y="0"/>
          <a:chExt cx="0" cy="0"/>
        </a:xfrm>
      </p:grpSpPr>
      <p:sp>
        <p:nvSpPr>
          <p:cNvPr id="2" name="Header BG"/>
          <p:cNvSpPr/>
          <p:nvPr/>
        </p:nvSpPr>
        <p:spPr>
          <a:xfrm>
            <a:off x="0" y="0"/>
            <a:ext cx="12192000" cy="1188720"/>
          </a:xfrm>
          <a:prstGeom prst="rect">
            <a:avLst/>
          </a:prstGeom>
          <a:solidFill>
            <a:srgbClr val="0D2340"/>
          </a:solidFill>
          <a:ln/>
        </p:spPr>
        <p:txBody>
          <a:bodyPr/>
          <a:lstStyle/>
          <a:p>
            <a:endParaRPr lang="en-US"/>
          </a:p>
        </p:txBody>
      </p:sp>
      <p:sp>
        <p:nvSpPr>
          <p:cNvPr id="3" name="Accent Line"/>
          <p:cNvSpPr/>
          <p:nvPr/>
        </p:nvSpPr>
        <p:spPr>
          <a:xfrm>
            <a:off x="0" y="1188720"/>
            <a:ext cx="12192000" cy="64008"/>
          </a:xfrm>
          <a:prstGeom prst="rect">
            <a:avLst/>
          </a:prstGeom>
          <a:solidFill>
            <a:srgbClr val="00A89D"/>
          </a:solidFill>
          <a:ln/>
        </p:spPr>
        <p:txBody>
          <a:bodyPr/>
          <a:lstStyle/>
          <a:p>
            <a:endParaRPr lang="en-US"/>
          </a:p>
        </p:txBody>
      </p:sp>
      <p:sp>
        <p:nvSpPr>
          <p:cNvPr id="4" name="Title"/>
          <p:cNvSpPr/>
          <p:nvPr/>
        </p:nvSpPr>
        <p:spPr>
          <a:xfrm>
            <a:off x="457200" y="0"/>
            <a:ext cx="9143960" cy="731520"/>
          </a:xfrm>
          <a:prstGeom prst="rect">
            <a:avLst/>
          </a:prstGeom>
          <a:noFill/>
          <a:ln/>
        </p:spPr>
        <p:txBody>
          <a:bodyPr wrap="square" rtlCol="0" anchor="ctr"/>
          <a:lstStyle/>
          <a:p>
            <a:pPr marL="0" indent="0">
              <a:buNone/>
            </a:pPr>
            <a:r>
              <a:rPr lang="en-US" sz="3200" b="1" dirty="0">
                <a:solidFill>
                  <a:srgbClr val="FFFFFF"/>
                </a:solidFill>
              </a:rPr>
              <a:t>Why Medallion Architecture?</a:t>
            </a:r>
          </a:p>
        </p:txBody>
      </p:sp>
      <p:sp>
        <p:nvSpPr>
          <p:cNvPr id="5" name="Subtitle"/>
          <p:cNvSpPr/>
          <p:nvPr/>
        </p:nvSpPr>
        <p:spPr>
          <a:xfrm>
            <a:off x="457200" y="731520"/>
            <a:ext cx="11278080" cy="457200"/>
          </a:xfrm>
          <a:prstGeom prst="rect">
            <a:avLst/>
          </a:prstGeom>
          <a:noFill/>
          <a:ln/>
        </p:spPr>
        <p:txBody>
          <a:bodyPr wrap="square" rtlCol="0" anchor="ctr"/>
          <a:lstStyle/>
          <a:p>
            <a:pPr marL="0" indent="0">
              <a:buNone/>
            </a:pPr>
            <a:r>
              <a:rPr lang="en-US" sz="1300" i="1" dirty="0">
                <a:solidFill>
                  <a:srgbClr val="7B96B2"/>
                </a:solidFill>
              </a:rPr>
              <a:t>Balancing raw fidelity with analytical usability — how JHBI stores and serves your data</a:t>
            </a:r>
          </a:p>
        </p:txBody>
      </p:sp>
      <p:sp>
        <p:nvSpPr>
          <p:cNvPr id="6" name="Raw Card BG"/>
          <p:cNvSpPr/>
          <p:nvPr/>
        </p:nvSpPr>
        <p:spPr>
          <a:xfrm>
            <a:off x="365760" y="1340000"/>
            <a:ext cx="5486400" cy="174000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7" name="Raw Card Bar"/>
          <p:cNvSpPr/>
          <p:nvPr/>
        </p:nvSpPr>
        <p:spPr>
          <a:xfrm>
            <a:off x="365760" y="1340000"/>
            <a:ext cx="5486400" cy="64008"/>
          </a:xfrm>
          <a:prstGeom prst="rect">
            <a:avLst/>
          </a:prstGeom>
          <a:solidFill>
            <a:srgbClr val="00A89D"/>
          </a:solidFill>
          <a:ln/>
        </p:spPr>
        <p:txBody>
          <a:bodyPr/>
          <a:lstStyle/>
          <a:p>
            <a:endParaRPr lang="en-US"/>
          </a:p>
        </p:txBody>
      </p:sp>
      <p:sp>
        <p:nvSpPr>
          <p:cNvPr id="8" name="Raw Card Content"/>
          <p:cNvSpPr/>
          <p:nvPr/>
        </p:nvSpPr>
        <p:spPr>
          <a:xfrm>
            <a:off x="548640" y="1430000"/>
            <a:ext cx="5120640" cy="1580000"/>
          </a:xfrm>
          <a:prstGeom prst="rect">
            <a:avLst/>
          </a:prstGeom>
          <a:noFill/>
          <a:ln/>
        </p:spPr>
        <p:txBody>
          <a:bodyPr wrap="square" rtlCol="0" anchor="t"/>
          <a:lstStyle/>
          <a:p>
            <a:pPr marL="0" indent="0">
              <a:buNone/>
            </a:pPr>
            <a:r>
              <a:rPr lang="en-US" sz="1400" b="1" dirty="0">
                <a:solidFill>
                  <a:srgbClr val="0D2340"/>
                </a:solidFill>
              </a:rPr>
              <a:t>Raw Data — High Fidelity, High Friction</a:t>
            </a:r>
          </a:p>
          <a:p>
            <a:pPr marL="0" indent="0">
              <a:buNone/>
            </a:pPr>
            <a:r>
              <a:rPr lang="en-US" sz="1100" b="1" dirty="0">
                <a:solidFill>
                  <a:srgbClr val="27AE60"/>
                </a:solidFill>
              </a:rPr>
              <a:t>✓ Complete, auditable, fully flexible</a:t>
            </a:r>
          </a:p>
          <a:p>
            <a:pPr marL="0" indent="0">
              <a:buNone/>
            </a:pPr>
            <a:r>
              <a:rPr lang="en-US" sz="1100" dirty="0">
                <a:solidFill>
                  <a:srgbClr val="C0392B"/>
                </a:solidFill>
              </a:rPr>
              <a:t>✗ Complex to query — requires SQL &amp; engineering</a:t>
            </a:r>
          </a:p>
          <a:p>
            <a:pPr marL="0" indent="0">
              <a:buNone/>
            </a:pPr>
            <a:r>
              <a:rPr lang="en-US" sz="1100" dirty="0">
                <a:solidFill>
                  <a:srgbClr val="C0392B"/>
                </a:solidFill>
              </a:rPr>
              <a:t>✗ No unified schema across payment rails</a:t>
            </a:r>
          </a:p>
          <a:p>
            <a:pPr marL="0" indent="0">
              <a:buNone/>
            </a:pPr>
            <a:r>
              <a:rPr lang="en-US" sz="1100" dirty="0">
                <a:solidFill>
                  <a:srgbClr val="C0392B"/>
                </a:solidFill>
              </a:rPr>
              <a:t>✗ Inaccessible to business analysts</a:t>
            </a:r>
          </a:p>
        </p:txBody>
      </p:sp>
      <p:sp>
        <p:nvSpPr>
          <p:cNvPr id="9" name="Agg Card BG"/>
          <p:cNvSpPr/>
          <p:nvPr/>
        </p:nvSpPr>
        <p:spPr>
          <a:xfrm>
            <a:off x="6239040" y="1340000"/>
            <a:ext cx="5587200" cy="174000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0" name="Agg Card Bar"/>
          <p:cNvSpPr/>
          <p:nvPr/>
        </p:nvSpPr>
        <p:spPr>
          <a:xfrm>
            <a:off x="6239040" y="1340000"/>
            <a:ext cx="5587200" cy="64008"/>
          </a:xfrm>
          <a:prstGeom prst="rect">
            <a:avLst/>
          </a:prstGeom>
          <a:solidFill>
            <a:srgbClr val="00A89D"/>
          </a:solidFill>
          <a:ln/>
        </p:spPr>
        <p:txBody>
          <a:bodyPr/>
          <a:lstStyle/>
          <a:p>
            <a:endParaRPr lang="en-US"/>
          </a:p>
        </p:txBody>
      </p:sp>
      <p:sp>
        <p:nvSpPr>
          <p:cNvPr id="11" name="Agg Card Content"/>
          <p:cNvSpPr/>
          <p:nvPr/>
        </p:nvSpPr>
        <p:spPr>
          <a:xfrm>
            <a:off x="6421920" y="1430000"/>
            <a:ext cx="5220480" cy="1580000"/>
          </a:xfrm>
          <a:prstGeom prst="rect">
            <a:avLst/>
          </a:prstGeom>
          <a:noFill/>
          <a:ln/>
        </p:spPr>
        <p:txBody>
          <a:bodyPr wrap="square" rtlCol="0" anchor="t"/>
          <a:lstStyle/>
          <a:p>
            <a:pPr marL="0" indent="0">
              <a:buNone/>
            </a:pPr>
            <a:r>
              <a:rPr lang="en-US" sz="1400" b="1" dirty="0">
                <a:solidFill>
                  <a:srgbClr val="0D2340"/>
                </a:solidFill>
              </a:rPr>
              <a:t>Aggregated Data — Easy to Use, Detail Lost</a:t>
            </a:r>
          </a:p>
          <a:p>
            <a:pPr marL="0" indent="0">
              <a:buNone/>
            </a:pPr>
            <a:r>
              <a:rPr lang="en-US" sz="1100" b="1" dirty="0">
                <a:solidFill>
                  <a:srgbClr val="27AE60"/>
                </a:solidFill>
              </a:rPr>
              <a:t>✓ Fast, simple reporting and dashboards</a:t>
            </a:r>
          </a:p>
          <a:p>
            <a:pPr marL="0" indent="0">
              <a:buNone/>
            </a:pPr>
            <a:r>
              <a:rPr lang="en-US" sz="1100" dirty="0">
                <a:solidFill>
                  <a:srgbClr val="C0392B"/>
                </a:solidFill>
              </a:rPr>
              <a:t>✗ Transaction-level detail is gone forever</a:t>
            </a:r>
          </a:p>
          <a:p>
            <a:pPr marL="0" indent="0">
              <a:buNone/>
            </a:pPr>
            <a:r>
              <a:rPr lang="en-US" sz="1100" dirty="0">
                <a:solidFill>
                  <a:srgbClr val="C0392B"/>
                </a:solidFill>
              </a:rPr>
              <a:t>✗ Can’t re-slice data for new questions later</a:t>
            </a:r>
          </a:p>
          <a:p>
            <a:pPr marL="0" indent="0">
              <a:buNone/>
            </a:pPr>
            <a:r>
              <a:rPr lang="en-US" sz="1100" dirty="0">
                <a:solidFill>
                  <a:srgbClr val="C0392B"/>
                </a:solidFill>
              </a:rPr>
              <a:t>✗ Pre-defined views limit future analytics</a:t>
            </a:r>
          </a:p>
        </p:txBody>
      </p:sp>
      <p:sp>
        <p:nvSpPr>
          <p:cNvPr id="12" name="Section Label"/>
          <p:cNvSpPr/>
          <p:nvPr/>
        </p:nvSpPr>
        <p:spPr>
          <a:xfrm>
            <a:off x="365760" y="3190000"/>
            <a:ext cx="11460480" cy="310000"/>
          </a:xfrm>
          <a:prstGeom prst="rect">
            <a:avLst/>
          </a:prstGeom>
          <a:noFill/>
          <a:ln/>
        </p:spPr>
        <p:txBody>
          <a:bodyPr wrap="square" rtlCol="0" anchor="ctr"/>
          <a:lstStyle/>
          <a:p>
            <a:pPr marL="0" indent="0" algn="ctr">
              <a:buNone/>
            </a:pPr>
            <a:r>
              <a:rPr lang="en-US" sz="1400" b="1" dirty="0">
                <a:solidFill>
                  <a:srgbClr val="0D2340"/>
                </a:solidFill>
              </a:rPr>
              <a:t>The Answer: Medallion Architecture — keep all the raw data AND serve it in analyst-ready layers</a:t>
            </a:r>
          </a:p>
        </p:txBody>
      </p:sp>
      <p:sp>
        <p:nvSpPr>
          <p:cNvPr id="13" name="Bronze Zone"/>
          <p:cNvSpPr/>
          <p:nvPr/>
        </p:nvSpPr>
        <p:spPr>
          <a:xfrm>
            <a:off x="365760" y="3550000"/>
            <a:ext cx="3612960" cy="3040000"/>
          </a:xfrm>
          <a:prstGeom prst="rect">
            <a:avLst/>
          </a:prstGeom>
          <a:solidFill>
            <a:srgbClr val="0D2340"/>
          </a:solidFill>
          <a:ln/>
        </p:spPr>
        <p:txBody>
          <a:bodyPr/>
          <a:lstStyle/>
          <a:p>
            <a:endParaRPr lang="en-US"/>
          </a:p>
        </p:txBody>
      </p:sp>
      <p:sp>
        <p:nvSpPr>
          <p:cNvPr id="14" name="Bronze Badge"/>
          <p:cNvSpPr/>
          <p:nvPr/>
        </p:nvSpPr>
        <p:spPr>
          <a:xfrm>
            <a:off x="548640" y="3640000"/>
            <a:ext cx="1005840" cy="330000"/>
          </a:xfrm>
          <a:prstGeom prst="rect">
            <a:avLst/>
          </a:prstGeom>
          <a:solidFill>
            <a:srgbClr val="CD7F32"/>
          </a:solidFill>
          <a:ln/>
        </p:spPr>
        <p:txBody>
          <a:bodyPr wrap="square" lIns="91440" tIns="45720" rIns="91440" bIns="45720" rtlCol="0" anchor="ctr"/>
          <a:lstStyle/>
          <a:p>
            <a:pPr marL="0" indent="0" algn="ctr">
              <a:buNone/>
            </a:pPr>
            <a:r>
              <a:rPr lang="en-US" sz="1100" b="1" dirty="0">
                <a:solidFill>
                  <a:srgbClr val="FFFFFF"/>
                </a:solidFill>
              </a:rPr>
              <a:t>BRONZE</a:t>
            </a:r>
          </a:p>
        </p:txBody>
      </p:sp>
      <p:sp>
        <p:nvSpPr>
          <p:cNvPr id="15" name="Bronze Zone Header"/>
          <p:cNvSpPr/>
          <p:nvPr/>
        </p:nvSpPr>
        <p:spPr>
          <a:xfrm>
            <a:off x="548640" y="4040000"/>
            <a:ext cx="3246240" cy="365760"/>
          </a:xfrm>
          <a:prstGeom prst="rect">
            <a:avLst/>
          </a:prstGeom>
          <a:noFill/>
          <a:ln/>
        </p:spPr>
        <p:txBody>
          <a:bodyPr wrap="square" rtlCol="0" anchor="ctr"/>
          <a:lstStyle/>
          <a:p>
            <a:pPr marL="0" indent="0">
              <a:buNone/>
            </a:pPr>
            <a:r>
              <a:rPr lang="en-US" sz="1500" b="1" dirty="0">
                <a:solidFill>
                  <a:srgbClr val="FFFFFF"/>
                </a:solidFill>
              </a:rPr>
              <a:t>Raw Zone</a:t>
            </a:r>
          </a:p>
        </p:txBody>
      </p:sp>
      <p:sp>
        <p:nvSpPr>
          <p:cNvPr id="16" name="Bronze Zone Body"/>
          <p:cNvSpPr/>
          <p:nvPr/>
        </p:nvSpPr>
        <p:spPr>
          <a:xfrm>
            <a:off x="548640" y="4460000"/>
            <a:ext cx="3246240" cy="2050000"/>
          </a:xfrm>
          <a:prstGeom prst="rect">
            <a:avLst/>
          </a:prstGeom>
          <a:noFill/>
          <a:ln/>
        </p:spPr>
        <p:txBody>
          <a:bodyPr wrap="square" rtlCol="0" anchor="t"/>
          <a:lstStyle/>
          <a:p>
            <a:pPr marL="0" indent="0">
              <a:buNone/>
            </a:pPr>
            <a:r>
              <a:rPr lang="en-US" sz="1050" dirty="0">
                <a:solidFill>
                  <a:srgbClr val="CADCFC"/>
                </a:solidFill>
              </a:rPr>
              <a:t>Exact replica of source data. Full fidelity — every transaction, every field, every rail preserved unchanged.</a:t>
            </a:r>
          </a:p>
          <a:p>
            <a:pPr marL="0" indent="0">
              <a:buNone/>
            </a:pPr>
            <a:r>
              <a:rPr lang="en-US" sz="1000" dirty="0">
                <a:solidFill>
                  <a:srgbClr val="7B96B2"/>
                </a:solidFill>
              </a:rPr>
              <a:t>• Enables audit, replay &amp; reprocessing</a:t>
            </a:r>
          </a:p>
          <a:p>
            <a:pPr marL="0" indent="0">
              <a:buNone/>
            </a:pPr>
            <a:r>
              <a:rPr lang="en-US" sz="1000" dirty="0">
                <a:solidFill>
                  <a:srgbClr val="7B96B2"/>
                </a:solidFill>
              </a:rPr>
              <a:t>• PII / PAN tokenized at ingestion</a:t>
            </a:r>
          </a:p>
          <a:p>
            <a:pPr marL="0" indent="0">
              <a:buNone/>
            </a:pPr>
            <a:r>
              <a:rPr lang="en-US" sz="1000" dirty="0">
                <a:solidFill>
                  <a:srgbClr val="7B96B2"/>
                </a:solidFill>
              </a:rPr>
              <a:t>• Not exposed directly to end users</a:t>
            </a:r>
          </a:p>
        </p:txBody>
      </p:sp>
      <p:sp>
        <p:nvSpPr>
          <p:cNvPr id="17" name="Arrow1"/>
          <p:cNvSpPr/>
          <p:nvPr/>
        </p:nvSpPr>
        <p:spPr>
          <a:xfrm>
            <a:off x="4025520" y="4880000"/>
            <a:ext cx="182880" cy="457200"/>
          </a:xfrm>
          <a:prstGeom prst="rect">
            <a:avLst/>
          </a:prstGeom>
          <a:noFill/>
          <a:ln/>
        </p:spPr>
        <p:txBody>
          <a:bodyPr wrap="square" rtlCol="0" anchor="ctr"/>
          <a:lstStyle/>
          <a:p>
            <a:pPr marL="0" indent="0" algn="ctr">
              <a:buNone/>
            </a:pPr>
            <a:r>
              <a:rPr lang="en-US" sz="2400" b="1" dirty="0">
                <a:solidFill>
                  <a:srgbClr val="00A89D"/>
                </a:solidFill>
              </a:rPr>
              <a:t>→</a:t>
            </a:r>
          </a:p>
        </p:txBody>
      </p:sp>
      <p:sp>
        <p:nvSpPr>
          <p:cNvPr id="18" name="Silver Zone"/>
          <p:cNvSpPr/>
          <p:nvPr/>
        </p:nvSpPr>
        <p:spPr>
          <a:xfrm>
            <a:off x="4206240" y="3550000"/>
            <a:ext cx="3612960" cy="3040000"/>
          </a:xfrm>
          <a:prstGeom prst="rect">
            <a:avLst/>
          </a:prstGeom>
          <a:solidFill>
            <a:srgbClr val="163354"/>
          </a:solidFill>
          <a:ln/>
        </p:spPr>
        <p:txBody>
          <a:bodyPr/>
          <a:lstStyle/>
          <a:p>
            <a:endParaRPr lang="en-US"/>
          </a:p>
        </p:txBody>
      </p:sp>
      <p:sp>
        <p:nvSpPr>
          <p:cNvPr id="19" name="Silver Badge"/>
          <p:cNvSpPr/>
          <p:nvPr/>
        </p:nvSpPr>
        <p:spPr>
          <a:xfrm>
            <a:off x="4389120" y="3640000"/>
            <a:ext cx="1005840" cy="330000"/>
          </a:xfrm>
          <a:prstGeom prst="rect">
            <a:avLst/>
          </a:prstGeom>
          <a:solidFill>
            <a:srgbClr val="7F8C8D"/>
          </a:solidFill>
          <a:ln/>
        </p:spPr>
        <p:txBody>
          <a:bodyPr wrap="square" lIns="91440" tIns="45720" rIns="91440" bIns="45720" rtlCol="0" anchor="ctr"/>
          <a:lstStyle/>
          <a:p>
            <a:pPr marL="0" indent="0" algn="ctr">
              <a:buNone/>
            </a:pPr>
            <a:r>
              <a:rPr lang="en-US" sz="1100" b="1" dirty="0">
                <a:solidFill>
                  <a:srgbClr val="FFFFFF"/>
                </a:solidFill>
              </a:rPr>
              <a:t>SILVER</a:t>
            </a:r>
          </a:p>
        </p:txBody>
      </p:sp>
      <p:sp>
        <p:nvSpPr>
          <p:cNvPr id="20" name="Silver Zone Header"/>
          <p:cNvSpPr/>
          <p:nvPr/>
        </p:nvSpPr>
        <p:spPr>
          <a:xfrm>
            <a:off x="4389120" y="4040000"/>
            <a:ext cx="3246240" cy="365760"/>
          </a:xfrm>
          <a:prstGeom prst="rect">
            <a:avLst/>
          </a:prstGeom>
          <a:noFill/>
          <a:ln/>
        </p:spPr>
        <p:txBody>
          <a:bodyPr wrap="square" rtlCol="0" anchor="ctr"/>
          <a:lstStyle/>
          <a:p>
            <a:pPr marL="0" indent="0">
              <a:buNone/>
            </a:pPr>
            <a:r>
              <a:rPr lang="en-US" sz="1500" b="1" dirty="0">
                <a:solidFill>
                  <a:srgbClr val="FFFFFF"/>
                </a:solidFill>
              </a:rPr>
              <a:t>Enriched Zone</a:t>
            </a:r>
          </a:p>
        </p:txBody>
      </p:sp>
      <p:sp>
        <p:nvSpPr>
          <p:cNvPr id="21" name="Silver Zone Body"/>
          <p:cNvSpPr/>
          <p:nvPr/>
        </p:nvSpPr>
        <p:spPr>
          <a:xfrm>
            <a:off x="4389120" y="4460000"/>
            <a:ext cx="3246240" cy="2050000"/>
          </a:xfrm>
          <a:prstGeom prst="rect">
            <a:avLst/>
          </a:prstGeom>
          <a:noFill/>
          <a:ln/>
        </p:spPr>
        <p:txBody>
          <a:bodyPr wrap="square" rtlCol="0" anchor="t"/>
          <a:lstStyle/>
          <a:p>
            <a:pPr marL="0" indent="0">
              <a:buNone/>
            </a:pPr>
            <a:r>
              <a:rPr lang="en-US" sz="1050" dirty="0">
                <a:solidFill>
                  <a:srgbClr val="CADCFC"/>
                </a:solidFill>
              </a:rPr>
              <a:t>Cleansed, normalized &amp; unified across all payment rails and source systems.</a:t>
            </a:r>
          </a:p>
          <a:p>
            <a:pPr marL="0" indent="0">
              <a:buNone/>
            </a:pPr>
            <a:r>
              <a:rPr lang="en-US" sz="1000" dirty="0">
                <a:solidFill>
                  <a:srgbClr val="7B96B2"/>
                </a:solidFill>
              </a:rPr>
              <a:t>• Unified payment schema (ACH, wire, RTP, etc.)</a:t>
            </a:r>
          </a:p>
          <a:p>
            <a:pPr marL="0" indent="0">
              <a:buNone/>
            </a:pPr>
            <a:r>
              <a:rPr lang="en-US" sz="1000" dirty="0">
                <a:solidFill>
                  <a:srgbClr val="7B96B2"/>
                </a:solidFill>
              </a:rPr>
              <a:t>• Identity Resolution applied here</a:t>
            </a:r>
          </a:p>
          <a:p>
            <a:pPr marL="0" indent="0">
              <a:buNone/>
            </a:pPr>
            <a:r>
              <a:rPr lang="en-US" sz="1000" dirty="0">
                <a:solidFill>
                  <a:srgbClr val="7B96B2"/>
                </a:solidFill>
              </a:rPr>
              <a:t>• Pre-built data models run at this layer</a:t>
            </a:r>
          </a:p>
        </p:txBody>
      </p:sp>
      <p:sp>
        <p:nvSpPr>
          <p:cNvPr id="22" name="Arrow2"/>
          <p:cNvSpPr/>
          <p:nvPr/>
        </p:nvSpPr>
        <p:spPr>
          <a:xfrm>
            <a:off x="7866000" y="4880000"/>
            <a:ext cx="182880" cy="457200"/>
          </a:xfrm>
          <a:prstGeom prst="rect">
            <a:avLst/>
          </a:prstGeom>
          <a:noFill/>
          <a:ln/>
        </p:spPr>
        <p:txBody>
          <a:bodyPr wrap="square" rtlCol="0" anchor="ctr"/>
          <a:lstStyle/>
          <a:p>
            <a:pPr marL="0" indent="0" algn="ctr">
              <a:buNone/>
            </a:pPr>
            <a:r>
              <a:rPr lang="en-US" sz="2400" b="1" dirty="0">
                <a:solidFill>
                  <a:srgbClr val="00A89D"/>
                </a:solidFill>
              </a:rPr>
              <a:t>→</a:t>
            </a:r>
          </a:p>
        </p:txBody>
      </p:sp>
      <p:sp>
        <p:nvSpPr>
          <p:cNvPr id="23" name="Gold Zone"/>
          <p:cNvSpPr/>
          <p:nvPr/>
        </p:nvSpPr>
        <p:spPr>
          <a:xfrm>
            <a:off x="8046720" y="3550000"/>
            <a:ext cx="3779520" cy="3040000"/>
          </a:xfrm>
          <a:prstGeom prst="rect">
            <a:avLst/>
          </a:prstGeom>
          <a:solidFill>
            <a:srgbClr val="00A89D"/>
          </a:solidFill>
          <a:ln/>
        </p:spPr>
        <p:txBody>
          <a:bodyPr/>
          <a:lstStyle/>
          <a:p>
            <a:endParaRPr lang="en-US"/>
          </a:p>
        </p:txBody>
      </p:sp>
      <p:sp>
        <p:nvSpPr>
          <p:cNvPr id="24" name="Gold Badge"/>
          <p:cNvSpPr/>
          <p:nvPr/>
        </p:nvSpPr>
        <p:spPr>
          <a:xfrm>
            <a:off x="8229600" y="3640000"/>
            <a:ext cx="1005840" cy="330000"/>
          </a:xfrm>
          <a:prstGeom prst="rect">
            <a:avLst/>
          </a:prstGeom>
          <a:solidFill>
            <a:srgbClr val="F5A623"/>
          </a:solidFill>
          <a:ln/>
        </p:spPr>
        <p:txBody>
          <a:bodyPr wrap="square" lIns="91440" tIns="45720" rIns="91440" bIns="45720" rtlCol="0" anchor="ctr"/>
          <a:lstStyle/>
          <a:p>
            <a:pPr marL="0" indent="0" algn="ctr">
              <a:buNone/>
            </a:pPr>
            <a:r>
              <a:rPr lang="en-US" sz="1100" b="1" dirty="0">
                <a:solidFill>
                  <a:srgbClr val="0D2340"/>
                </a:solidFill>
              </a:rPr>
              <a:t>GOLD</a:t>
            </a:r>
          </a:p>
        </p:txBody>
      </p:sp>
      <p:sp>
        <p:nvSpPr>
          <p:cNvPr id="25" name="Gold Zone Header"/>
          <p:cNvSpPr/>
          <p:nvPr/>
        </p:nvSpPr>
        <p:spPr>
          <a:xfrm>
            <a:off x="8229600" y="4040000"/>
            <a:ext cx="3413760" cy="365760"/>
          </a:xfrm>
          <a:prstGeom prst="rect">
            <a:avLst/>
          </a:prstGeom>
          <a:noFill/>
          <a:ln/>
        </p:spPr>
        <p:txBody>
          <a:bodyPr wrap="square" rtlCol="0" anchor="ctr"/>
          <a:lstStyle/>
          <a:p>
            <a:pPr marL="0" indent="0">
              <a:buNone/>
            </a:pPr>
            <a:r>
              <a:rPr lang="en-US" sz="1500" b="1" dirty="0">
                <a:solidFill>
                  <a:srgbClr val="0D2340"/>
                </a:solidFill>
              </a:rPr>
              <a:t>Curated Zone</a:t>
            </a:r>
          </a:p>
        </p:txBody>
      </p:sp>
      <p:sp>
        <p:nvSpPr>
          <p:cNvPr id="26" name="Gold Zone Body"/>
          <p:cNvSpPr/>
          <p:nvPr/>
        </p:nvSpPr>
        <p:spPr>
          <a:xfrm>
            <a:off x="8229600" y="4460000"/>
            <a:ext cx="3413760" cy="2050000"/>
          </a:xfrm>
          <a:prstGeom prst="rect">
            <a:avLst/>
          </a:prstGeom>
          <a:noFill/>
          <a:ln/>
        </p:spPr>
        <p:txBody>
          <a:bodyPr wrap="square" rtlCol="0" anchor="t"/>
          <a:lstStyle/>
          <a:p>
            <a:pPr marL="0" indent="0">
              <a:buNone/>
            </a:pPr>
            <a:r>
              <a:rPr lang="en-US" sz="1050" dirty="0">
                <a:solidFill>
                  <a:srgbClr val="0D2340"/>
                </a:solidFill>
              </a:rPr>
              <a:t>Purpose-built aggregations optimized for analysis, reporting &amp; self-service.</a:t>
            </a:r>
          </a:p>
          <a:p>
            <a:pPr marL="0" indent="0">
              <a:buNone/>
            </a:pPr>
            <a:r>
              <a:rPr lang="en-US" sz="1000" dirty="0">
                <a:solidFill>
                  <a:srgbClr val="163354"/>
                </a:solidFill>
              </a:rPr>
              <a:t>• Dashboards, AI query builder &amp; scorecards</a:t>
            </a:r>
          </a:p>
          <a:p>
            <a:pPr marL="0" indent="0">
              <a:buNone/>
            </a:pPr>
            <a:r>
              <a:rPr lang="en-US" sz="1000" dirty="0">
                <a:solidFill>
                  <a:srgbClr val="163354"/>
                </a:solidFill>
              </a:rPr>
              <a:t>• Out-of-the-box data science apps</a:t>
            </a:r>
          </a:p>
          <a:p>
            <a:pPr marL="0" indent="0">
              <a:buNone/>
            </a:pPr>
            <a:r>
              <a:rPr lang="en-US" sz="1000" dirty="0">
                <a:solidFill>
                  <a:srgbClr val="163354"/>
                </a:solidFill>
              </a:rPr>
              <a:t>• Detail preserved — re-aggregate anytime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D2340"/>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89D"/>
          </a:solidFill>
          <a:ln/>
        </p:spPr>
        <p:txBody>
          <a:bodyPr/>
          <a:lstStyle/>
          <a:p>
            <a:endParaRPr lang="en-US"/>
          </a:p>
        </p:txBody>
      </p:sp>
      <p:sp>
        <p:nvSpPr>
          <p:cNvPr id="3" name="Shape 1"/>
          <p:cNvSpPr/>
          <p:nvPr/>
        </p:nvSpPr>
        <p:spPr>
          <a:xfrm>
            <a:off x="365760" y="274320"/>
            <a:ext cx="822960" cy="347472"/>
          </a:xfrm>
          <a:prstGeom prst="rect">
            <a:avLst/>
          </a:prstGeom>
          <a:solidFill>
            <a:srgbClr val="F5A623"/>
          </a:solidFill>
          <a:ln/>
        </p:spPr>
        <p:txBody>
          <a:bodyPr/>
          <a:lstStyle/>
          <a:p>
            <a:endParaRPr lang="en-US"/>
          </a:p>
        </p:txBody>
      </p:sp>
      <p:sp>
        <p:nvSpPr>
          <p:cNvPr id="4" name="Text 2"/>
          <p:cNvSpPr/>
          <p:nvPr/>
        </p:nvSpPr>
        <p:spPr>
          <a:xfrm>
            <a:off x="365760" y="274320"/>
            <a:ext cx="822960" cy="347472"/>
          </a:xfrm>
          <a:prstGeom prst="rect">
            <a:avLst/>
          </a:prstGeom>
          <a:noFill/>
          <a:ln/>
        </p:spPr>
        <p:txBody>
          <a:bodyPr wrap="square" lIns="0" tIns="0" rIns="0" bIns="0" rtlCol="0" anchor="ctr"/>
          <a:lstStyle/>
          <a:p>
            <a:pPr marL="0" indent="0" algn="ctr">
              <a:buNone/>
            </a:pPr>
            <a:r>
              <a:rPr lang="en-US" sz="1200" b="1" dirty="0">
                <a:solidFill>
                  <a:srgbClr val="0D2340"/>
                </a:solidFill>
              </a:rPr>
              <a:t>NEW</a:t>
            </a:r>
            <a:endParaRPr lang="en-US" sz="1200" dirty="0"/>
          </a:p>
        </p:txBody>
      </p:sp>
      <p:pic>
        <p:nvPicPr>
          <p:cNvPr id="5" name="Image 0" descr="preencoded.png"/>
          <p:cNvPicPr>
            <a:picLocks noChangeAspect="1"/>
          </p:cNvPicPr>
          <p:nvPr/>
        </p:nvPicPr>
        <p:blipFill>
          <a:blip r:embed="rId3"/>
          <a:stretch>
            <a:fillRect/>
          </a:stretch>
        </p:blipFill>
        <p:spPr>
          <a:xfrm>
            <a:off x="1325880" y="201168"/>
            <a:ext cx="594360" cy="594360"/>
          </a:xfrm>
          <a:prstGeom prst="rect">
            <a:avLst/>
          </a:prstGeom>
        </p:spPr>
      </p:pic>
      <p:sp>
        <p:nvSpPr>
          <p:cNvPr id="6" name="Text 3"/>
          <p:cNvSpPr/>
          <p:nvPr/>
        </p:nvSpPr>
        <p:spPr>
          <a:xfrm>
            <a:off x="2011680" y="0"/>
            <a:ext cx="3657600" cy="1005840"/>
          </a:xfrm>
          <a:prstGeom prst="rect">
            <a:avLst/>
          </a:prstGeom>
          <a:noFill/>
          <a:ln/>
        </p:spPr>
        <p:txBody>
          <a:bodyPr wrap="square" rtlCol="0" anchor="ctr"/>
          <a:lstStyle/>
          <a:p>
            <a:pPr marL="0" indent="0">
              <a:buNone/>
            </a:pPr>
            <a:r>
              <a:rPr lang="en-US" sz="4200" b="1" dirty="0">
                <a:solidFill>
                  <a:srgbClr val="FFFFFF"/>
                </a:solidFill>
              </a:rPr>
              <a:t>JHBI</a:t>
            </a:r>
            <a:endParaRPr lang="en-US" sz="4200" dirty="0"/>
          </a:p>
        </p:txBody>
      </p:sp>
      <p:sp>
        <p:nvSpPr>
          <p:cNvPr id="7" name="Text 4"/>
          <p:cNvSpPr/>
          <p:nvPr/>
        </p:nvSpPr>
        <p:spPr>
          <a:xfrm>
            <a:off x="2011680" y="640080"/>
            <a:ext cx="6400800" cy="548640"/>
          </a:xfrm>
          <a:prstGeom prst="rect">
            <a:avLst/>
          </a:prstGeom>
          <a:noFill/>
          <a:ln/>
        </p:spPr>
        <p:txBody>
          <a:bodyPr wrap="square" rtlCol="0" anchor="ctr"/>
          <a:lstStyle/>
          <a:p>
            <a:pPr marL="0" indent="0">
              <a:buNone/>
            </a:pPr>
            <a:r>
              <a:rPr lang="en-US" sz="1500" dirty="0">
                <a:solidFill>
                  <a:srgbClr val="33BDB3"/>
                </a:solidFill>
              </a:rPr>
              <a:t>Jack Henry Business Intelligence</a:t>
            </a:r>
            <a:endParaRPr lang="en-US" sz="1500" dirty="0"/>
          </a:p>
        </p:txBody>
      </p:sp>
      <p:sp>
        <p:nvSpPr>
          <p:cNvPr id="8" name="Text 5"/>
          <p:cNvSpPr/>
          <p:nvPr/>
        </p:nvSpPr>
        <p:spPr>
          <a:xfrm>
            <a:off x="365760" y="1097280"/>
            <a:ext cx="8229600" cy="457200"/>
          </a:xfrm>
          <a:prstGeom prst="rect">
            <a:avLst/>
          </a:prstGeom>
          <a:noFill/>
          <a:ln/>
        </p:spPr>
        <p:txBody>
          <a:bodyPr wrap="square" rtlCol="0" anchor="ctr"/>
          <a:lstStyle/>
          <a:p>
            <a:pPr marL="0" indent="0">
              <a:buNone/>
            </a:pPr>
            <a:r>
              <a:rPr lang="en-US" sz="1600" i="1" dirty="0">
                <a:solidFill>
                  <a:srgbClr val="7B96B2"/>
                </a:solidFill>
              </a:rPr>
              <a:t>Cloud-based DaaS platform — the evolution of JHKnow &amp; ARCU, built for payments-first intelligence.</a:t>
            </a:r>
            <a:endParaRPr lang="en-US" sz="1600" dirty="0"/>
          </a:p>
        </p:txBody>
      </p:sp>
      <p:sp>
        <p:nvSpPr>
          <p:cNvPr id="9" name="Shape 6"/>
          <p:cNvSpPr/>
          <p:nvPr/>
        </p:nvSpPr>
        <p:spPr>
          <a:xfrm>
            <a:off x="365760" y="1737360"/>
            <a:ext cx="5486400" cy="3200400"/>
          </a:xfrm>
          <a:prstGeom prst="rect">
            <a:avLst/>
          </a:prstGeom>
          <a:solidFill>
            <a:srgbClr val="163354"/>
          </a:solidFill>
          <a:ln/>
        </p:spPr>
        <p:txBody>
          <a:bodyPr/>
          <a:lstStyle/>
          <a:p>
            <a:endParaRPr lang="en-US"/>
          </a:p>
        </p:txBody>
      </p:sp>
      <p:sp>
        <p:nvSpPr>
          <p:cNvPr id="10" name="Text 7"/>
          <p:cNvSpPr/>
          <p:nvPr/>
        </p:nvSpPr>
        <p:spPr>
          <a:xfrm>
            <a:off x="548640" y="1874520"/>
            <a:ext cx="5120640" cy="384048"/>
          </a:xfrm>
          <a:prstGeom prst="rect">
            <a:avLst/>
          </a:prstGeom>
          <a:noFill/>
          <a:ln/>
        </p:spPr>
        <p:txBody>
          <a:bodyPr wrap="square" rtlCol="0" anchor="ctr"/>
          <a:lstStyle/>
          <a:p>
            <a:pPr marL="0" indent="0">
              <a:buNone/>
            </a:pPr>
            <a:r>
              <a:rPr lang="en-US" sz="1500" b="1" dirty="0">
                <a:solidFill>
                  <a:srgbClr val="00A89D"/>
                </a:solidFill>
              </a:rPr>
              <a:t>What Makes JHBI Different</a:t>
            </a:r>
            <a:endParaRPr lang="en-US" sz="1500" dirty="0"/>
          </a:p>
        </p:txBody>
      </p:sp>
      <p:pic>
        <p:nvPicPr>
          <p:cNvPr id="11" name="Image 1" descr="preencoded.png"/>
          <p:cNvPicPr>
            <a:picLocks noChangeAspect="1"/>
          </p:cNvPicPr>
          <p:nvPr/>
        </p:nvPicPr>
        <p:blipFill>
          <a:blip r:embed="rId4"/>
          <a:stretch>
            <a:fillRect/>
          </a:stretch>
        </p:blipFill>
        <p:spPr>
          <a:xfrm>
            <a:off x="548640" y="2404872"/>
            <a:ext cx="256032" cy="256032"/>
          </a:xfrm>
          <a:prstGeom prst="rect">
            <a:avLst/>
          </a:prstGeom>
        </p:spPr>
      </p:pic>
      <p:sp>
        <p:nvSpPr>
          <p:cNvPr id="12" name="Text 8"/>
          <p:cNvSpPr/>
          <p:nvPr/>
        </p:nvSpPr>
        <p:spPr>
          <a:xfrm>
            <a:off x="914400" y="2359152"/>
            <a:ext cx="4754880" cy="384048"/>
          </a:xfrm>
          <a:prstGeom prst="rect">
            <a:avLst/>
          </a:prstGeom>
          <a:noFill/>
          <a:ln/>
        </p:spPr>
        <p:txBody>
          <a:bodyPr wrap="square" rtlCol="0" anchor="ctr"/>
          <a:lstStyle/>
          <a:p>
            <a:pPr marL="0" indent="0">
              <a:buNone/>
            </a:pPr>
            <a:r>
              <a:rPr lang="en-US" sz="1200" dirty="0">
                <a:solidFill>
                  <a:srgbClr val="FFFFFF"/>
                </a:solidFill>
              </a:rPr>
              <a:t>Cloud-based DaaS platform — hosted &amp; managed by Jack Henry, zero infrastructure to build</a:t>
            </a:r>
            <a:endParaRPr lang="en-US" sz="1200" dirty="0"/>
          </a:p>
        </p:txBody>
      </p:sp>
      <p:pic>
        <p:nvPicPr>
          <p:cNvPr id="13" name="Image 2" descr="preencoded.png"/>
          <p:cNvPicPr>
            <a:picLocks noChangeAspect="1"/>
          </p:cNvPicPr>
          <p:nvPr/>
        </p:nvPicPr>
        <p:blipFill>
          <a:blip r:embed="rId4"/>
          <a:stretch>
            <a:fillRect/>
          </a:stretch>
        </p:blipFill>
        <p:spPr>
          <a:xfrm>
            <a:off x="548640" y="2834640"/>
            <a:ext cx="256032" cy="256032"/>
          </a:xfrm>
          <a:prstGeom prst="rect">
            <a:avLst/>
          </a:prstGeom>
        </p:spPr>
      </p:pic>
      <p:sp>
        <p:nvSpPr>
          <p:cNvPr id="14" name="Text 9"/>
          <p:cNvSpPr/>
          <p:nvPr/>
        </p:nvSpPr>
        <p:spPr>
          <a:xfrm>
            <a:off x="914400" y="2788920"/>
            <a:ext cx="4754880" cy="384048"/>
          </a:xfrm>
          <a:prstGeom prst="rect">
            <a:avLst/>
          </a:prstGeom>
          <a:noFill/>
          <a:ln/>
        </p:spPr>
        <p:txBody>
          <a:bodyPr wrap="square" rtlCol="0" anchor="ctr"/>
          <a:lstStyle/>
          <a:p>
            <a:pPr marL="0" indent="0">
              <a:buNone/>
            </a:pPr>
            <a:r>
              <a:rPr lang="en-US" sz="1200" dirty="0">
                <a:solidFill>
                  <a:srgbClr val="FFFFFF"/>
                </a:solidFill>
              </a:rPr>
              <a:t>Pre-built data models &amp; out-of-the-box analytics — payments data ready on day one</a:t>
            </a:r>
            <a:endParaRPr lang="en-US" sz="1200" dirty="0"/>
          </a:p>
        </p:txBody>
      </p:sp>
      <p:pic>
        <p:nvPicPr>
          <p:cNvPr id="15" name="Image 3" descr="preencoded.png"/>
          <p:cNvPicPr>
            <a:picLocks noChangeAspect="1"/>
          </p:cNvPicPr>
          <p:nvPr/>
        </p:nvPicPr>
        <p:blipFill>
          <a:blip r:embed="rId4"/>
          <a:stretch>
            <a:fillRect/>
          </a:stretch>
        </p:blipFill>
        <p:spPr>
          <a:xfrm>
            <a:off x="548640" y="3264408"/>
            <a:ext cx="256032" cy="256032"/>
          </a:xfrm>
          <a:prstGeom prst="rect">
            <a:avLst/>
          </a:prstGeom>
        </p:spPr>
      </p:pic>
      <p:sp>
        <p:nvSpPr>
          <p:cNvPr id="16" name="Text 10"/>
          <p:cNvSpPr/>
          <p:nvPr/>
        </p:nvSpPr>
        <p:spPr>
          <a:xfrm>
            <a:off x="914400" y="3218688"/>
            <a:ext cx="4754880" cy="384048"/>
          </a:xfrm>
          <a:prstGeom prst="rect">
            <a:avLst/>
          </a:prstGeom>
          <a:noFill/>
          <a:ln/>
        </p:spPr>
        <p:txBody>
          <a:bodyPr wrap="square" rtlCol="0" anchor="ctr"/>
          <a:lstStyle/>
          <a:p>
            <a:pPr marL="0" indent="0">
              <a:buNone/>
            </a:pPr>
            <a:r>
              <a:rPr lang="en-US" sz="1200" dirty="0">
                <a:solidFill>
                  <a:srgbClr val="FFFFFF"/>
                </a:solidFill>
              </a:rPr>
              <a:t>Self-service data portal with integrated data catalog</a:t>
            </a:r>
            <a:endParaRPr lang="en-US" sz="1200" dirty="0"/>
          </a:p>
        </p:txBody>
      </p:sp>
      <p:pic>
        <p:nvPicPr>
          <p:cNvPr id="17" name="Image 4" descr="preencoded.png"/>
          <p:cNvPicPr>
            <a:picLocks noChangeAspect="1"/>
          </p:cNvPicPr>
          <p:nvPr/>
        </p:nvPicPr>
        <p:blipFill>
          <a:blip r:embed="rId4"/>
          <a:stretch>
            <a:fillRect/>
          </a:stretch>
        </p:blipFill>
        <p:spPr>
          <a:xfrm>
            <a:off x="548640" y="3694176"/>
            <a:ext cx="256032" cy="256032"/>
          </a:xfrm>
          <a:prstGeom prst="rect">
            <a:avLst/>
          </a:prstGeom>
        </p:spPr>
      </p:pic>
      <p:sp>
        <p:nvSpPr>
          <p:cNvPr id="18" name="Text 11"/>
          <p:cNvSpPr/>
          <p:nvPr/>
        </p:nvSpPr>
        <p:spPr>
          <a:xfrm>
            <a:off x="914400" y="3648456"/>
            <a:ext cx="4754880" cy="384048"/>
          </a:xfrm>
          <a:prstGeom prst="rect">
            <a:avLst/>
          </a:prstGeom>
          <a:noFill/>
          <a:ln/>
        </p:spPr>
        <p:txBody>
          <a:bodyPr wrap="square" rtlCol="0" anchor="ctr"/>
          <a:lstStyle/>
          <a:p>
            <a:pPr marL="0" indent="0">
              <a:buNone/>
            </a:pPr>
            <a:r>
              <a:rPr lang="en-US" sz="1200" dirty="0">
                <a:solidFill>
                  <a:srgbClr val="FFFFFF"/>
                </a:solidFill>
              </a:rPr>
              <a:t>Out-of-the-box pipelines &amp; data services — no ETL engineering required</a:t>
            </a:r>
            <a:endParaRPr lang="en-US" sz="1200" dirty="0"/>
          </a:p>
        </p:txBody>
      </p:sp>
      <p:pic>
        <p:nvPicPr>
          <p:cNvPr id="19" name="Image 5" descr="preencoded.png"/>
          <p:cNvPicPr>
            <a:picLocks noChangeAspect="1"/>
          </p:cNvPicPr>
          <p:nvPr/>
        </p:nvPicPr>
        <p:blipFill>
          <a:blip r:embed="rId4"/>
          <a:stretch>
            <a:fillRect/>
          </a:stretch>
        </p:blipFill>
        <p:spPr>
          <a:xfrm>
            <a:off x="548640" y="4123944"/>
            <a:ext cx="256032" cy="256032"/>
          </a:xfrm>
          <a:prstGeom prst="rect">
            <a:avLst/>
          </a:prstGeom>
        </p:spPr>
      </p:pic>
      <p:sp>
        <p:nvSpPr>
          <p:cNvPr id="20" name="Text 12"/>
          <p:cNvSpPr/>
          <p:nvPr/>
        </p:nvSpPr>
        <p:spPr>
          <a:xfrm>
            <a:off x="914400" y="4078224"/>
            <a:ext cx="4754880" cy="384048"/>
          </a:xfrm>
          <a:prstGeom prst="rect">
            <a:avLst/>
          </a:prstGeom>
          <a:noFill/>
          <a:ln/>
        </p:spPr>
        <p:txBody>
          <a:bodyPr wrap="square" rtlCol="0" anchor="ctr"/>
          <a:lstStyle/>
          <a:p>
            <a:pPr marL="0" indent="0">
              <a:buNone/>
            </a:pPr>
            <a:r>
              <a:rPr lang="en-US" sz="1200" dirty="0">
                <a:solidFill>
                  <a:srgbClr val="FFFFFF"/>
                </a:solidFill>
              </a:rPr>
              <a:t>AI query builder — ask questions in plain language, get instant answers</a:t>
            </a:r>
            <a:endParaRPr lang="en-US" sz="1200" dirty="0"/>
          </a:p>
        </p:txBody>
      </p:sp>
      <p:pic>
        <p:nvPicPr>
          <p:cNvPr id="21" name="Image 6" descr="preencoded.png"/>
          <p:cNvPicPr>
            <a:picLocks noChangeAspect="1"/>
          </p:cNvPicPr>
          <p:nvPr/>
        </p:nvPicPr>
        <p:blipFill>
          <a:blip r:embed="rId4"/>
          <a:stretch>
            <a:fillRect/>
          </a:stretch>
        </p:blipFill>
        <p:spPr>
          <a:xfrm>
            <a:off x="548640" y="4553712"/>
            <a:ext cx="256032" cy="256032"/>
          </a:xfrm>
          <a:prstGeom prst="rect">
            <a:avLst/>
          </a:prstGeom>
        </p:spPr>
      </p:pic>
      <p:sp>
        <p:nvSpPr>
          <p:cNvPr id="22" name="Text 13"/>
          <p:cNvSpPr/>
          <p:nvPr/>
        </p:nvSpPr>
        <p:spPr>
          <a:xfrm>
            <a:off x="914400" y="4507992"/>
            <a:ext cx="4754880" cy="384048"/>
          </a:xfrm>
          <a:prstGeom prst="rect">
            <a:avLst/>
          </a:prstGeom>
          <a:noFill/>
          <a:ln/>
        </p:spPr>
        <p:txBody>
          <a:bodyPr wrap="square" rtlCol="0" anchor="ctr"/>
          <a:lstStyle/>
          <a:p>
            <a:pPr marL="0" indent="0">
              <a:buNone/>
            </a:pPr>
            <a:r>
              <a:rPr lang="en-US" sz="1200" dirty="0">
                <a:solidFill>
                  <a:srgbClr val="FFFFFF"/>
                </a:solidFill>
              </a:rPr>
              <a:t>Identity Resolution &amp; a growing library of data science apps</a:t>
            </a:r>
            <a:endParaRPr lang="en-US" sz="1200" dirty="0"/>
          </a:p>
        </p:txBody>
      </p:sp>
      <p:sp>
        <p:nvSpPr>
          <p:cNvPr id="23" name="Shape 14"/>
          <p:cNvSpPr/>
          <p:nvPr/>
        </p:nvSpPr>
        <p:spPr>
          <a:xfrm>
            <a:off x="6263640" y="1737360"/>
            <a:ext cx="5577840" cy="3200400"/>
          </a:xfrm>
          <a:prstGeom prst="rect">
            <a:avLst/>
          </a:prstGeom>
          <a:solidFill>
            <a:srgbClr val="163354"/>
          </a:solidFill>
          <a:ln/>
        </p:spPr>
        <p:txBody>
          <a:bodyPr/>
          <a:lstStyle/>
          <a:p>
            <a:endParaRPr lang="en-US"/>
          </a:p>
        </p:txBody>
      </p:sp>
      <p:sp>
        <p:nvSpPr>
          <p:cNvPr id="24" name="Text 15"/>
          <p:cNvSpPr/>
          <p:nvPr/>
        </p:nvSpPr>
        <p:spPr>
          <a:xfrm>
            <a:off x="6446520" y="1874520"/>
            <a:ext cx="5212080" cy="384048"/>
          </a:xfrm>
          <a:prstGeom prst="rect">
            <a:avLst/>
          </a:prstGeom>
          <a:noFill/>
          <a:ln/>
        </p:spPr>
        <p:txBody>
          <a:bodyPr wrap="square" rtlCol="0" anchor="ctr"/>
          <a:lstStyle/>
          <a:p>
            <a:pPr marL="0" indent="0">
              <a:buNone/>
            </a:pPr>
            <a:r>
              <a:rPr lang="en-US" sz="1500" b="1" dirty="0">
                <a:solidFill>
                  <a:srgbClr val="00A89D"/>
                </a:solidFill>
              </a:rPr>
              <a:t>Payments Data Coverage (v1)</a:t>
            </a:r>
            <a:endParaRPr lang="en-US" sz="1500" dirty="0"/>
          </a:p>
        </p:txBody>
      </p:sp>
      <p:sp>
        <p:nvSpPr>
          <p:cNvPr id="25" name="Shape 16"/>
          <p:cNvSpPr/>
          <p:nvPr/>
        </p:nvSpPr>
        <p:spPr>
          <a:xfrm>
            <a:off x="6446520" y="2377440"/>
            <a:ext cx="64008" cy="411480"/>
          </a:xfrm>
          <a:prstGeom prst="rect">
            <a:avLst/>
          </a:prstGeom>
          <a:solidFill>
            <a:srgbClr val="00A89D"/>
          </a:solidFill>
          <a:ln/>
        </p:spPr>
        <p:txBody>
          <a:bodyPr/>
          <a:lstStyle/>
          <a:p>
            <a:endParaRPr lang="en-US"/>
          </a:p>
        </p:txBody>
      </p:sp>
      <p:sp>
        <p:nvSpPr>
          <p:cNvPr id="26" name="Text 17"/>
          <p:cNvSpPr/>
          <p:nvPr/>
        </p:nvSpPr>
        <p:spPr>
          <a:xfrm>
            <a:off x="6583680" y="2359152"/>
            <a:ext cx="5029200" cy="256032"/>
          </a:xfrm>
          <a:prstGeom prst="rect">
            <a:avLst/>
          </a:prstGeom>
          <a:noFill/>
          <a:ln/>
        </p:spPr>
        <p:txBody>
          <a:bodyPr wrap="square" rtlCol="0" anchor="ctr"/>
          <a:lstStyle/>
          <a:p>
            <a:pPr marL="0" indent="0">
              <a:buNone/>
            </a:pPr>
            <a:r>
              <a:rPr lang="en-US" sz="1200" b="1" dirty="0">
                <a:solidFill>
                  <a:srgbClr val="FFFFFF"/>
                </a:solidFill>
              </a:rPr>
              <a:t>ACH &amp; Wire</a:t>
            </a:r>
            <a:endParaRPr lang="en-US" sz="1200" dirty="0"/>
          </a:p>
        </p:txBody>
      </p:sp>
      <p:sp>
        <p:nvSpPr>
          <p:cNvPr id="27" name="Text 18"/>
          <p:cNvSpPr/>
          <p:nvPr/>
        </p:nvSpPr>
        <p:spPr>
          <a:xfrm>
            <a:off x="6583680" y="2587752"/>
            <a:ext cx="5029200" cy="256032"/>
          </a:xfrm>
          <a:prstGeom prst="rect">
            <a:avLst/>
          </a:prstGeom>
          <a:noFill/>
          <a:ln/>
        </p:spPr>
        <p:txBody>
          <a:bodyPr wrap="square" rtlCol="0" anchor="ctr"/>
          <a:lstStyle/>
          <a:p>
            <a:pPr marL="0" indent="0">
              <a:buNone/>
            </a:pPr>
            <a:r>
              <a:rPr lang="en-US" sz="1050" dirty="0">
                <a:solidFill>
                  <a:srgbClr val="7B96B2"/>
                </a:solidFill>
              </a:rPr>
              <a:t>Origination, returns &amp; volume trends across ACH credit/debit &amp; domestic wires</a:t>
            </a:r>
            <a:endParaRPr lang="en-US" sz="1050" dirty="0"/>
          </a:p>
        </p:txBody>
      </p:sp>
      <p:sp>
        <p:nvSpPr>
          <p:cNvPr id="28" name="Shape 19"/>
          <p:cNvSpPr/>
          <p:nvPr/>
        </p:nvSpPr>
        <p:spPr>
          <a:xfrm>
            <a:off x="6446520" y="2926080"/>
            <a:ext cx="64008" cy="411480"/>
          </a:xfrm>
          <a:prstGeom prst="rect">
            <a:avLst/>
          </a:prstGeom>
          <a:solidFill>
            <a:srgbClr val="00A89D"/>
          </a:solidFill>
          <a:ln/>
        </p:spPr>
        <p:txBody>
          <a:bodyPr/>
          <a:lstStyle/>
          <a:p>
            <a:endParaRPr lang="en-US"/>
          </a:p>
        </p:txBody>
      </p:sp>
      <p:sp>
        <p:nvSpPr>
          <p:cNvPr id="29" name="Text 20"/>
          <p:cNvSpPr/>
          <p:nvPr/>
        </p:nvSpPr>
        <p:spPr>
          <a:xfrm>
            <a:off x="6583680" y="2907792"/>
            <a:ext cx="5029200" cy="256032"/>
          </a:xfrm>
          <a:prstGeom prst="rect">
            <a:avLst/>
          </a:prstGeom>
          <a:noFill/>
          <a:ln/>
        </p:spPr>
        <p:txBody>
          <a:bodyPr wrap="square" rtlCol="0" anchor="ctr"/>
          <a:lstStyle/>
          <a:p>
            <a:pPr marL="0" indent="0">
              <a:buNone/>
            </a:pPr>
            <a:r>
              <a:rPr lang="en-US" sz="1200" b="1" dirty="0">
                <a:solidFill>
                  <a:srgbClr val="FFFFFF"/>
                </a:solidFill>
              </a:rPr>
              <a:t>Bill Pay &amp; P2P</a:t>
            </a:r>
            <a:endParaRPr lang="en-US" sz="1200" dirty="0"/>
          </a:p>
        </p:txBody>
      </p:sp>
      <p:sp>
        <p:nvSpPr>
          <p:cNvPr id="30" name="Text 21"/>
          <p:cNvSpPr/>
          <p:nvPr/>
        </p:nvSpPr>
        <p:spPr>
          <a:xfrm>
            <a:off x="6583680" y="3136392"/>
            <a:ext cx="5029200" cy="256032"/>
          </a:xfrm>
          <a:prstGeom prst="rect">
            <a:avLst/>
          </a:prstGeom>
          <a:noFill/>
          <a:ln/>
        </p:spPr>
        <p:txBody>
          <a:bodyPr wrap="square" rtlCol="0" anchor="ctr"/>
          <a:lstStyle/>
          <a:p>
            <a:pPr marL="0" indent="0">
              <a:buNone/>
            </a:pPr>
            <a:r>
              <a:rPr lang="en-US" sz="1050" dirty="0">
                <a:solidFill>
                  <a:srgbClr val="7B96B2"/>
                </a:solidFill>
              </a:rPr>
              <a:t>iPay &amp; Payrailz bill pay volume, consumer &amp; business, card-funded payments</a:t>
            </a:r>
            <a:endParaRPr lang="en-US" sz="1050" dirty="0"/>
          </a:p>
        </p:txBody>
      </p:sp>
      <p:sp>
        <p:nvSpPr>
          <p:cNvPr id="31" name="Shape 22"/>
          <p:cNvSpPr/>
          <p:nvPr/>
        </p:nvSpPr>
        <p:spPr>
          <a:xfrm>
            <a:off x="6446520" y="3474720"/>
            <a:ext cx="64008" cy="411480"/>
          </a:xfrm>
          <a:prstGeom prst="rect">
            <a:avLst/>
          </a:prstGeom>
          <a:solidFill>
            <a:srgbClr val="00A89D"/>
          </a:solidFill>
          <a:ln/>
        </p:spPr>
        <p:txBody>
          <a:bodyPr/>
          <a:lstStyle/>
          <a:p>
            <a:endParaRPr lang="en-US"/>
          </a:p>
        </p:txBody>
      </p:sp>
      <p:sp>
        <p:nvSpPr>
          <p:cNvPr id="32" name="Text 23"/>
          <p:cNvSpPr/>
          <p:nvPr/>
        </p:nvSpPr>
        <p:spPr>
          <a:xfrm>
            <a:off x="6583680" y="3456432"/>
            <a:ext cx="5029200" cy="256032"/>
          </a:xfrm>
          <a:prstGeom prst="rect">
            <a:avLst/>
          </a:prstGeom>
          <a:noFill/>
          <a:ln/>
        </p:spPr>
        <p:txBody>
          <a:bodyPr wrap="square" rtlCol="0" anchor="ctr"/>
          <a:lstStyle/>
          <a:p>
            <a:pPr marL="0" indent="0">
              <a:buNone/>
            </a:pPr>
            <a:r>
              <a:rPr lang="en-US" sz="1200" b="1" dirty="0">
                <a:solidFill>
                  <a:srgbClr val="FFFFFF"/>
                </a:solidFill>
              </a:rPr>
              <a:t>Real-Time Payments</a:t>
            </a:r>
            <a:endParaRPr lang="en-US" sz="1200" dirty="0"/>
          </a:p>
        </p:txBody>
      </p:sp>
      <p:sp>
        <p:nvSpPr>
          <p:cNvPr id="33" name="Text 24"/>
          <p:cNvSpPr/>
          <p:nvPr/>
        </p:nvSpPr>
        <p:spPr>
          <a:xfrm>
            <a:off x="6583680" y="3685032"/>
            <a:ext cx="5029200" cy="256032"/>
          </a:xfrm>
          <a:prstGeom prst="rect">
            <a:avLst/>
          </a:prstGeom>
          <a:noFill/>
          <a:ln/>
        </p:spPr>
        <p:txBody>
          <a:bodyPr wrap="square" rtlCol="0" anchor="ctr"/>
          <a:lstStyle/>
          <a:p>
            <a:pPr marL="0" indent="0">
              <a:buNone/>
            </a:pPr>
            <a:r>
              <a:rPr lang="en-US" sz="1050" dirty="0">
                <a:solidFill>
                  <a:srgbClr val="7B96B2"/>
                </a:solidFill>
              </a:rPr>
              <a:t>RTP, FedNow &amp; Zelle adoption, instant payment trends &amp; volume</a:t>
            </a:r>
            <a:endParaRPr lang="en-US" sz="1050" dirty="0"/>
          </a:p>
        </p:txBody>
      </p:sp>
      <p:sp>
        <p:nvSpPr>
          <p:cNvPr id="34" name="Shape 25"/>
          <p:cNvSpPr/>
          <p:nvPr/>
        </p:nvSpPr>
        <p:spPr>
          <a:xfrm>
            <a:off x="6446520" y="4023360"/>
            <a:ext cx="64008" cy="411480"/>
          </a:xfrm>
          <a:prstGeom prst="rect">
            <a:avLst/>
          </a:prstGeom>
          <a:solidFill>
            <a:srgbClr val="00A89D"/>
          </a:solidFill>
          <a:ln/>
        </p:spPr>
        <p:txBody>
          <a:bodyPr/>
          <a:lstStyle/>
          <a:p>
            <a:endParaRPr lang="en-US"/>
          </a:p>
        </p:txBody>
      </p:sp>
      <p:sp>
        <p:nvSpPr>
          <p:cNvPr id="35" name="Text 26"/>
          <p:cNvSpPr/>
          <p:nvPr/>
        </p:nvSpPr>
        <p:spPr>
          <a:xfrm>
            <a:off x="6583680" y="4005072"/>
            <a:ext cx="5029200" cy="256032"/>
          </a:xfrm>
          <a:prstGeom prst="rect">
            <a:avLst/>
          </a:prstGeom>
          <a:noFill/>
          <a:ln/>
        </p:spPr>
        <p:txBody>
          <a:bodyPr wrap="square" rtlCol="0" anchor="ctr"/>
          <a:lstStyle/>
          <a:p>
            <a:pPr marL="0" indent="0">
              <a:buNone/>
            </a:pPr>
            <a:r>
              <a:rPr lang="en-US" sz="1200" b="1" dirty="0">
                <a:solidFill>
                  <a:srgbClr val="FFFFFF"/>
                </a:solidFill>
              </a:rPr>
              <a:t>Card Payments</a:t>
            </a:r>
            <a:endParaRPr lang="en-US" sz="1200" dirty="0"/>
          </a:p>
        </p:txBody>
      </p:sp>
      <p:sp>
        <p:nvSpPr>
          <p:cNvPr id="36" name="Text 27"/>
          <p:cNvSpPr/>
          <p:nvPr/>
        </p:nvSpPr>
        <p:spPr>
          <a:xfrm>
            <a:off x="6583680" y="4233672"/>
            <a:ext cx="5029200" cy="256032"/>
          </a:xfrm>
          <a:prstGeom prst="rect">
            <a:avLst/>
          </a:prstGeom>
          <a:noFill/>
          <a:ln/>
        </p:spPr>
        <p:txBody>
          <a:bodyPr wrap="square" rtlCol="0" anchor="ctr"/>
          <a:lstStyle/>
          <a:p>
            <a:pPr marL="0" indent="0">
              <a:buNone/>
            </a:pPr>
            <a:r>
              <a:rPr lang="en-US" sz="1050" dirty="0">
                <a:solidFill>
                  <a:srgbClr val="7B96B2"/>
                </a:solidFill>
              </a:rPr>
              <a:t>Debit, ATM, prepaid &amp; gift card analytics — issuer-side (CPS excluded in v1)</a:t>
            </a:r>
            <a:endParaRPr lang="en-US" sz="1050" dirty="0"/>
          </a:p>
        </p:txBody>
      </p:sp>
      <p:sp>
        <p:nvSpPr>
          <p:cNvPr id="37" name="Shape 28"/>
          <p:cNvSpPr/>
          <p:nvPr/>
        </p:nvSpPr>
        <p:spPr>
          <a:xfrm>
            <a:off x="6446520" y="4572000"/>
            <a:ext cx="64008" cy="411480"/>
          </a:xfrm>
          <a:prstGeom prst="rect">
            <a:avLst/>
          </a:prstGeom>
          <a:solidFill>
            <a:srgbClr val="00A89D"/>
          </a:solidFill>
          <a:ln/>
        </p:spPr>
        <p:txBody>
          <a:bodyPr/>
          <a:lstStyle/>
          <a:p>
            <a:endParaRPr lang="en-US"/>
          </a:p>
        </p:txBody>
      </p:sp>
      <p:sp>
        <p:nvSpPr>
          <p:cNvPr id="38" name="Text 29"/>
          <p:cNvSpPr/>
          <p:nvPr/>
        </p:nvSpPr>
        <p:spPr>
          <a:xfrm>
            <a:off x="6583680" y="4553712"/>
            <a:ext cx="5029200" cy="256032"/>
          </a:xfrm>
          <a:prstGeom prst="rect">
            <a:avLst/>
          </a:prstGeom>
          <a:noFill/>
          <a:ln/>
        </p:spPr>
        <p:txBody>
          <a:bodyPr wrap="square" rtlCol="0" anchor="ctr"/>
          <a:lstStyle/>
          <a:p>
            <a:pPr marL="0" indent="0">
              <a:buNone/>
            </a:pPr>
            <a:r>
              <a:rPr lang="en-US" sz="1200" b="1" dirty="0">
                <a:solidFill>
                  <a:srgbClr val="FFFFFF"/>
                </a:solidFill>
              </a:rPr>
              <a:t>Risk &amp; Compliance</a:t>
            </a:r>
            <a:endParaRPr lang="en-US" sz="1200" dirty="0"/>
          </a:p>
        </p:txBody>
      </p:sp>
      <p:sp>
        <p:nvSpPr>
          <p:cNvPr id="39" name="Text 30"/>
          <p:cNvSpPr/>
          <p:nvPr/>
        </p:nvSpPr>
        <p:spPr>
          <a:xfrm>
            <a:off x="6583680" y="4782312"/>
            <a:ext cx="5029200" cy="256032"/>
          </a:xfrm>
          <a:prstGeom prst="rect">
            <a:avLst/>
          </a:prstGeom>
          <a:noFill/>
          <a:ln/>
        </p:spPr>
        <p:txBody>
          <a:bodyPr wrap="square" rtlCol="0" anchor="ctr"/>
          <a:lstStyle/>
          <a:p>
            <a:pPr marL="0" indent="0">
              <a:buNone/>
            </a:pPr>
            <a:r>
              <a:rPr lang="en-US" sz="1050" dirty="0">
                <a:solidFill>
                  <a:srgbClr val="7B96B2"/>
                </a:solidFill>
              </a:rPr>
              <a:t>Returns monitoring, fraud signals, Positive Pay &amp; compliance reporting</a:t>
            </a:r>
            <a:endParaRPr lang="en-US" sz="1050" dirty="0"/>
          </a:p>
        </p:txBody>
      </p:sp>
      <p:sp>
        <p:nvSpPr>
          <p:cNvPr id="40" name="Shape 31"/>
          <p:cNvSpPr/>
          <p:nvPr/>
        </p:nvSpPr>
        <p:spPr>
          <a:xfrm>
            <a:off x="365760" y="5166360"/>
            <a:ext cx="11475720" cy="914400"/>
          </a:xfrm>
          <a:prstGeom prst="rect">
            <a:avLst/>
          </a:prstGeom>
          <a:solidFill>
            <a:srgbClr val="00A89D"/>
          </a:solidFill>
          <a:ln/>
        </p:spPr>
        <p:txBody>
          <a:bodyPr/>
          <a:lstStyle/>
          <a:p>
            <a:endParaRPr lang="en-US"/>
          </a:p>
        </p:txBody>
      </p:sp>
      <p:pic>
        <p:nvPicPr>
          <p:cNvPr id="41" name="Image 7" descr="preencoded.png"/>
          <p:cNvPicPr>
            <a:picLocks noChangeAspect="1"/>
          </p:cNvPicPr>
          <p:nvPr/>
        </p:nvPicPr>
        <p:blipFill>
          <a:blip r:embed="rId5"/>
          <a:stretch>
            <a:fillRect/>
          </a:stretch>
        </p:blipFill>
        <p:spPr>
          <a:xfrm>
            <a:off x="502920" y="5276088"/>
            <a:ext cx="457200" cy="457200"/>
          </a:xfrm>
          <a:prstGeom prst="rect">
            <a:avLst/>
          </a:prstGeom>
        </p:spPr>
      </p:pic>
      <p:sp>
        <p:nvSpPr>
          <p:cNvPr id="42" name="Text 32"/>
          <p:cNvSpPr/>
          <p:nvPr/>
        </p:nvSpPr>
        <p:spPr>
          <a:xfrm>
            <a:off x="1097280" y="5166360"/>
            <a:ext cx="10515600" cy="914400"/>
          </a:xfrm>
          <a:prstGeom prst="rect">
            <a:avLst/>
          </a:prstGeom>
          <a:noFill/>
          <a:ln/>
        </p:spPr>
        <p:txBody>
          <a:bodyPr wrap="square" rtlCol="0" anchor="ctr"/>
          <a:lstStyle/>
          <a:p>
            <a:pPr marL="0" indent="0">
              <a:buNone/>
            </a:pPr>
            <a:r>
              <a:rPr lang="en-US" sz="1500" b="1" dirty="0">
                <a:solidFill>
                  <a:srgbClr val="0D2340"/>
                </a:solidFill>
              </a:rPr>
              <a:t>JHBI is the future of JH data — a cloud-based DaaS platform replacing JHKnow &amp; ARCU. Payments v1 available now: ACH, Wire, Bill Pay, RTP/FedNow, Zelle, Card (CPS excluded).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JHBI Roadmap">
    <p:bg>
      <p:bgPr>
        <a:solidFill>
          <a:srgbClr val="F4F6F9"/>
        </a:solidFill>
        <a:effectLst/>
      </p:bgPr>
    </p:bg>
    <p:spTree>
      <p:nvGrpSpPr>
        <p:cNvPr id="1" name=""/>
        <p:cNvGrpSpPr/>
        <p:nvPr/>
      </p:nvGrpSpPr>
      <p:grpSpPr>
        <a:xfrm>
          <a:off x="0" y="0"/>
          <a:ext cx="0" cy="0"/>
          <a:chOff x="0" y="0"/>
          <a:chExt cx="0" cy="0"/>
        </a:xfrm>
      </p:grpSpPr>
      <p:sp>
        <p:nvSpPr>
          <p:cNvPr id="2" name="Header BG"/>
          <p:cNvSpPr/>
          <p:nvPr/>
        </p:nvSpPr>
        <p:spPr>
          <a:xfrm>
            <a:off x="0" y="0"/>
            <a:ext cx="12192000" cy="1188720"/>
          </a:xfrm>
          <a:prstGeom prst="rect">
            <a:avLst/>
          </a:prstGeom>
          <a:solidFill>
            <a:srgbClr val="0D2340"/>
          </a:solidFill>
          <a:ln/>
        </p:spPr>
        <p:txBody>
          <a:bodyPr/>
          <a:lstStyle/>
          <a:p>
            <a:endParaRPr lang="en-US"/>
          </a:p>
        </p:txBody>
      </p:sp>
      <p:sp>
        <p:nvSpPr>
          <p:cNvPr id="3" name="Accent"/>
          <p:cNvSpPr/>
          <p:nvPr/>
        </p:nvSpPr>
        <p:spPr>
          <a:xfrm>
            <a:off x="0" y="1188720"/>
            <a:ext cx="12192000" cy="64008"/>
          </a:xfrm>
          <a:prstGeom prst="rect">
            <a:avLst/>
          </a:prstGeom>
          <a:solidFill>
            <a:srgbClr val="00A89D"/>
          </a:solidFill>
          <a:ln/>
        </p:spPr>
        <p:txBody>
          <a:bodyPr/>
          <a:lstStyle/>
          <a:p>
            <a:endParaRPr lang="en-US"/>
          </a:p>
        </p:txBody>
      </p:sp>
      <p:sp>
        <p:nvSpPr>
          <p:cNvPr id="4" name="Title"/>
          <p:cNvSpPr/>
          <p:nvPr/>
        </p:nvSpPr>
        <p:spPr>
          <a:xfrm>
            <a:off x="457200" y="0"/>
            <a:ext cx="9143960" cy="731520"/>
          </a:xfrm>
          <a:prstGeom prst="rect">
            <a:avLst/>
          </a:prstGeom>
          <a:noFill/>
          <a:ln/>
        </p:spPr>
        <p:txBody>
          <a:bodyPr wrap="square" rtlCol="0" anchor="ctr"/>
          <a:lstStyle/>
          <a:p>
            <a:pPr marL="0" indent="0">
              <a:buNone/>
            </a:pPr>
            <a:r>
              <a:rPr lang="en-US" sz="3200" b="1" dirty="0">
                <a:solidFill>
                  <a:srgbClr val="FFFFFF"/>
                </a:solidFill>
              </a:rPr>
              <a:t>JHBI Roadmap — Payments v1</a:t>
            </a:r>
          </a:p>
        </p:txBody>
      </p:sp>
      <p:sp>
        <p:nvSpPr>
          <p:cNvPr id="5" name="Subtitle"/>
          <p:cNvSpPr/>
          <p:nvPr/>
        </p:nvSpPr>
        <p:spPr>
          <a:xfrm>
            <a:off x="457200" y="731520"/>
            <a:ext cx="11278080" cy="457200"/>
          </a:xfrm>
          <a:prstGeom prst="rect">
            <a:avLst/>
          </a:prstGeom>
          <a:noFill/>
          <a:ln/>
        </p:spPr>
        <p:txBody>
          <a:bodyPr wrap="square" rtlCol="0" anchor="ctr"/>
          <a:lstStyle/>
          <a:p>
            <a:pPr marL="0" indent="0">
              <a:buNone/>
            </a:pPr>
            <a:r>
              <a:rPr lang="en-US" sz="1300" i="1" dirty="0">
                <a:solidFill>
                  <a:srgbClr val="7B96B2"/>
                </a:solidFill>
              </a:rPr>
              <a:t>From design to general availability — targeting July 2026</a:t>
            </a:r>
          </a:p>
        </p:txBody>
      </p:sp>
      <p:sp>
        <p:nvSpPr>
          <p:cNvPr id="6" name="Timeline Bar"/>
          <p:cNvSpPr/>
          <p:nvPr/>
        </p:nvSpPr>
        <p:spPr>
          <a:xfrm>
            <a:off x="365760" y="2700000"/>
            <a:ext cx="11460480" cy="64008"/>
          </a:xfrm>
          <a:prstGeom prst="rect">
            <a:avLst/>
          </a:prstGeom>
          <a:solidFill>
            <a:srgbClr val="00A89D"/>
          </a:solidFill>
          <a:ln/>
        </p:spPr>
        <p:txBody>
          <a:bodyPr/>
          <a:lstStyle/>
          <a:p>
            <a:endParaRPr lang="en-US"/>
          </a:p>
        </p:txBody>
      </p:sp>
      <p:sp>
        <p:nvSpPr>
          <p:cNvPr id="10" name="P1 Card"/>
          <p:cNvSpPr/>
          <p:nvPr/>
        </p:nvSpPr>
        <p:spPr>
          <a:xfrm>
            <a:off x="365760" y="1380000"/>
            <a:ext cx="2100000" cy="516000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1" name="P1 Bar"/>
          <p:cNvSpPr/>
          <p:nvPr/>
        </p:nvSpPr>
        <p:spPr>
          <a:xfrm>
            <a:off x="365760" y="1380000"/>
            <a:ext cx="2100000" cy="64008"/>
          </a:xfrm>
          <a:prstGeom prst="rect">
            <a:avLst/>
          </a:prstGeom>
          <a:solidFill>
            <a:srgbClr val="00A89D"/>
          </a:solidFill>
          <a:ln/>
        </p:spPr>
        <p:txBody>
          <a:bodyPr/>
          <a:lstStyle/>
          <a:p>
            <a:endParaRPr lang="en-US"/>
          </a:p>
        </p:txBody>
      </p:sp>
      <p:sp>
        <p:nvSpPr>
          <p:cNvPr id="12" name="P1 Dot"/>
          <p:cNvSpPr/>
          <p:nvPr/>
        </p:nvSpPr>
        <p:spPr>
          <a:xfrm>
            <a:off x="1215760" y="2564000"/>
            <a:ext cx="274440" cy="274440"/>
          </a:xfrm>
          <a:prstGeom prst="ellipse">
            <a:avLst/>
          </a:prstGeom>
          <a:solidFill>
            <a:srgbClr val="0D2340"/>
          </a:solidFill>
          <a:ln w="38100">
            <a:solidFill>
              <a:srgbClr val="00A89D"/>
            </a:solidFill>
          </a:ln>
        </p:spPr>
        <p:txBody>
          <a:bodyPr/>
          <a:lstStyle/>
          <a:p>
            <a:endParaRPr lang="en-US"/>
          </a:p>
        </p:txBody>
      </p:sp>
      <p:sp>
        <p:nvSpPr>
          <p:cNvPr id="13" name="P1 Content"/>
          <p:cNvSpPr/>
          <p:nvPr/>
        </p:nvSpPr>
        <p:spPr>
          <a:xfrm>
            <a:off x="457200" y="1480000"/>
            <a:ext cx="1917120" cy="4980000"/>
          </a:xfrm>
          <a:prstGeom prst="rect">
            <a:avLst/>
          </a:prstGeom>
          <a:noFill/>
          <a:ln/>
        </p:spPr>
        <p:txBody>
          <a:bodyPr wrap="square" rtlCol="0" anchor="t"/>
          <a:lstStyle/>
          <a:p>
            <a:pPr marL="0" indent="0">
              <a:buNone/>
            </a:pPr>
            <a:r>
              <a:rPr lang="en-US" sz="1000" b="1" dirty="0">
                <a:solidFill>
                  <a:srgbClr val="00A89D"/>
                </a:solidFill>
              </a:rPr>
              <a:t>NOW — FEB 2026</a:t>
            </a:r>
          </a:p>
          <a:p>
            <a:pPr marL="0" indent="0">
              <a:buNone/>
            </a:pPr>
            <a:r>
              <a:rPr lang="en-US" sz="1300" b="1" dirty="0">
                <a:solidFill>
                  <a:srgbClr val="0D2340"/>
                </a:solidFill>
              </a:rPr>
              <a:t>Architecture &amp; Design</a:t>
            </a:r>
          </a:p>
          <a:p>
            <a:pPr marL="0" indent="0">
              <a:buNone/>
            </a:pPr>
            <a:endParaRPr lang="en-US" sz="900" dirty="0"/>
          </a:p>
          <a:p>
            <a:pPr marL="0" indent="0">
              <a:buNone/>
            </a:pPr>
            <a:r>
              <a:rPr lang="en-US" sz="1000" dirty="0">
                <a:solidFill>
                  <a:srgbClr val="2C4A6E"/>
                </a:solidFill>
              </a:rPr>
              <a:t>• Medallion architecture finalized</a:t>
            </a:r>
          </a:p>
          <a:p>
            <a:pPr marL="0" indent="0">
              <a:buNone/>
            </a:pPr>
            <a:r>
              <a:rPr lang="en-US" sz="1000" dirty="0">
                <a:solidFill>
                  <a:srgbClr val="2C4A6E"/>
                </a:solidFill>
              </a:rPr>
              <a:t>• Payments unified schema designed</a:t>
            </a:r>
          </a:p>
          <a:p>
            <a:pPr marL="0" indent="0">
              <a:buNone/>
            </a:pPr>
            <a:r>
              <a:rPr lang="en-US" sz="1000" dirty="0">
                <a:solidFill>
                  <a:srgbClr val="2C4A6E"/>
                </a:solidFill>
              </a:rPr>
              <a:t>• Source system &amp; CDC mapping</a:t>
            </a:r>
          </a:p>
          <a:p>
            <a:pPr marL="0" indent="0">
              <a:buNone/>
            </a:pPr>
            <a:r>
              <a:rPr lang="en-US" sz="1000" dirty="0">
                <a:solidFill>
                  <a:srgbClr val="2C4A6E"/>
                </a:solidFill>
              </a:rPr>
              <a:t>• GCP cloud environment provisioned</a:t>
            </a:r>
          </a:p>
        </p:txBody>
      </p:sp>
      <p:sp>
        <p:nvSpPr>
          <p:cNvPr id="20" name="P2 Card"/>
          <p:cNvSpPr/>
          <p:nvPr/>
        </p:nvSpPr>
        <p:spPr>
          <a:xfrm>
            <a:off x="2705760" y="1380000"/>
            <a:ext cx="2100000" cy="516000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1" name="P2 Bar"/>
          <p:cNvSpPr/>
          <p:nvPr/>
        </p:nvSpPr>
        <p:spPr>
          <a:xfrm>
            <a:off x="2705760" y="1380000"/>
            <a:ext cx="2100000" cy="64008"/>
          </a:xfrm>
          <a:prstGeom prst="rect">
            <a:avLst/>
          </a:prstGeom>
          <a:solidFill>
            <a:srgbClr val="00A89D"/>
          </a:solidFill>
          <a:ln/>
        </p:spPr>
        <p:txBody>
          <a:bodyPr/>
          <a:lstStyle/>
          <a:p>
            <a:endParaRPr lang="en-US"/>
          </a:p>
        </p:txBody>
      </p:sp>
      <p:sp>
        <p:nvSpPr>
          <p:cNvPr id="22" name="P2 Dot"/>
          <p:cNvSpPr/>
          <p:nvPr/>
        </p:nvSpPr>
        <p:spPr>
          <a:xfrm>
            <a:off x="3618540" y="2564000"/>
            <a:ext cx="274440" cy="274440"/>
          </a:xfrm>
          <a:prstGeom prst="ellipse">
            <a:avLst/>
          </a:prstGeom>
          <a:solidFill>
            <a:srgbClr val="0D2340"/>
          </a:solidFill>
          <a:ln w="38100">
            <a:solidFill>
              <a:srgbClr val="00A89D"/>
            </a:solidFill>
          </a:ln>
        </p:spPr>
        <p:txBody>
          <a:bodyPr/>
          <a:lstStyle/>
          <a:p>
            <a:endParaRPr lang="en-US"/>
          </a:p>
        </p:txBody>
      </p:sp>
      <p:sp>
        <p:nvSpPr>
          <p:cNvPr id="23" name="P2 Content"/>
          <p:cNvSpPr/>
          <p:nvPr/>
        </p:nvSpPr>
        <p:spPr>
          <a:xfrm>
            <a:off x="2797200" y="1480000"/>
            <a:ext cx="1917120" cy="4980000"/>
          </a:xfrm>
          <a:prstGeom prst="rect">
            <a:avLst/>
          </a:prstGeom>
          <a:noFill/>
          <a:ln/>
        </p:spPr>
        <p:txBody>
          <a:bodyPr wrap="square" rtlCol="0" anchor="t"/>
          <a:lstStyle/>
          <a:p>
            <a:pPr marL="0" indent="0">
              <a:buNone/>
            </a:pPr>
            <a:r>
              <a:rPr lang="en-US" sz="1000" b="1" dirty="0">
                <a:solidFill>
                  <a:srgbClr val="00A89D"/>
                </a:solidFill>
              </a:rPr>
              <a:t>MAR – APR 2026</a:t>
            </a:r>
          </a:p>
          <a:p>
            <a:pPr marL="0" indent="0">
              <a:buNone/>
            </a:pPr>
            <a:r>
              <a:rPr lang="en-US" sz="1300" b="1" dirty="0">
                <a:solidFill>
                  <a:srgbClr val="0D2340"/>
                </a:solidFill>
              </a:rPr>
              <a:t>Data Engineering</a:t>
            </a:r>
          </a:p>
          <a:p>
            <a:pPr marL="0" indent="0">
              <a:buNone/>
            </a:pPr>
            <a:endParaRPr lang="en-US" sz="900" dirty="0"/>
          </a:p>
          <a:p>
            <a:pPr marL="0" indent="0">
              <a:buNone/>
            </a:pPr>
            <a:r>
              <a:rPr lang="en-US" sz="1000" dirty="0">
                <a:solidFill>
                  <a:srgbClr val="2C4A6E"/>
                </a:solidFill>
              </a:rPr>
              <a:t>• CDC pipelines live from payment apps</a:t>
            </a:r>
          </a:p>
          <a:p>
            <a:pPr marL="0" indent="0">
              <a:buNone/>
            </a:pPr>
            <a:r>
              <a:rPr lang="en-US" sz="1000" dirty="0">
                <a:solidFill>
                  <a:srgbClr val="2C4A6E"/>
                </a:solidFill>
              </a:rPr>
              <a:t>• Bronze zone ingestion validated</a:t>
            </a:r>
          </a:p>
          <a:p>
            <a:pPr marL="0" indent="0">
              <a:buNone/>
            </a:pPr>
            <a:r>
              <a:rPr lang="en-US" sz="1000" dirty="0">
                <a:solidFill>
                  <a:srgbClr val="2C4A6E"/>
                </a:solidFill>
              </a:rPr>
              <a:t>• PII / PAN tokenization at ingestion</a:t>
            </a:r>
          </a:p>
          <a:p>
            <a:pPr marL="0" indent="0">
              <a:buNone/>
            </a:pPr>
            <a:r>
              <a:rPr lang="en-US" sz="1000" dirty="0">
                <a:solidFill>
                  <a:srgbClr val="2C4A6E"/>
                </a:solidFill>
              </a:rPr>
              <a:t>• Multi-tenant FI isolation enforced</a:t>
            </a:r>
          </a:p>
        </p:txBody>
      </p:sp>
      <p:sp>
        <p:nvSpPr>
          <p:cNvPr id="30" name="P3 Card"/>
          <p:cNvSpPr/>
          <p:nvPr/>
        </p:nvSpPr>
        <p:spPr>
          <a:xfrm>
            <a:off x="5045760" y="1380000"/>
            <a:ext cx="2100000" cy="516000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31" name="P3 Bar"/>
          <p:cNvSpPr/>
          <p:nvPr/>
        </p:nvSpPr>
        <p:spPr>
          <a:xfrm>
            <a:off x="5045760" y="1380000"/>
            <a:ext cx="2100000" cy="64008"/>
          </a:xfrm>
          <a:prstGeom prst="rect">
            <a:avLst/>
          </a:prstGeom>
          <a:solidFill>
            <a:srgbClr val="00A89D"/>
          </a:solidFill>
          <a:ln/>
        </p:spPr>
        <p:txBody>
          <a:bodyPr/>
          <a:lstStyle/>
          <a:p>
            <a:endParaRPr lang="en-US"/>
          </a:p>
        </p:txBody>
      </p:sp>
      <p:sp>
        <p:nvSpPr>
          <p:cNvPr id="32" name="P3 Dot"/>
          <p:cNvSpPr/>
          <p:nvPr/>
        </p:nvSpPr>
        <p:spPr>
          <a:xfrm>
            <a:off x="5958540" y="2564000"/>
            <a:ext cx="274440" cy="274440"/>
          </a:xfrm>
          <a:prstGeom prst="ellipse">
            <a:avLst/>
          </a:prstGeom>
          <a:solidFill>
            <a:srgbClr val="0D2340"/>
          </a:solidFill>
          <a:ln w="38100">
            <a:solidFill>
              <a:srgbClr val="00A89D"/>
            </a:solidFill>
          </a:ln>
        </p:spPr>
        <p:txBody>
          <a:bodyPr/>
          <a:lstStyle/>
          <a:p>
            <a:endParaRPr lang="en-US"/>
          </a:p>
        </p:txBody>
      </p:sp>
      <p:sp>
        <p:nvSpPr>
          <p:cNvPr id="33" name="P3 Content"/>
          <p:cNvSpPr/>
          <p:nvPr/>
        </p:nvSpPr>
        <p:spPr>
          <a:xfrm>
            <a:off x="5137200" y="1480000"/>
            <a:ext cx="1917120" cy="4980000"/>
          </a:xfrm>
          <a:prstGeom prst="rect">
            <a:avLst/>
          </a:prstGeom>
          <a:noFill/>
          <a:ln/>
        </p:spPr>
        <p:txBody>
          <a:bodyPr wrap="square" rtlCol="0" anchor="t"/>
          <a:lstStyle/>
          <a:p>
            <a:pPr marL="0" indent="0">
              <a:buNone/>
            </a:pPr>
            <a:r>
              <a:rPr lang="en-US" sz="1000" b="1" dirty="0">
                <a:solidFill>
                  <a:srgbClr val="00A89D"/>
                </a:solidFill>
              </a:rPr>
              <a:t>APR – MAY 2026</a:t>
            </a:r>
          </a:p>
          <a:p>
            <a:pPr marL="0" indent="0">
              <a:buNone/>
            </a:pPr>
            <a:r>
              <a:rPr lang="en-US" sz="1300" b="1" dirty="0">
                <a:solidFill>
                  <a:srgbClr val="0D2340"/>
                </a:solidFill>
              </a:rPr>
              <a:t>Platform Build</a:t>
            </a:r>
          </a:p>
          <a:p>
            <a:pPr marL="0" indent="0">
              <a:buNone/>
            </a:pPr>
            <a:endParaRPr lang="en-US" sz="900" dirty="0"/>
          </a:p>
          <a:p>
            <a:pPr marL="0" indent="0">
              <a:buNone/>
            </a:pPr>
            <a:r>
              <a:rPr lang="en-US" sz="1000" dirty="0">
                <a:solidFill>
                  <a:srgbClr val="2C4A6E"/>
                </a:solidFill>
              </a:rPr>
              <a:t>• Silver &amp; Gold zones built</a:t>
            </a:r>
          </a:p>
          <a:p>
            <a:pPr marL="0" indent="0">
              <a:buNone/>
            </a:pPr>
            <a:r>
              <a:rPr lang="en-US" sz="1000" dirty="0">
                <a:solidFill>
                  <a:srgbClr val="2C4A6E"/>
                </a:solidFill>
              </a:rPr>
              <a:t>• Identity Resolution integrated</a:t>
            </a:r>
          </a:p>
          <a:p>
            <a:pPr marL="0" indent="0">
              <a:buNone/>
            </a:pPr>
            <a:r>
              <a:rPr lang="en-US" sz="1000" dirty="0">
                <a:solidFill>
                  <a:srgbClr val="2C4A6E"/>
                </a:solidFill>
              </a:rPr>
              <a:t>• Self-service portal &amp; data catalog</a:t>
            </a:r>
          </a:p>
          <a:p>
            <a:pPr marL="0" indent="0">
              <a:buNone/>
            </a:pPr>
            <a:r>
              <a:rPr lang="en-US" sz="1000" dirty="0">
                <a:solidFill>
                  <a:srgbClr val="2C4A6E"/>
                </a:solidFill>
              </a:rPr>
              <a:t>• AI query builder &amp; pre-built models</a:t>
            </a:r>
          </a:p>
        </p:txBody>
      </p:sp>
      <p:sp>
        <p:nvSpPr>
          <p:cNvPr id="40" name="P4 Card"/>
          <p:cNvSpPr/>
          <p:nvPr/>
        </p:nvSpPr>
        <p:spPr>
          <a:xfrm>
            <a:off x="7385760" y="1380000"/>
            <a:ext cx="2100000" cy="516000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41" name="P4 Bar"/>
          <p:cNvSpPr/>
          <p:nvPr/>
        </p:nvSpPr>
        <p:spPr>
          <a:xfrm>
            <a:off x="7385760" y="1380000"/>
            <a:ext cx="2100000" cy="64008"/>
          </a:xfrm>
          <a:prstGeom prst="rect">
            <a:avLst/>
          </a:prstGeom>
          <a:solidFill>
            <a:srgbClr val="00A89D"/>
          </a:solidFill>
          <a:ln/>
        </p:spPr>
        <p:txBody>
          <a:bodyPr/>
          <a:lstStyle/>
          <a:p>
            <a:endParaRPr lang="en-US"/>
          </a:p>
        </p:txBody>
      </p:sp>
      <p:sp>
        <p:nvSpPr>
          <p:cNvPr id="42" name="P4 Dot"/>
          <p:cNvSpPr/>
          <p:nvPr/>
        </p:nvSpPr>
        <p:spPr>
          <a:xfrm>
            <a:off x="8298540" y="2564000"/>
            <a:ext cx="274440" cy="274440"/>
          </a:xfrm>
          <a:prstGeom prst="ellipse">
            <a:avLst/>
          </a:prstGeom>
          <a:solidFill>
            <a:srgbClr val="0D2340"/>
          </a:solidFill>
          <a:ln w="38100">
            <a:solidFill>
              <a:srgbClr val="00A89D"/>
            </a:solidFill>
          </a:ln>
        </p:spPr>
        <p:txBody>
          <a:bodyPr/>
          <a:lstStyle/>
          <a:p>
            <a:endParaRPr lang="en-US"/>
          </a:p>
        </p:txBody>
      </p:sp>
      <p:sp>
        <p:nvSpPr>
          <p:cNvPr id="43" name="P4 Content"/>
          <p:cNvSpPr/>
          <p:nvPr/>
        </p:nvSpPr>
        <p:spPr>
          <a:xfrm>
            <a:off x="7477200" y="1480000"/>
            <a:ext cx="1917120" cy="4980000"/>
          </a:xfrm>
          <a:prstGeom prst="rect">
            <a:avLst/>
          </a:prstGeom>
          <a:noFill/>
          <a:ln/>
        </p:spPr>
        <p:txBody>
          <a:bodyPr wrap="square" rtlCol="0" anchor="t"/>
          <a:lstStyle/>
          <a:p>
            <a:pPr marL="0" indent="0">
              <a:buNone/>
            </a:pPr>
            <a:r>
              <a:rPr lang="en-US" sz="1000" b="1" dirty="0">
                <a:solidFill>
                  <a:srgbClr val="00A89D"/>
                </a:solidFill>
              </a:rPr>
              <a:t>MAY – JUN 2026</a:t>
            </a:r>
          </a:p>
          <a:p>
            <a:pPr marL="0" indent="0">
              <a:buNone/>
            </a:pPr>
            <a:r>
              <a:rPr lang="en-US" sz="1300" b="1" dirty="0">
                <a:solidFill>
                  <a:srgbClr val="0D2340"/>
                </a:solidFill>
              </a:rPr>
              <a:t>Beta &amp; Pilot</a:t>
            </a:r>
          </a:p>
          <a:p>
            <a:pPr marL="0" indent="0">
              <a:buNone/>
            </a:pPr>
            <a:endParaRPr lang="en-US" sz="900" dirty="0"/>
          </a:p>
          <a:p>
            <a:pPr marL="0" indent="0">
              <a:buNone/>
            </a:pPr>
            <a:r>
              <a:rPr lang="en-US" sz="1000" dirty="0">
                <a:solidFill>
                  <a:srgbClr val="2C4A6E"/>
                </a:solidFill>
              </a:rPr>
              <a:t>• Limited FI beta access</a:t>
            </a:r>
          </a:p>
          <a:p>
            <a:pPr marL="0" indent="0">
              <a:buNone/>
            </a:pPr>
            <a:r>
              <a:rPr lang="en-US" sz="1000" dirty="0">
                <a:solidFill>
                  <a:srgbClr val="2C4A6E"/>
                </a:solidFill>
              </a:rPr>
              <a:t>• Data model refinement &amp; QA</a:t>
            </a:r>
          </a:p>
          <a:p>
            <a:pPr marL="0" indent="0">
              <a:buNone/>
            </a:pPr>
            <a:r>
              <a:rPr lang="en-US" sz="1000" dirty="0">
                <a:solidFill>
                  <a:srgbClr val="2C4A6E"/>
                </a:solidFill>
              </a:rPr>
              <a:t>• Onboarding &amp; training materials</a:t>
            </a:r>
          </a:p>
          <a:p>
            <a:pPr marL="0" indent="0">
              <a:buNone/>
            </a:pPr>
            <a:r>
              <a:rPr lang="en-US" sz="1000" dirty="0">
                <a:solidFill>
                  <a:srgbClr val="2C4A6E"/>
                </a:solidFill>
              </a:rPr>
              <a:t>• Performance &amp; scalability testing</a:t>
            </a:r>
          </a:p>
        </p:txBody>
      </p:sp>
      <p:sp>
        <p:nvSpPr>
          <p:cNvPr id="50" name="P5 Card"/>
          <p:cNvSpPr/>
          <p:nvPr/>
        </p:nvSpPr>
        <p:spPr>
          <a:xfrm>
            <a:off x="9725760" y="1380000"/>
            <a:ext cx="2100000" cy="5160000"/>
          </a:xfrm>
          <a:prstGeom prst="rect">
            <a:avLst/>
          </a:prstGeom>
          <a:solidFill>
            <a:srgbClr val="0D2340"/>
          </a:solidFill>
          <a:ln/>
        </p:spPr>
        <p:txBody>
          <a:bodyPr/>
          <a:lstStyle/>
          <a:p>
            <a:endParaRPr lang="en-US"/>
          </a:p>
        </p:txBody>
      </p:sp>
      <p:sp>
        <p:nvSpPr>
          <p:cNvPr id="51" name="P5 Bar"/>
          <p:cNvSpPr/>
          <p:nvPr/>
        </p:nvSpPr>
        <p:spPr>
          <a:xfrm>
            <a:off x="9725760" y="1380000"/>
            <a:ext cx="2100000" cy="64008"/>
          </a:xfrm>
          <a:prstGeom prst="rect">
            <a:avLst/>
          </a:prstGeom>
          <a:solidFill>
            <a:srgbClr val="F5A623"/>
          </a:solidFill>
          <a:ln/>
        </p:spPr>
        <p:txBody>
          <a:bodyPr/>
          <a:lstStyle/>
          <a:p>
            <a:endParaRPr lang="en-US"/>
          </a:p>
        </p:txBody>
      </p:sp>
      <p:sp>
        <p:nvSpPr>
          <p:cNvPr id="52" name="P5 Dot"/>
          <p:cNvSpPr/>
          <p:nvPr/>
        </p:nvSpPr>
        <p:spPr>
          <a:xfrm>
            <a:off x="10593540" y="2527000"/>
            <a:ext cx="347760" cy="347760"/>
          </a:xfrm>
          <a:prstGeom prst="ellipse">
            <a:avLst/>
          </a:prstGeom>
          <a:solidFill>
            <a:srgbClr val="F5A623"/>
          </a:solidFill>
          <a:ln w="57150">
            <a:solidFill>
              <a:srgbClr val="FFFFFF"/>
            </a:solidFill>
          </a:ln>
        </p:spPr>
        <p:txBody>
          <a:bodyPr/>
          <a:lstStyle/>
          <a:p>
            <a:endParaRPr lang="en-US"/>
          </a:p>
        </p:txBody>
      </p:sp>
      <p:sp>
        <p:nvSpPr>
          <p:cNvPr id="53" name="P5 Content"/>
          <p:cNvSpPr/>
          <p:nvPr/>
        </p:nvSpPr>
        <p:spPr>
          <a:xfrm>
            <a:off x="9817200" y="1480000"/>
            <a:ext cx="1917120" cy="4980000"/>
          </a:xfrm>
          <a:prstGeom prst="rect">
            <a:avLst/>
          </a:prstGeom>
          <a:noFill/>
          <a:ln/>
        </p:spPr>
        <p:txBody>
          <a:bodyPr wrap="square" rtlCol="0" anchor="t"/>
          <a:lstStyle/>
          <a:p>
            <a:pPr marL="0" indent="0">
              <a:buNone/>
            </a:pPr>
            <a:r>
              <a:rPr lang="en-US" sz="1000" b="1" dirty="0">
                <a:solidFill>
                  <a:srgbClr val="F5A623"/>
                </a:solidFill>
              </a:rPr>
              <a:t>JULY 2026</a:t>
            </a:r>
          </a:p>
          <a:p>
            <a:pPr marL="0" indent="0">
              <a:buNone/>
            </a:pPr>
            <a:r>
              <a:rPr lang="en-US" sz="1300" b="1" dirty="0">
                <a:solidFill>
                  <a:srgbClr val="FFFFFF"/>
                </a:solidFill>
              </a:rPr>
              <a:t>General Availability</a:t>
            </a:r>
          </a:p>
          <a:p>
            <a:pPr marL="0" indent="0">
              <a:buNone/>
            </a:pPr>
            <a:endParaRPr lang="en-US" sz="900" dirty="0"/>
          </a:p>
          <a:p>
            <a:pPr marL="0" indent="0">
              <a:buNone/>
            </a:pPr>
            <a:r>
              <a:rPr lang="en-US" sz="1000" dirty="0">
                <a:solidFill>
                  <a:srgbClr val="CADCFC"/>
                </a:solidFill>
              </a:rPr>
              <a:t>• JHBI Payments v1 GA</a:t>
            </a:r>
          </a:p>
          <a:p>
            <a:pPr marL="0" indent="0">
              <a:buNone/>
            </a:pPr>
            <a:r>
              <a:rPr lang="en-US" sz="1000" dirty="0">
                <a:solidFill>
                  <a:srgbClr val="CADCFC"/>
                </a:solidFill>
              </a:rPr>
              <a:t>• ACH, Wire, Bill Pay, RTP, Zelle, Card</a:t>
            </a:r>
          </a:p>
          <a:p>
            <a:pPr marL="0" indent="0">
              <a:buNone/>
            </a:pPr>
            <a:r>
              <a:rPr lang="en-US" sz="1000" dirty="0">
                <a:solidFill>
                  <a:srgbClr val="CADCFC"/>
                </a:solidFill>
              </a:rPr>
              <a:t>• Self-service portal open to all FIs</a:t>
            </a:r>
          </a:p>
          <a:p>
            <a:pPr marL="0" indent="0">
              <a:buNone/>
            </a:pPr>
            <a:r>
              <a:rPr lang="en-US" sz="1000" dirty="0">
                <a:solidFill>
                  <a:srgbClr val="CADCFC"/>
                </a:solidFill>
              </a:rPr>
              <a:t>• Next: deposits, loans, non-CPS card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D2340"/>
          </a:solidFill>
          <a:ln/>
        </p:spPr>
        <p:txBody>
          <a:bodyPr/>
          <a:lstStyle/>
          <a:p>
            <a:endParaRPr lang="en-US"/>
          </a:p>
        </p:txBody>
      </p:sp>
      <p:sp>
        <p:nvSpPr>
          <p:cNvPr id="3" name="Shape 1"/>
          <p:cNvSpPr/>
          <p:nvPr/>
        </p:nvSpPr>
        <p:spPr>
          <a:xfrm>
            <a:off x="0" y="1188720"/>
            <a:ext cx="12161520" cy="64008"/>
          </a:xfrm>
          <a:prstGeom prst="rect">
            <a:avLst/>
          </a:prstGeom>
          <a:solidFill>
            <a:srgbClr val="00A89D"/>
          </a:solidFill>
          <a:ln/>
        </p:spPr>
        <p:txBody>
          <a:bodyPr/>
          <a:lstStyle/>
          <a:p>
            <a:endParaRPr lang="en-US"/>
          </a:p>
        </p:txBody>
      </p:sp>
      <p:sp>
        <p:nvSpPr>
          <p:cNvPr id="4" name="Text 2"/>
          <p:cNvSpPr/>
          <p:nvPr/>
        </p:nvSpPr>
        <p:spPr>
          <a:xfrm>
            <a:off x="457200" y="0"/>
            <a:ext cx="9144000" cy="1188720"/>
          </a:xfrm>
          <a:prstGeom prst="rect">
            <a:avLst/>
          </a:prstGeom>
          <a:noFill/>
          <a:ln/>
        </p:spPr>
        <p:txBody>
          <a:bodyPr wrap="square" rtlCol="0" anchor="ctr"/>
          <a:lstStyle/>
          <a:p>
            <a:pPr marL="0" indent="0">
              <a:buNone/>
            </a:pPr>
            <a:r>
              <a:rPr lang="en-US" sz="3200" b="1" dirty="0">
                <a:solidFill>
                  <a:srgbClr val="FFFFFF"/>
                </a:solidFill>
              </a:rPr>
              <a:t>How It All Fits Together</a:t>
            </a:r>
            <a:endParaRPr lang="en-US" sz="3200" dirty="0"/>
          </a:p>
        </p:txBody>
      </p:sp>
      <p:sp>
        <p:nvSpPr>
          <p:cNvPr id="5" name="Text 3"/>
          <p:cNvSpPr/>
          <p:nvPr/>
        </p:nvSpPr>
        <p:spPr>
          <a:xfrm>
            <a:off x="457200" y="594360"/>
            <a:ext cx="9144000" cy="502920"/>
          </a:xfrm>
          <a:prstGeom prst="rect">
            <a:avLst/>
          </a:prstGeom>
          <a:noFill/>
          <a:ln/>
        </p:spPr>
        <p:txBody>
          <a:bodyPr wrap="square" rtlCol="0" anchor="ctr"/>
          <a:lstStyle/>
          <a:p>
            <a:pPr marL="0" indent="0">
              <a:buNone/>
            </a:pPr>
            <a:r>
              <a:rPr lang="en-US" sz="1400" dirty="0">
                <a:solidFill>
                  <a:srgbClr val="33BDB3"/>
                </a:solidFill>
              </a:rPr>
              <a:t>One connected data portfolio — from raw core data to executive insight.</a:t>
            </a:r>
            <a:endParaRPr lang="en-US" sz="1400" dirty="0"/>
          </a:p>
        </p:txBody>
      </p:sp>
      <p:sp>
        <p:nvSpPr>
          <p:cNvPr id="6" name="Shape 4"/>
          <p:cNvSpPr/>
          <p:nvPr/>
        </p:nvSpPr>
        <p:spPr>
          <a:xfrm>
            <a:off x="365760" y="1463040"/>
            <a:ext cx="11430000" cy="868680"/>
          </a:xfrm>
          <a:prstGeom prst="rect">
            <a:avLst/>
          </a:prstGeom>
          <a:solidFill>
            <a:srgbClr val="4A6080"/>
          </a:solidFill>
          <a:ln/>
        </p:spPr>
        <p:txBody>
          <a:bodyPr/>
          <a:lstStyle/>
          <a:p>
            <a:endParaRPr lang="en-US"/>
          </a:p>
        </p:txBody>
      </p:sp>
      <p:sp>
        <p:nvSpPr>
          <p:cNvPr id="7" name="Shape 5"/>
          <p:cNvSpPr/>
          <p:nvPr/>
        </p:nvSpPr>
        <p:spPr>
          <a:xfrm>
            <a:off x="365760" y="1463040"/>
            <a:ext cx="2194560" cy="256032"/>
          </a:xfrm>
          <a:prstGeom prst="rect">
            <a:avLst/>
          </a:prstGeom>
          <a:solidFill>
            <a:srgbClr val="0D2340"/>
          </a:solidFill>
          <a:ln/>
        </p:spPr>
        <p:txBody>
          <a:bodyPr/>
          <a:lstStyle/>
          <a:p>
            <a:endParaRPr lang="en-US"/>
          </a:p>
        </p:txBody>
      </p:sp>
      <p:sp>
        <p:nvSpPr>
          <p:cNvPr id="8" name="Text 6"/>
          <p:cNvSpPr/>
          <p:nvPr/>
        </p:nvSpPr>
        <p:spPr>
          <a:xfrm>
            <a:off x="365760" y="1463040"/>
            <a:ext cx="2194560" cy="256032"/>
          </a:xfrm>
          <a:prstGeom prst="rect">
            <a:avLst/>
          </a:prstGeom>
          <a:noFill/>
          <a:ln/>
        </p:spPr>
        <p:txBody>
          <a:bodyPr wrap="square" lIns="0" tIns="0" rIns="0" bIns="0" rtlCol="0" anchor="ctr"/>
          <a:lstStyle/>
          <a:p>
            <a:pPr marL="0" indent="0" algn="ctr">
              <a:buNone/>
            </a:pPr>
            <a:r>
              <a:rPr lang="en-US" sz="750" b="1" dirty="0">
                <a:solidFill>
                  <a:srgbClr val="33BDB3"/>
                </a:solidFill>
              </a:rPr>
              <a:t>LAYER 1 — SOURCE DATA</a:t>
            </a:r>
            <a:endParaRPr lang="en-US" sz="750" dirty="0"/>
          </a:p>
        </p:txBody>
      </p:sp>
      <p:pic>
        <p:nvPicPr>
          <p:cNvPr id="9" name="Image 0" descr="preencoded.png"/>
          <p:cNvPicPr>
            <a:picLocks noChangeAspect="1"/>
          </p:cNvPicPr>
          <p:nvPr/>
        </p:nvPicPr>
        <p:blipFill>
          <a:blip r:embed="rId3"/>
          <a:stretch>
            <a:fillRect/>
          </a:stretch>
        </p:blipFill>
        <p:spPr>
          <a:xfrm>
            <a:off x="502920" y="1764792"/>
            <a:ext cx="411480" cy="411480"/>
          </a:xfrm>
          <a:prstGeom prst="rect">
            <a:avLst/>
          </a:prstGeom>
        </p:spPr>
      </p:pic>
      <p:sp>
        <p:nvSpPr>
          <p:cNvPr id="10" name="Text 7"/>
          <p:cNvSpPr/>
          <p:nvPr/>
        </p:nvSpPr>
        <p:spPr>
          <a:xfrm>
            <a:off x="1051560" y="1709928"/>
            <a:ext cx="3474720" cy="347472"/>
          </a:xfrm>
          <a:prstGeom prst="rect">
            <a:avLst/>
          </a:prstGeom>
          <a:noFill/>
          <a:ln/>
        </p:spPr>
        <p:txBody>
          <a:bodyPr wrap="square" rtlCol="0" anchor="ctr"/>
          <a:lstStyle/>
          <a:p>
            <a:pPr marL="0" indent="0">
              <a:buNone/>
            </a:pPr>
            <a:r>
              <a:rPr lang="en-US" sz="1400" b="1" dirty="0">
                <a:solidFill>
                  <a:srgbClr val="FFFFFF"/>
                </a:solidFill>
              </a:rPr>
              <a:t>Jack Henry Core Systems</a:t>
            </a:r>
            <a:endParaRPr lang="en-US" sz="1400" dirty="0"/>
          </a:p>
        </p:txBody>
      </p:sp>
      <p:sp>
        <p:nvSpPr>
          <p:cNvPr id="11" name="Text 8"/>
          <p:cNvSpPr/>
          <p:nvPr/>
        </p:nvSpPr>
        <p:spPr>
          <a:xfrm>
            <a:off x="1051560" y="2011680"/>
            <a:ext cx="10424160" cy="274320"/>
          </a:xfrm>
          <a:prstGeom prst="rect">
            <a:avLst/>
          </a:prstGeom>
          <a:noFill/>
          <a:ln/>
        </p:spPr>
        <p:txBody>
          <a:bodyPr wrap="square" rtlCol="0" anchor="ctr"/>
          <a:lstStyle/>
          <a:p>
            <a:pPr marL="0" indent="0">
              <a:buNone/>
            </a:pPr>
            <a:r>
              <a:rPr lang="en-US" sz="1050" dirty="0">
                <a:solidFill>
                  <a:srgbClr val="FFFFFF"/>
                </a:solidFill>
              </a:rPr>
              <a:t>SilverLake  ·  Symitar  ·  Banno Digital  ·  Payments  ·  Wires  ·  Compliance</a:t>
            </a:r>
            <a:endParaRPr lang="en-US" sz="1050" dirty="0"/>
          </a:p>
        </p:txBody>
      </p:sp>
      <p:sp>
        <p:nvSpPr>
          <p:cNvPr id="12" name="Shape 9"/>
          <p:cNvSpPr/>
          <p:nvPr/>
        </p:nvSpPr>
        <p:spPr>
          <a:xfrm>
            <a:off x="5852160" y="2331720"/>
            <a:ext cx="457200" cy="109728"/>
          </a:xfrm>
          <a:prstGeom prst="rect">
            <a:avLst/>
          </a:prstGeom>
          <a:solidFill>
            <a:srgbClr val="00A89D"/>
          </a:solidFill>
          <a:ln/>
        </p:spPr>
        <p:txBody>
          <a:bodyPr/>
          <a:lstStyle/>
          <a:p>
            <a:endParaRPr lang="en-US"/>
          </a:p>
        </p:txBody>
      </p:sp>
      <p:sp>
        <p:nvSpPr>
          <p:cNvPr id="13" name="Shape 10"/>
          <p:cNvSpPr/>
          <p:nvPr/>
        </p:nvSpPr>
        <p:spPr>
          <a:xfrm>
            <a:off x="365760" y="2542032"/>
            <a:ext cx="11430000" cy="868680"/>
          </a:xfrm>
          <a:prstGeom prst="rect">
            <a:avLst/>
          </a:prstGeom>
          <a:solidFill>
            <a:srgbClr val="163354"/>
          </a:solidFill>
          <a:ln/>
        </p:spPr>
        <p:txBody>
          <a:bodyPr/>
          <a:lstStyle/>
          <a:p>
            <a:endParaRPr lang="en-US"/>
          </a:p>
        </p:txBody>
      </p:sp>
      <p:sp>
        <p:nvSpPr>
          <p:cNvPr id="14" name="Shape 11"/>
          <p:cNvSpPr/>
          <p:nvPr/>
        </p:nvSpPr>
        <p:spPr>
          <a:xfrm>
            <a:off x="365760" y="2542032"/>
            <a:ext cx="2194560" cy="256032"/>
          </a:xfrm>
          <a:prstGeom prst="rect">
            <a:avLst/>
          </a:prstGeom>
          <a:solidFill>
            <a:srgbClr val="0D2340"/>
          </a:solidFill>
          <a:ln/>
        </p:spPr>
        <p:txBody>
          <a:bodyPr/>
          <a:lstStyle/>
          <a:p>
            <a:endParaRPr lang="en-US"/>
          </a:p>
        </p:txBody>
      </p:sp>
      <p:sp>
        <p:nvSpPr>
          <p:cNvPr id="15" name="Text 12"/>
          <p:cNvSpPr/>
          <p:nvPr/>
        </p:nvSpPr>
        <p:spPr>
          <a:xfrm>
            <a:off x="365760" y="2542032"/>
            <a:ext cx="2194560" cy="256032"/>
          </a:xfrm>
          <a:prstGeom prst="rect">
            <a:avLst/>
          </a:prstGeom>
          <a:noFill/>
          <a:ln/>
        </p:spPr>
        <p:txBody>
          <a:bodyPr wrap="square" lIns="0" tIns="0" rIns="0" bIns="0" rtlCol="0" anchor="ctr"/>
          <a:lstStyle/>
          <a:p>
            <a:pPr marL="0" indent="0" algn="ctr">
              <a:buNone/>
            </a:pPr>
            <a:r>
              <a:rPr lang="en-US" sz="750" b="1" dirty="0">
                <a:solidFill>
                  <a:srgbClr val="33BDB3"/>
                </a:solidFill>
              </a:rPr>
              <a:t>LAYER 2 — DATA DELIVERY</a:t>
            </a:r>
            <a:endParaRPr lang="en-US" sz="750" dirty="0"/>
          </a:p>
        </p:txBody>
      </p:sp>
      <p:pic>
        <p:nvPicPr>
          <p:cNvPr id="16" name="Image 1" descr="preencoded.png"/>
          <p:cNvPicPr>
            <a:picLocks noChangeAspect="1"/>
          </p:cNvPicPr>
          <p:nvPr/>
        </p:nvPicPr>
        <p:blipFill>
          <a:blip r:embed="rId4"/>
          <a:stretch>
            <a:fillRect/>
          </a:stretch>
        </p:blipFill>
        <p:spPr>
          <a:xfrm>
            <a:off x="502920" y="2843784"/>
            <a:ext cx="411480" cy="411480"/>
          </a:xfrm>
          <a:prstGeom prst="rect">
            <a:avLst/>
          </a:prstGeom>
        </p:spPr>
      </p:pic>
      <p:sp>
        <p:nvSpPr>
          <p:cNvPr id="17" name="Text 13"/>
          <p:cNvSpPr/>
          <p:nvPr/>
        </p:nvSpPr>
        <p:spPr>
          <a:xfrm>
            <a:off x="1051560" y="2788920"/>
            <a:ext cx="3474720" cy="347472"/>
          </a:xfrm>
          <a:prstGeom prst="rect">
            <a:avLst/>
          </a:prstGeom>
          <a:noFill/>
          <a:ln/>
        </p:spPr>
        <p:txBody>
          <a:bodyPr wrap="square" rtlCol="0" anchor="ctr"/>
          <a:lstStyle/>
          <a:p>
            <a:pPr marL="0" indent="0">
              <a:buNone/>
            </a:pPr>
            <a:r>
              <a:rPr lang="en-US" sz="1400" b="1" dirty="0">
                <a:solidFill>
                  <a:srgbClr val="FFFFFF"/>
                </a:solidFill>
              </a:rPr>
              <a:t>DataHub</a:t>
            </a:r>
            <a:endParaRPr lang="en-US" sz="1400" dirty="0"/>
          </a:p>
        </p:txBody>
      </p:sp>
      <p:sp>
        <p:nvSpPr>
          <p:cNvPr id="18" name="Text 14"/>
          <p:cNvSpPr/>
          <p:nvPr/>
        </p:nvSpPr>
        <p:spPr>
          <a:xfrm>
            <a:off x="1051560" y="3090672"/>
            <a:ext cx="10424160" cy="274320"/>
          </a:xfrm>
          <a:prstGeom prst="rect">
            <a:avLst/>
          </a:prstGeom>
          <a:noFill/>
          <a:ln/>
        </p:spPr>
        <p:txBody>
          <a:bodyPr wrap="square" rtlCol="0" anchor="ctr"/>
          <a:lstStyle/>
          <a:p>
            <a:pPr marL="0" indent="0">
              <a:buNone/>
            </a:pPr>
            <a:r>
              <a:rPr lang="en-US" sz="1050" dirty="0">
                <a:solidFill>
                  <a:srgbClr val="FFFFFF"/>
                </a:solidFill>
              </a:rPr>
              <a:t>Monthly batch feeds of raw, canonicalized, and dereference data → delivered to your Google BigQuery dataset</a:t>
            </a:r>
            <a:endParaRPr lang="en-US" sz="1050" dirty="0"/>
          </a:p>
        </p:txBody>
      </p:sp>
      <p:sp>
        <p:nvSpPr>
          <p:cNvPr id="19" name="Shape 15"/>
          <p:cNvSpPr/>
          <p:nvPr/>
        </p:nvSpPr>
        <p:spPr>
          <a:xfrm>
            <a:off x="5852160" y="3410712"/>
            <a:ext cx="457200" cy="109728"/>
          </a:xfrm>
          <a:prstGeom prst="rect">
            <a:avLst/>
          </a:prstGeom>
          <a:solidFill>
            <a:srgbClr val="00A89D"/>
          </a:solidFill>
          <a:ln/>
        </p:spPr>
        <p:txBody>
          <a:bodyPr/>
          <a:lstStyle/>
          <a:p>
            <a:endParaRPr lang="en-US"/>
          </a:p>
        </p:txBody>
      </p:sp>
      <p:sp>
        <p:nvSpPr>
          <p:cNvPr id="20" name="Shape 16"/>
          <p:cNvSpPr/>
          <p:nvPr/>
        </p:nvSpPr>
        <p:spPr>
          <a:xfrm>
            <a:off x="365760" y="3621024"/>
            <a:ext cx="11430000" cy="868680"/>
          </a:xfrm>
          <a:prstGeom prst="rect">
            <a:avLst/>
          </a:prstGeom>
          <a:solidFill>
            <a:srgbClr val="0C5C6E"/>
          </a:solidFill>
          <a:ln/>
        </p:spPr>
        <p:txBody>
          <a:bodyPr/>
          <a:lstStyle/>
          <a:p>
            <a:endParaRPr lang="en-US"/>
          </a:p>
        </p:txBody>
      </p:sp>
      <p:sp>
        <p:nvSpPr>
          <p:cNvPr id="21" name="Shape 17"/>
          <p:cNvSpPr/>
          <p:nvPr/>
        </p:nvSpPr>
        <p:spPr>
          <a:xfrm>
            <a:off x="365760" y="3621024"/>
            <a:ext cx="2194560" cy="256032"/>
          </a:xfrm>
          <a:prstGeom prst="rect">
            <a:avLst/>
          </a:prstGeom>
          <a:solidFill>
            <a:srgbClr val="0D2340"/>
          </a:solidFill>
          <a:ln/>
        </p:spPr>
        <p:txBody>
          <a:bodyPr/>
          <a:lstStyle/>
          <a:p>
            <a:endParaRPr lang="en-US"/>
          </a:p>
        </p:txBody>
      </p:sp>
      <p:sp>
        <p:nvSpPr>
          <p:cNvPr id="22" name="Text 18"/>
          <p:cNvSpPr/>
          <p:nvPr/>
        </p:nvSpPr>
        <p:spPr>
          <a:xfrm>
            <a:off x="365760" y="3621024"/>
            <a:ext cx="2194560" cy="256032"/>
          </a:xfrm>
          <a:prstGeom prst="rect">
            <a:avLst/>
          </a:prstGeom>
          <a:noFill/>
          <a:ln/>
        </p:spPr>
        <p:txBody>
          <a:bodyPr wrap="square" lIns="0" tIns="0" rIns="0" bIns="0" rtlCol="0" anchor="ctr"/>
          <a:lstStyle/>
          <a:p>
            <a:pPr marL="0" indent="0" algn="ctr">
              <a:buNone/>
            </a:pPr>
            <a:r>
              <a:rPr lang="en-US" sz="750" b="1" dirty="0">
                <a:solidFill>
                  <a:srgbClr val="33BDB3"/>
                </a:solidFill>
              </a:rPr>
              <a:t>LAYER 3 — ANALYTICS WAREHOUSE</a:t>
            </a:r>
            <a:endParaRPr lang="en-US" sz="750" dirty="0"/>
          </a:p>
        </p:txBody>
      </p:sp>
      <p:pic>
        <p:nvPicPr>
          <p:cNvPr id="23" name="Image 2" descr="preencoded.png"/>
          <p:cNvPicPr>
            <a:picLocks noChangeAspect="1"/>
          </p:cNvPicPr>
          <p:nvPr/>
        </p:nvPicPr>
        <p:blipFill>
          <a:blip r:embed="rId5"/>
          <a:stretch>
            <a:fillRect/>
          </a:stretch>
        </p:blipFill>
        <p:spPr>
          <a:xfrm>
            <a:off x="502920" y="3922776"/>
            <a:ext cx="411480" cy="411480"/>
          </a:xfrm>
          <a:prstGeom prst="rect">
            <a:avLst/>
          </a:prstGeom>
        </p:spPr>
      </p:pic>
      <p:sp>
        <p:nvSpPr>
          <p:cNvPr id="24" name="Text 19"/>
          <p:cNvSpPr/>
          <p:nvPr/>
        </p:nvSpPr>
        <p:spPr>
          <a:xfrm>
            <a:off x="1051560" y="3867912"/>
            <a:ext cx="3474720" cy="347472"/>
          </a:xfrm>
          <a:prstGeom prst="rect">
            <a:avLst/>
          </a:prstGeom>
          <a:noFill/>
          <a:ln/>
        </p:spPr>
        <p:txBody>
          <a:bodyPr wrap="square" rtlCol="0" anchor="ctr"/>
          <a:lstStyle/>
          <a:p>
            <a:pPr marL="0" indent="0">
              <a:buNone/>
            </a:pPr>
            <a:r>
              <a:rPr lang="en-US" sz="1400" b="1" dirty="0">
                <a:solidFill>
                  <a:srgbClr val="FFFFFF"/>
                </a:solidFill>
              </a:rPr>
              <a:t>JHKnow (Banks) &amp; ARCU (Credit Unions)</a:t>
            </a:r>
            <a:endParaRPr lang="en-US" sz="1400" dirty="0"/>
          </a:p>
        </p:txBody>
      </p:sp>
      <p:sp>
        <p:nvSpPr>
          <p:cNvPr id="25" name="Text 20"/>
          <p:cNvSpPr/>
          <p:nvPr/>
        </p:nvSpPr>
        <p:spPr>
          <a:xfrm>
            <a:off x="1051560" y="4169664"/>
            <a:ext cx="10424160" cy="274320"/>
          </a:xfrm>
          <a:prstGeom prst="rect">
            <a:avLst/>
          </a:prstGeom>
          <a:noFill/>
          <a:ln/>
        </p:spPr>
        <p:txBody>
          <a:bodyPr wrap="square" rtlCol="0" anchor="ctr"/>
          <a:lstStyle/>
          <a:p>
            <a:pPr marL="0" indent="0">
              <a:buNone/>
            </a:pPr>
            <a:r>
              <a:rPr lang="en-US" sz="1050" dirty="0">
                <a:solidFill>
                  <a:srgbClr val="FFFFFF"/>
                </a:solidFill>
              </a:rPr>
              <a:t>Pre-modeled data warehouse: accounts, transactions, customers, channels — structured and ready to query</a:t>
            </a:r>
            <a:endParaRPr lang="en-US" sz="1050" dirty="0"/>
          </a:p>
        </p:txBody>
      </p:sp>
      <p:sp>
        <p:nvSpPr>
          <p:cNvPr id="26" name="Shape 21"/>
          <p:cNvSpPr/>
          <p:nvPr/>
        </p:nvSpPr>
        <p:spPr>
          <a:xfrm>
            <a:off x="5852160" y="4489704"/>
            <a:ext cx="457200" cy="109728"/>
          </a:xfrm>
          <a:prstGeom prst="rect">
            <a:avLst/>
          </a:prstGeom>
          <a:solidFill>
            <a:srgbClr val="00A89D"/>
          </a:solidFill>
          <a:ln/>
        </p:spPr>
        <p:txBody>
          <a:bodyPr/>
          <a:lstStyle/>
          <a:p>
            <a:endParaRPr lang="en-US"/>
          </a:p>
        </p:txBody>
      </p:sp>
      <p:sp>
        <p:nvSpPr>
          <p:cNvPr id="27" name="Shape 22"/>
          <p:cNvSpPr/>
          <p:nvPr/>
        </p:nvSpPr>
        <p:spPr>
          <a:xfrm>
            <a:off x="365760" y="4700016"/>
            <a:ext cx="11430000" cy="868680"/>
          </a:xfrm>
          <a:prstGeom prst="rect">
            <a:avLst/>
          </a:prstGeom>
          <a:solidFill>
            <a:srgbClr val="00A89D"/>
          </a:solidFill>
          <a:ln/>
        </p:spPr>
        <p:txBody>
          <a:bodyPr/>
          <a:lstStyle/>
          <a:p>
            <a:endParaRPr lang="en-US"/>
          </a:p>
        </p:txBody>
      </p:sp>
      <p:sp>
        <p:nvSpPr>
          <p:cNvPr id="28" name="Shape 23"/>
          <p:cNvSpPr/>
          <p:nvPr/>
        </p:nvSpPr>
        <p:spPr>
          <a:xfrm>
            <a:off x="365760" y="4700016"/>
            <a:ext cx="2194560" cy="256032"/>
          </a:xfrm>
          <a:prstGeom prst="rect">
            <a:avLst/>
          </a:prstGeom>
          <a:solidFill>
            <a:srgbClr val="0D2340"/>
          </a:solidFill>
          <a:ln/>
        </p:spPr>
        <p:txBody>
          <a:bodyPr/>
          <a:lstStyle/>
          <a:p>
            <a:endParaRPr lang="en-US"/>
          </a:p>
        </p:txBody>
      </p:sp>
      <p:sp>
        <p:nvSpPr>
          <p:cNvPr id="29" name="Text 24"/>
          <p:cNvSpPr/>
          <p:nvPr/>
        </p:nvSpPr>
        <p:spPr>
          <a:xfrm>
            <a:off x="365760" y="4700016"/>
            <a:ext cx="2194560" cy="256032"/>
          </a:xfrm>
          <a:prstGeom prst="rect">
            <a:avLst/>
          </a:prstGeom>
          <a:noFill/>
          <a:ln/>
        </p:spPr>
        <p:txBody>
          <a:bodyPr wrap="square" lIns="0" tIns="0" rIns="0" bIns="0" rtlCol="0" anchor="ctr"/>
          <a:lstStyle/>
          <a:p>
            <a:pPr marL="0" indent="0" algn="ctr">
              <a:buNone/>
            </a:pPr>
            <a:r>
              <a:rPr lang="en-US" sz="750" b="1" dirty="0">
                <a:solidFill>
                  <a:srgbClr val="33BDB3"/>
                </a:solidFill>
              </a:rPr>
              <a:t>LAYER 4 — BUSINESS INTELLIGENCE</a:t>
            </a:r>
            <a:endParaRPr lang="en-US" sz="750" dirty="0"/>
          </a:p>
        </p:txBody>
      </p:sp>
      <p:pic>
        <p:nvPicPr>
          <p:cNvPr id="30" name="Image 3" descr="preencoded.png"/>
          <p:cNvPicPr>
            <a:picLocks noChangeAspect="1"/>
          </p:cNvPicPr>
          <p:nvPr/>
        </p:nvPicPr>
        <p:blipFill>
          <a:blip r:embed="rId6"/>
          <a:stretch>
            <a:fillRect/>
          </a:stretch>
        </p:blipFill>
        <p:spPr>
          <a:xfrm>
            <a:off x="502920" y="5001768"/>
            <a:ext cx="411480" cy="411480"/>
          </a:xfrm>
          <a:prstGeom prst="rect">
            <a:avLst/>
          </a:prstGeom>
        </p:spPr>
      </p:pic>
      <p:sp>
        <p:nvSpPr>
          <p:cNvPr id="31" name="Text 25"/>
          <p:cNvSpPr/>
          <p:nvPr/>
        </p:nvSpPr>
        <p:spPr>
          <a:xfrm>
            <a:off x="1051560" y="4946904"/>
            <a:ext cx="3474720" cy="347472"/>
          </a:xfrm>
          <a:prstGeom prst="rect">
            <a:avLst/>
          </a:prstGeom>
          <a:noFill/>
          <a:ln/>
        </p:spPr>
        <p:txBody>
          <a:bodyPr wrap="square" rtlCol="0" anchor="ctr"/>
          <a:lstStyle/>
          <a:p>
            <a:pPr marL="0" indent="0">
              <a:buNone/>
            </a:pPr>
            <a:r>
              <a:rPr lang="en-US" sz="1400" b="1" dirty="0">
                <a:solidFill>
                  <a:srgbClr val="FFFFFF"/>
                </a:solidFill>
              </a:rPr>
              <a:t>JHBI  ✦ New</a:t>
            </a:r>
            <a:endParaRPr lang="en-US" sz="1400" dirty="0"/>
          </a:p>
        </p:txBody>
      </p:sp>
      <p:sp>
        <p:nvSpPr>
          <p:cNvPr id="32" name="Text 26"/>
          <p:cNvSpPr/>
          <p:nvPr/>
        </p:nvSpPr>
        <p:spPr>
          <a:xfrm>
            <a:off x="1051560" y="5248656"/>
            <a:ext cx="10424160" cy="274320"/>
          </a:xfrm>
          <a:prstGeom prst="rect">
            <a:avLst/>
          </a:prstGeom>
          <a:noFill/>
          <a:ln/>
        </p:spPr>
        <p:txBody>
          <a:bodyPr wrap="square" rtlCol="0" anchor="ctr"/>
          <a:lstStyle/>
          <a:p>
            <a:pPr marL="0" indent="0">
              <a:buNone/>
            </a:pPr>
            <a:r>
              <a:rPr lang="en-US" sz="1050" dirty="0">
                <a:solidFill>
                  <a:srgbClr val="FFFFFF"/>
                </a:solidFill>
              </a:rPr>
              <a:t>Cloud DaaS platform: pre-built data models, self-service portal, AI query builder, Identity Resolution, data science apps — payments-first</a:t>
            </a:r>
            <a:endParaRPr lang="en-US" sz="1050" dirty="0"/>
          </a:p>
        </p:txBody>
      </p:sp>
      <p:sp>
        <p:nvSpPr>
          <p:cNvPr id="33" name="Shape 27"/>
          <p:cNvSpPr/>
          <p:nvPr/>
        </p:nvSpPr>
        <p:spPr>
          <a:xfrm>
            <a:off x="8869680" y="1463040"/>
            <a:ext cx="2926080" cy="4105656"/>
          </a:xfrm>
          <a:prstGeom prst="rect">
            <a:avLst/>
          </a:prstGeom>
          <a:solidFill>
            <a:srgbClr val="0D2340"/>
          </a:solidFill>
          <a:ln/>
        </p:spPr>
        <p:txBody>
          <a:bodyPr/>
          <a:lstStyle/>
          <a:p>
            <a:endParaRPr lang="en-US"/>
          </a:p>
        </p:txBody>
      </p:sp>
      <p:sp>
        <p:nvSpPr>
          <p:cNvPr id="34" name="Text 28"/>
          <p:cNvSpPr/>
          <p:nvPr/>
        </p:nvSpPr>
        <p:spPr>
          <a:xfrm>
            <a:off x="8869680" y="1828800"/>
            <a:ext cx="2926080" cy="822960"/>
          </a:xfrm>
          <a:prstGeom prst="rect">
            <a:avLst/>
          </a:prstGeom>
          <a:noFill/>
          <a:ln/>
        </p:spPr>
        <p:txBody>
          <a:bodyPr wrap="square" rtlCol="0" anchor="ctr"/>
          <a:lstStyle/>
          <a:p>
            <a:pPr marL="0" indent="0" algn="ctr">
              <a:buNone/>
            </a:pPr>
            <a:r>
              <a:rPr lang="en-US" sz="2200" b="1" dirty="0">
                <a:solidFill>
                  <a:srgbClr val="00A89D"/>
                </a:solidFill>
              </a:rPr>
              <a:t>THE</a:t>
            </a:r>
            <a:endParaRPr lang="en-US" sz="2200" dirty="0"/>
          </a:p>
          <a:p>
            <a:pPr marL="0" indent="0" algn="ctr">
              <a:buNone/>
            </a:pPr>
            <a:r>
              <a:rPr lang="en-US" sz="2200" b="1" dirty="0">
                <a:solidFill>
                  <a:srgbClr val="00A89D"/>
                </a:solidFill>
              </a:rPr>
              <a:t>OUTCOME</a:t>
            </a:r>
            <a:endParaRPr lang="en-US" sz="2200" dirty="0"/>
          </a:p>
        </p:txBody>
      </p:sp>
      <p:pic>
        <p:nvPicPr>
          <p:cNvPr id="35" name="Image 4" descr="preencoded.png"/>
          <p:cNvPicPr>
            <a:picLocks noChangeAspect="1"/>
          </p:cNvPicPr>
          <p:nvPr/>
        </p:nvPicPr>
        <p:blipFill>
          <a:blip r:embed="rId7"/>
          <a:stretch>
            <a:fillRect/>
          </a:stretch>
        </p:blipFill>
        <p:spPr>
          <a:xfrm>
            <a:off x="9098280" y="2788920"/>
            <a:ext cx="274320" cy="274320"/>
          </a:xfrm>
          <a:prstGeom prst="rect">
            <a:avLst/>
          </a:prstGeom>
        </p:spPr>
      </p:pic>
      <p:sp>
        <p:nvSpPr>
          <p:cNvPr id="36" name="Text 29"/>
          <p:cNvSpPr/>
          <p:nvPr/>
        </p:nvSpPr>
        <p:spPr>
          <a:xfrm>
            <a:off x="9464040" y="2761488"/>
            <a:ext cx="2194560" cy="347472"/>
          </a:xfrm>
          <a:prstGeom prst="rect">
            <a:avLst/>
          </a:prstGeom>
          <a:noFill/>
          <a:ln/>
        </p:spPr>
        <p:txBody>
          <a:bodyPr wrap="square" rtlCol="0" anchor="ctr"/>
          <a:lstStyle/>
          <a:p>
            <a:pPr marL="0" indent="0">
              <a:buNone/>
            </a:pPr>
            <a:r>
              <a:rPr lang="en-US" sz="1200" dirty="0">
                <a:solidFill>
                  <a:srgbClr val="FFFFFF"/>
                </a:solidFill>
              </a:rPr>
              <a:t>Faster decisions</a:t>
            </a:r>
            <a:endParaRPr lang="en-US" sz="1200" dirty="0"/>
          </a:p>
        </p:txBody>
      </p:sp>
      <p:pic>
        <p:nvPicPr>
          <p:cNvPr id="37" name="Image 5" descr="preencoded.png"/>
          <p:cNvPicPr>
            <a:picLocks noChangeAspect="1"/>
          </p:cNvPicPr>
          <p:nvPr/>
        </p:nvPicPr>
        <p:blipFill>
          <a:blip r:embed="rId7"/>
          <a:stretch>
            <a:fillRect/>
          </a:stretch>
        </p:blipFill>
        <p:spPr>
          <a:xfrm>
            <a:off x="9098280" y="3291840"/>
            <a:ext cx="274320" cy="274320"/>
          </a:xfrm>
          <a:prstGeom prst="rect">
            <a:avLst/>
          </a:prstGeom>
        </p:spPr>
      </p:pic>
      <p:sp>
        <p:nvSpPr>
          <p:cNvPr id="38" name="Text 30"/>
          <p:cNvSpPr/>
          <p:nvPr/>
        </p:nvSpPr>
        <p:spPr>
          <a:xfrm>
            <a:off x="9464040" y="3264408"/>
            <a:ext cx="2194560" cy="347472"/>
          </a:xfrm>
          <a:prstGeom prst="rect">
            <a:avLst/>
          </a:prstGeom>
          <a:noFill/>
          <a:ln/>
        </p:spPr>
        <p:txBody>
          <a:bodyPr wrap="square" rtlCol="0" anchor="ctr"/>
          <a:lstStyle/>
          <a:p>
            <a:pPr marL="0" indent="0">
              <a:buNone/>
            </a:pPr>
            <a:r>
              <a:rPr lang="en-US" sz="1200" dirty="0">
                <a:solidFill>
                  <a:srgbClr val="FFFFFF"/>
                </a:solidFill>
              </a:rPr>
              <a:t>Lower reporting costs</a:t>
            </a:r>
            <a:endParaRPr lang="en-US" sz="1200" dirty="0"/>
          </a:p>
        </p:txBody>
      </p:sp>
      <p:pic>
        <p:nvPicPr>
          <p:cNvPr id="39" name="Image 6" descr="preencoded.png"/>
          <p:cNvPicPr>
            <a:picLocks noChangeAspect="1"/>
          </p:cNvPicPr>
          <p:nvPr/>
        </p:nvPicPr>
        <p:blipFill>
          <a:blip r:embed="rId7"/>
          <a:stretch>
            <a:fillRect/>
          </a:stretch>
        </p:blipFill>
        <p:spPr>
          <a:xfrm>
            <a:off x="9098280" y="3794760"/>
            <a:ext cx="274320" cy="274320"/>
          </a:xfrm>
          <a:prstGeom prst="rect">
            <a:avLst/>
          </a:prstGeom>
        </p:spPr>
      </p:pic>
      <p:sp>
        <p:nvSpPr>
          <p:cNvPr id="40" name="Text 31"/>
          <p:cNvSpPr/>
          <p:nvPr/>
        </p:nvSpPr>
        <p:spPr>
          <a:xfrm>
            <a:off x="9464040" y="3767328"/>
            <a:ext cx="2194560" cy="347472"/>
          </a:xfrm>
          <a:prstGeom prst="rect">
            <a:avLst/>
          </a:prstGeom>
          <a:noFill/>
          <a:ln/>
        </p:spPr>
        <p:txBody>
          <a:bodyPr wrap="square" rtlCol="0" anchor="ctr"/>
          <a:lstStyle/>
          <a:p>
            <a:pPr marL="0" indent="0">
              <a:buNone/>
            </a:pPr>
            <a:r>
              <a:rPr lang="en-US" sz="1200" dirty="0">
                <a:solidFill>
                  <a:srgbClr val="FFFFFF"/>
                </a:solidFill>
              </a:rPr>
              <a:t>No data lake build</a:t>
            </a:r>
            <a:endParaRPr lang="en-US" sz="1200" dirty="0"/>
          </a:p>
        </p:txBody>
      </p:sp>
      <p:pic>
        <p:nvPicPr>
          <p:cNvPr id="41" name="Image 7" descr="preencoded.png"/>
          <p:cNvPicPr>
            <a:picLocks noChangeAspect="1"/>
          </p:cNvPicPr>
          <p:nvPr/>
        </p:nvPicPr>
        <p:blipFill>
          <a:blip r:embed="rId7"/>
          <a:stretch>
            <a:fillRect/>
          </a:stretch>
        </p:blipFill>
        <p:spPr>
          <a:xfrm>
            <a:off x="9098280" y="4297680"/>
            <a:ext cx="274320" cy="274320"/>
          </a:xfrm>
          <a:prstGeom prst="rect">
            <a:avLst/>
          </a:prstGeom>
        </p:spPr>
      </p:pic>
      <p:sp>
        <p:nvSpPr>
          <p:cNvPr id="42" name="Text 32"/>
          <p:cNvSpPr/>
          <p:nvPr/>
        </p:nvSpPr>
        <p:spPr>
          <a:xfrm>
            <a:off x="9464040" y="4270248"/>
            <a:ext cx="2194560" cy="347472"/>
          </a:xfrm>
          <a:prstGeom prst="rect">
            <a:avLst/>
          </a:prstGeom>
          <a:noFill/>
          <a:ln/>
        </p:spPr>
        <p:txBody>
          <a:bodyPr wrap="square" rtlCol="0" anchor="ctr"/>
          <a:lstStyle/>
          <a:p>
            <a:pPr marL="0" indent="0">
              <a:buNone/>
            </a:pPr>
            <a:r>
              <a:rPr lang="en-US" sz="1200" dirty="0">
                <a:solidFill>
                  <a:srgbClr val="FFFFFF"/>
                </a:solidFill>
              </a:rPr>
              <a:t>Data-driven products</a:t>
            </a:r>
            <a:endParaRPr lang="en-US" sz="1200" dirty="0"/>
          </a:p>
        </p:txBody>
      </p:sp>
      <p:pic>
        <p:nvPicPr>
          <p:cNvPr id="43" name="Image 8" descr="preencoded.png"/>
          <p:cNvPicPr>
            <a:picLocks noChangeAspect="1"/>
          </p:cNvPicPr>
          <p:nvPr/>
        </p:nvPicPr>
        <p:blipFill>
          <a:blip r:embed="rId7"/>
          <a:stretch>
            <a:fillRect/>
          </a:stretch>
        </p:blipFill>
        <p:spPr>
          <a:xfrm>
            <a:off x="9098280" y="4800600"/>
            <a:ext cx="274320" cy="274320"/>
          </a:xfrm>
          <a:prstGeom prst="rect">
            <a:avLst/>
          </a:prstGeom>
        </p:spPr>
      </p:pic>
      <p:sp>
        <p:nvSpPr>
          <p:cNvPr id="44" name="Text 33"/>
          <p:cNvSpPr/>
          <p:nvPr/>
        </p:nvSpPr>
        <p:spPr>
          <a:xfrm>
            <a:off x="9464040" y="4773168"/>
            <a:ext cx="2194560" cy="347472"/>
          </a:xfrm>
          <a:prstGeom prst="rect">
            <a:avLst/>
          </a:prstGeom>
          <a:noFill/>
          <a:ln/>
        </p:spPr>
        <p:txBody>
          <a:bodyPr wrap="square" rtlCol="0" anchor="ctr"/>
          <a:lstStyle/>
          <a:p>
            <a:pPr marL="0" indent="0">
              <a:buNone/>
            </a:pPr>
            <a:r>
              <a:rPr lang="en-US" sz="1200" dirty="0">
                <a:solidFill>
                  <a:srgbClr val="FFFFFF"/>
                </a:solidFill>
              </a:rPr>
              <a:t>Regulatory confidence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D2340"/>
          </a:solidFill>
          <a:ln/>
        </p:spPr>
        <p:txBody>
          <a:bodyPr/>
          <a:lstStyle/>
          <a:p>
            <a:endParaRPr lang="en-US"/>
          </a:p>
        </p:txBody>
      </p:sp>
      <p:sp>
        <p:nvSpPr>
          <p:cNvPr id="3" name="Shape 1"/>
          <p:cNvSpPr/>
          <p:nvPr/>
        </p:nvSpPr>
        <p:spPr>
          <a:xfrm>
            <a:off x="0" y="1188720"/>
            <a:ext cx="12161520" cy="64008"/>
          </a:xfrm>
          <a:prstGeom prst="rect">
            <a:avLst/>
          </a:prstGeom>
          <a:solidFill>
            <a:srgbClr val="00A89D"/>
          </a:solidFill>
          <a:ln/>
        </p:spPr>
        <p:txBody>
          <a:bodyPr/>
          <a:lstStyle/>
          <a:p>
            <a:endParaRPr lang="en-US"/>
          </a:p>
        </p:txBody>
      </p:sp>
      <p:sp>
        <p:nvSpPr>
          <p:cNvPr id="4" name="Text 2"/>
          <p:cNvSpPr/>
          <p:nvPr/>
        </p:nvSpPr>
        <p:spPr>
          <a:xfrm>
            <a:off x="457200" y="0"/>
            <a:ext cx="9144000" cy="1188720"/>
          </a:xfrm>
          <a:prstGeom prst="rect">
            <a:avLst/>
          </a:prstGeom>
          <a:noFill/>
          <a:ln/>
        </p:spPr>
        <p:txBody>
          <a:bodyPr wrap="square" rtlCol="0" anchor="ctr"/>
          <a:lstStyle/>
          <a:p>
            <a:pPr marL="0" indent="0">
              <a:buNone/>
            </a:pPr>
            <a:r>
              <a:rPr lang="en-US" sz="3200" b="1" dirty="0">
                <a:solidFill>
                  <a:srgbClr val="FFFFFF"/>
                </a:solidFill>
              </a:rPr>
              <a:t>Which Product Is Right for You?</a:t>
            </a:r>
            <a:endParaRPr lang="en-US" sz="3200" dirty="0"/>
          </a:p>
        </p:txBody>
      </p:sp>
      <p:sp>
        <p:nvSpPr>
          <p:cNvPr id="5" name="Shape 3"/>
          <p:cNvSpPr/>
          <p:nvPr/>
        </p:nvSpPr>
        <p:spPr>
          <a:xfrm>
            <a:off x="320040" y="1463040"/>
            <a:ext cx="2560320" cy="493776"/>
          </a:xfrm>
          <a:prstGeom prst="rect">
            <a:avLst/>
          </a:prstGeom>
          <a:solidFill>
            <a:srgbClr val="0D2340"/>
          </a:solidFill>
          <a:ln w="12700">
            <a:solidFill>
              <a:srgbClr val="D0D8E4"/>
            </a:solidFill>
            <a:prstDash val="solid"/>
          </a:ln>
        </p:spPr>
        <p:txBody>
          <a:bodyPr/>
          <a:lstStyle/>
          <a:p>
            <a:endParaRPr lang="en-US"/>
          </a:p>
        </p:txBody>
      </p:sp>
      <p:sp>
        <p:nvSpPr>
          <p:cNvPr id="6" name="Text 4"/>
          <p:cNvSpPr/>
          <p:nvPr/>
        </p:nvSpPr>
        <p:spPr>
          <a:xfrm>
            <a:off x="429768" y="1463040"/>
            <a:ext cx="2377440" cy="493776"/>
          </a:xfrm>
          <a:prstGeom prst="rect">
            <a:avLst/>
          </a:prstGeom>
          <a:noFill/>
          <a:ln/>
        </p:spPr>
        <p:txBody>
          <a:bodyPr wrap="square" rtlCol="0" anchor="ctr"/>
          <a:lstStyle/>
          <a:p>
            <a:pPr marL="0" indent="0">
              <a:buNone/>
            </a:pPr>
            <a:endParaRPr lang="en-US" sz="1300" dirty="0"/>
          </a:p>
        </p:txBody>
      </p:sp>
      <p:sp>
        <p:nvSpPr>
          <p:cNvPr id="7" name="Shape 5"/>
          <p:cNvSpPr/>
          <p:nvPr/>
        </p:nvSpPr>
        <p:spPr>
          <a:xfrm>
            <a:off x="2880360" y="1463040"/>
            <a:ext cx="2743200" cy="493776"/>
          </a:xfrm>
          <a:prstGeom prst="rect">
            <a:avLst/>
          </a:prstGeom>
          <a:solidFill>
            <a:srgbClr val="0D2340"/>
          </a:solidFill>
          <a:ln w="12700">
            <a:solidFill>
              <a:srgbClr val="D0D8E4"/>
            </a:solidFill>
            <a:prstDash val="solid"/>
          </a:ln>
        </p:spPr>
        <p:txBody>
          <a:bodyPr/>
          <a:lstStyle/>
          <a:p>
            <a:endParaRPr lang="en-US"/>
          </a:p>
        </p:txBody>
      </p:sp>
      <p:sp>
        <p:nvSpPr>
          <p:cNvPr id="8" name="Text 6"/>
          <p:cNvSpPr/>
          <p:nvPr/>
        </p:nvSpPr>
        <p:spPr>
          <a:xfrm>
            <a:off x="2990088" y="1463040"/>
            <a:ext cx="2560320" cy="493776"/>
          </a:xfrm>
          <a:prstGeom prst="rect">
            <a:avLst/>
          </a:prstGeom>
          <a:noFill/>
          <a:ln/>
        </p:spPr>
        <p:txBody>
          <a:bodyPr wrap="square" rtlCol="0" anchor="ctr"/>
          <a:lstStyle/>
          <a:p>
            <a:pPr marL="0" indent="0">
              <a:buNone/>
            </a:pPr>
            <a:r>
              <a:rPr lang="en-US" sz="1300" b="1" dirty="0">
                <a:solidFill>
                  <a:srgbClr val="FFFFFF"/>
                </a:solidFill>
              </a:rPr>
              <a:t>DataHub</a:t>
            </a:r>
            <a:endParaRPr lang="en-US" sz="1300" dirty="0"/>
          </a:p>
        </p:txBody>
      </p:sp>
      <p:sp>
        <p:nvSpPr>
          <p:cNvPr id="9" name="Shape 7"/>
          <p:cNvSpPr/>
          <p:nvPr/>
        </p:nvSpPr>
        <p:spPr>
          <a:xfrm>
            <a:off x="5623560" y="1463040"/>
            <a:ext cx="3017520" cy="493776"/>
          </a:xfrm>
          <a:prstGeom prst="rect">
            <a:avLst/>
          </a:prstGeom>
          <a:solidFill>
            <a:srgbClr val="0D2340"/>
          </a:solidFill>
          <a:ln w="12700">
            <a:solidFill>
              <a:srgbClr val="D0D8E4"/>
            </a:solidFill>
            <a:prstDash val="solid"/>
          </a:ln>
        </p:spPr>
        <p:txBody>
          <a:bodyPr/>
          <a:lstStyle/>
          <a:p>
            <a:endParaRPr lang="en-US"/>
          </a:p>
        </p:txBody>
      </p:sp>
      <p:sp>
        <p:nvSpPr>
          <p:cNvPr id="10" name="Text 8"/>
          <p:cNvSpPr/>
          <p:nvPr/>
        </p:nvSpPr>
        <p:spPr>
          <a:xfrm>
            <a:off x="5733288" y="1463040"/>
            <a:ext cx="2834640" cy="493776"/>
          </a:xfrm>
          <a:prstGeom prst="rect">
            <a:avLst/>
          </a:prstGeom>
          <a:noFill/>
          <a:ln/>
        </p:spPr>
        <p:txBody>
          <a:bodyPr wrap="square" rtlCol="0" anchor="ctr"/>
          <a:lstStyle/>
          <a:p>
            <a:pPr marL="0" indent="0">
              <a:buNone/>
            </a:pPr>
            <a:r>
              <a:rPr lang="en-US" sz="1300" b="1" dirty="0">
                <a:solidFill>
                  <a:srgbClr val="FFFFFF"/>
                </a:solidFill>
              </a:rPr>
              <a:t>JHKnow / ARCU</a:t>
            </a:r>
            <a:endParaRPr lang="en-US" sz="1300" dirty="0"/>
          </a:p>
        </p:txBody>
      </p:sp>
      <p:sp>
        <p:nvSpPr>
          <p:cNvPr id="11" name="Shape 9"/>
          <p:cNvSpPr/>
          <p:nvPr/>
        </p:nvSpPr>
        <p:spPr>
          <a:xfrm>
            <a:off x="8641080" y="1463040"/>
            <a:ext cx="3017520" cy="493776"/>
          </a:xfrm>
          <a:prstGeom prst="rect">
            <a:avLst/>
          </a:prstGeom>
          <a:solidFill>
            <a:srgbClr val="00A89D"/>
          </a:solidFill>
          <a:ln w="12700">
            <a:solidFill>
              <a:srgbClr val="D0D8E4"/>
            </a:solidFill>
            <a:prstDash val="solid"/>
          </a:ln>
        </p:spPr>
        <p:txBody>
          <a:bodyPr/>
          <a:lstStyle/>
          <a:p>
            <a:endParaRPr lang="en-US"/>
          </a:p>
        </p:txBody>
      </p:sp>
      <p:sp>
        <p:nvSpPr>
          <p:cNvPr id="12" name="Text 10"/>
          <p:cNvSpPr/>
          <p:nvPr/>
        </p:nvSpPr>
        <p:spPr>
          <a:xfrm>
            <a:off x="8750808" y="1463040"/>
            <a:ext cx="2834640" cy="493776"/>
          </a:xfrm>
          <a:prstGeom prst="rect">
            <a:avLst/>
          </a:prstGeom>
          <a:noFill/>
          <a:ln/>
        </p:spPr>
        <p:txBody>
          <a:bodyPr wrap="square" rtlCol="0" anchor="ctr"/>
          <a:lstStyle/>
          <a:p>
            <a:pPr marL="0" indent="0">
              <a:buNone/>
            </a:pPr>
            <a:r>
              <a:rPr lang="en-US" sz="1300" b="1" dirty="0">
                <a:solidFill>
                  <a:srgbClr val="FFFFFF"/>
                </a:solidFill>
              </a:rPr>
              <a:t>JHBI</a:t>
            </a:r>
            <a:endParaRPr lang="en-US" sz="1300" dirty="0"/>
          </a:p>
        </p:txBody>
      </p:sp>
      <p:sp>
        <p:nvSpPr>
          <p:cNvPr id="13" name="Shape 11"/>
          <p:cNvSpPr/>
          <p:nvPr/>
        </p:nvSpPr>
        <p:spPr>
          <a:xfrm>
            <a:off x="320040" y="1956816"/>
            <a:ext cx="2560320" cy="493776"/>
          </a:xfrm>
          <a:prstGeom prst="rect">
            <a:avLst/>
          </a:prstGeom>
          <a:solidFill>
            <a:srgbClr val="E8ECF1"/>
          </a:solidFill>
          <a:ln w="12700">
            <a:solidFill>
              <a:srgbClr val="D0D8E4"/>
            </a:solidFill>
            <a:prstDash val="solid"/>
          </a:ln>
        </p:spPr>
        <p:txBody>
          <a:bodyPr/>
          <a:lstStyle/>
          <a:p>
            <a:endParaRPr lang="en-US"/>
          </a:p>
        </p:txBody>
      </p:sp>
      <p:sp>
        <p:nvSpPr>
          <p:cNvPr id="14" name="Text 12"/>
          <p:cNvSpPr/>
          <p:nvPr/>
        </p:nvSpPr>
        <p:spPr>
          <a:xfrm>
            <a:off x="429768" y="1956816"/>
            <a:ext cx="2377440" cy="493776"/>
          </a:xfrm>
          <a:prstGeom prst="rect">
            <a:avLst/>
          </a:prstGeom>
          <a:noFill/>
          <a:ln/>
        </p:spPr>
        <p:txBody>
          <a:bodyPr wrap="square" rtlCol="0" anchor="ctr"/>
          <a:lstStyle/>
          <a:p>
            <a:pPr marL="0" indent="0">
              <a:buNone/>
            </a:pPr>
            <a:r>
              <a:rPr lang="en-US" sz="1150" b="1" dirty="0">
                <a:solidFill>
                  <a:srgbClr val="0D2340"/>
                </a:solidFill>
              </a:rPr>
              <a:t>Best for</a:t>
            </a:r>
            <a:endParaRPr lang="en-US" sz="1150" dirty="0"/>
          </a:p>
        </p:txBody>
      </p:sp>
      <p:sp>
        <p:nvSpPr>
          <p:cNvPr id="15" name="Shape 13"/>
          <p:cNvSpPr/>
          <p:nvPr/>
        </p:nvSpPr>
        <p:spPr>
          <a:xfrm>
            <a:off x="2880360" y="1956816"/>
            <a:ext cx="2743200" cy="493776"/>
          </a:xfrm>
          <a:prstGeom prst="rect">
            <a:avLst/>
          </a:prstGeom>
          <a:solidFill>
            <a:srgbClr val="F4F6F9"/>
          </a:solidFill>
          <a:ln w="12700">
            <a:solidFill>
              <a:srgbClr val="D0D8E4"/>
            </a:solidFill>
            <a:prstDash val="solid"/>
          </a:ln>
        </p:spPr>
        <p:txBody>
          <a:bodyPr/>
          <a:lstStyle/>
          <a:p>
            <a:endParaRPr lang="en-US"/>
          </a:p>
        </p:txBody>
      </p:sp>
      <p:sp>
        <p:nvSpPr>
          <p:cNvPr id="16" name="Text 14"/>
          <p:cNvSpPr/>
          <p:nvPr/>
        </p:nvSpPr>
        <p:spPr>
          <a:xfrm>
            <a:off x="2990088" y="1956816"/>
            <a:ext cx="2560320" cy="493776"/>
          </a:xfrm>
          <a:prstGeom prst="rect">
            <a:avLst/>
          </a:prstGeom>
          <a:noFill/>
          <a:ln/>
        </p:spPr>
        <p:txBody>
          <a:bodyPr wrap="square" rtlCol="0" anchor="ctr"/>
          <a:lstStyle/>
          <a:p>
            <a:pPr marL="0" indent="0">
              <a:buNone/>
            </a:pPr>
            <a:r>
              <a:rPr lang="en-US" sz="1100" dirty="0">
                <a:solidFill>
                  <a:srgbClr val="2C4A6E"/>
                </a:solidFill>
              </a:rPr>
              <a:t>Developers &amp; data teams</a:t>
            </a:r>
            <a:endParaRPr lang="en-US" sz="1100" dirty="0"/>
          </a:p>
        </p:txBody>
      </p:sp>
      <p:sp>
        <p:nvSpPr>
          <p:cNvPr id="17" name="Shape 15"/>
          <p:cNvSpPr/>
          <p:nvPr/>
        </p:nvSpPr>
        <p:spPr>
          <a:xfrm>
            <a:off x="5623560" y="1956816"/>
            <a:ext cx="3017520" cy="493776"/>
          </a:xfrm>
          <a:prstGeom prst="rect">
            <a:avLst/>
          </a:prstGeom>
          <a:solidFill>
            <a:srgbClr val="F4F6F9"/>
          </a:solidFill>
          <a:ln w="12700">
            <a:solidFill>
              <a:srgbClr val="D0D8E4"/>
            </a:solidFill>
            <a:prstDash val="solid"/>
          </a:ln>
        </p:spPr>
        <p:txBody>
          <a:bodyPr/>
          <a:lstStyle/>
          <a:p>
            <a:endParaRPr lang="en-US"/>
          </a:p>
        </p:txBody>
      </p:sp>
      <p:sp>
        <p:nvSpPr>
          <p:cNvPr id="18" name="Text 16"/>
          <p:cNvSpPr/>
          <p:nvPr/>
        </p:nvSpPr>
        <p:spPr>
          <a:xfrm>
            <a:off x="5733288" y="1956816"/>
            <a:ext cx="2834640" cy="493776"/>
          </a:xfrm>
          <a:prstGeom prst="rect">
            <a:avLst/>
          </a:prstGeom>
          <a:noFill/>
          <a:ln/>
        </p:spPr>
        <p:txBody>
          <a:bodyPr wrap="square" rtlCol="0" anchor="ctr"/>
          <a:lstStyle/>
          <a:p>
            <a:pPr marL="0" indent="0">
              <a:buNone/>
            </a:pPr>
            <a:r>
              <a:rPr lang="en-US" sz="1100" dirty="0">
                <a:solidFill>
                  <a:srgbClr val="2C4A6E"/>
                </a:solidFill>
              </a:rPr>
              <a:t>Analytics teams &amp; ops</a:t>
            </a:r>
            <a:endParaRPr lang="en-US" sz="1100" dirty="0"/>
          </a:p>
        </p:txBody>
      </p:sp>
      <p:sp>
        <p:nvSpPr>
          <p:cNvPr id="19" name="Shape 17"/>
          <p:cNvSpPr/>
          <p:nvPr/>
        </p:nvSpPr>
        <p:spPr>
          <a:xfrm>
            <a:off x="8641080" y="1956816"/>
            <a:ext cx="3017520" cy="493776"/>
          </a:xfrm>
          <a:prstGeom prst="rect">
            <a:avLst/>
          </a:prstGeom>
          <a:solidFill>
            <a:srgbClr val="CCF0EE"/>
          </a:solidFill>
          <a:ln w="12700">
            <a:solidFill>
              <a:srgbClr val="D0D8E4"/>
            </a:solidFill>
            <a:prstDash val="solid"/>
          </a:ln>
        </p:spPr>
        <p:txBody>
          <a:bodyPr/>
          <a:lstStyle/>
          <a:p>
            <a:endParaRPr lang="en-US"/>
          </a:p>
        </p:txBody>
      </p:sp>
      <p:sp>
        <p:nvSpPr>
          <p:cNvPr id="20" name="Text 18"/>
          <p:cNvSpPr/>
          <p:nvPr/>
        </p:nvSpPr>
        <p:spPr>
          <a:xfrm>
            <a:off x="8750808" y="1956816"/>
            <a:ext cx="2834640" cy="493776"/>
          </a:xfrm>
          <a:prstGeom prst="rect">
            <a:avLst/>
          </a:prstGeom>
          <a:noFill/>
          <a:ln/>
        </p:spPr>
        <p:txBody>
          <a:bodyPr wrap="square" rtlCol="0" anchor="ctr"/>
          <a:lstStyle/>
          <a:p>
            <a:pPr marL="0" indent="0">
              <a:buNone/>
            </a:pPr>
            <a:r>
              <a:rPr lang="en-US" sz="1100" dirty="0">
                <a:solidFill>
                  <a:srgbClr val="2C4A6E"/>
                </a:solidFill>
              </a:rPr>
              <a:t>Business users &amp; executives</a:t>
            </a:r>
            <a:endParaRPr lang="en-US" sz="1100" dirty="0"/>
          </a:p>
        </p:txBody>
      </p:sp>
      <p:sp>
        <p:nvSpPr>
          <p:cNvPr id="21" name="Shape 19"/>
          <p:cNvSpPr/>
          <p:nvPr/>
        </p:nvSpPr>
        <p:spPr>
          <a:xfrm>
            <a:off x="320040" y="2450592"/>
            <a:ext cx="2560320" cy="493776"/>
          </a:xfrm>
          <a:prstGeom prst="rect">
            <a:avLst/>
          </a:prstGeom>
          <a:solidFill>
            <a:srgbClr val="E8ECF1"/>
          </a:solidFill>
          <a:ln w="12700">
            <a:solidFill>
              <a:srgbClr val="D0D8E4"/>
            </a:solidFill>
            <a:prstDash val="solid"/>
          </a:ln>
        </p:spPr>
        <p:txBody>
          <a:bodyPr/>
          <a:lstStyle/>
          <a:p>
            <a:endParaRPr lang="en-US"/>
          </a:p>
        </p:txBody>
      </p:sp>
      <p:sp>
        <p:nvSpPr>
          <p:cNvPr id="22" name="Text 20"/>
          <p:cNvSpPr/>
          <p:nvPr/>
        </p:nvSpPr>
        <p:spPr>
          <a:xfrm>
            <a:off x="429768" y="2450592"/>
            <a:ext cx="2377440" cy="493776"/>
          </a:xfrm>
          <a:prstGeom prst="rect">
            <a:avLst/>
          </a:prstGeom>
          <a:noFill/>
          <a:ln/>
        </p:spPr>
        <p:txBody>
          <a:bodyPr wrap="square" rtlCol="0" anchor="ctr"/>
          <a:lstStyle/>
          <a:p>
            <a:pPr marL="0" indent="0">
              <a:buNone/>
            </a:pPr>
            <a:r>
              <a:rPr lang="en-US" sz="1150" b="1" dirty="0">
                <a:solidFill>
                  <a:srgbClr val="0D2340"/>
                </a:solidFill>
              </a:rPr>
              <a:t>Data format</a:t>
            </a:r>
            <a:endParaRPr lang="en-US" sz="1150" dirty="0"/>
          </a:p>
        </p:txBody>
      </p:sp>
      <p:sp>
        <p:nvSpPr>
          <p:cNvPr id="23" name="Shape 21"/>
          <p:cNvSpPr/>
          <p:nvPr/>
        </p:nvSpPr>
        <p:spPr>
          <a:xfrm>
            <a:off x="2880360" y="2450592"/>
            <a:ext cx="2743200" cy="493776"/>
          </a:xfrm>
          <a:prstGeom prst="rect">
            <a:avLst/>
          </a:prstGeom>
          <a:solidFill>
            <a:srgbClr val="FFFFFF"/>
          </a:solidFill>
          <a:ln w="12700">
            <a:solidFill>
              <a:srgbClr val="D0D8E4"/>
            </a:solidFill>
            <a:prstDash val="solid"/>
          </a:ln>
        </p:spPr>
        <p:txBody>
          <a:bodyPr/>
          <a:lstStyle/>
          <a:p>
            <a:endParaRPr lang="en-US"/>
          </a:p>
        </p:txBody>
      </p:sp>
      <p:sp>
        <p:nvSpPr>
          <p:cNvPr id="24" name="Text 22"/>
          <p:cNvSpPr/>
          <p:nvPr/>
        </p:nvSpPr>
        <p:spPr>
          <a:xfrm>
            <a:off x="2990088" y="2450592"/>
            <a:ext cx="2560320" cy="493776"/>
          </a:xfrm>
          <a:prstGeom prst="rect">
            <a:avLst/>
          </a:prstGeom>
          <a:noFill/>
          <a:ln/>
        </p:spPr>
        <p:txBody>
          <a:bodyPr wrap="square" rtlCol="0" anchor="ctr"/>
          <a:lstStyle/>
          <a:p>
            <a:pPr marL="0" indent="0">
              <a:buNone/>
            </a:pPr>
            <a:r>
              <a:rPr lang="en-US" sz="1100" dirty="0">
                <a:solidFill>
                  <a:srgbClr val="2C4A6E"/>
                </a:solidFill>
              </a:rPr>
              <a:t>Raw / batch feeds</a:t>
            </a:r>
            <a:endParaRPr lang="en-US" sz="1100" dirty="0"/>
          </a:p>
        </p:txBody>
      </p:sp>
      <p:sp>
        <p:nvSpPr>
          <p:cNvPr id="25" name="Shape 23"/>
          <p:cNvSpPr/>
          <p:nvPr/>
        </p:nvSpPr>
        <p:spPr>
          <a:xfrm>
            <a:off x="5623560" y="2450592"/>
            <a:ext cx="3017520" cy="493776"/>
          </a:xfrm>
          <a:prstGeom prst="rect">
            <a:avLst/>
          </a:prstGeom>
          <a:solidFill>
            <a:srgbClr val="FFFFFF"/>
          </a:solidFill>
          <a:ln w="12700">
            <a:solidFill>
              <a:srgbClr val="D0D8E4"/>
            </a:solidFill>
            <a:prstDash val="solid"/>
          </a:ln>
        </p:spPr>
        <p:txBody>
          <a:bodyPr/>
          <a:lstStyle/>
          <a:p>
            <a:endParaRPr lang="en-US"/>
          </a:p>
        </p:txBody>
      </p:sp>
      <p:sp>
        <p:nvSpPr>
          <p:cNvPr id="26" name="Text 24"/>
          <p:cNvSpPr/>
          <p:nvPr/>
        </p:nvSpPr>
        <p:spPr>
          <a:xfrm>
            <a:off x="5733288" y="2450592"/>
            <a:ext cx="2834640" cy="493776"/>
          </a:xfrm>
          <a:prstGeom prst="rect">
            <a:avLst/>
          </a:prstGeom>
          <a:noFill/>
          <a:ln/>
        </p:spPr>
        <p:txBody>
          <a:bodyPr wrap="square" rtlCol="0" anchor="ctr"/>
          <a:lstStyle/>
          <a:p>
            <a:pPr marL="0" indent="0">
              <a:buNone/>
            </a:pPr>
            <a:r>
              <a:rPr lang="en-US" sz="1100" dirty="0">
                <a:solidFill>
                  <a:srgbClr val="2C4A6E"/>
                </a:solidFill>
              </a:rPr>
              <a:t>Pre-modeled warehouse</a:t>
            </a:r>
            <a:endParaRPr lang="en-US" sz="1100" dirty="0"/>
          </a:p>
        </p:txBody>
      </p:sp>
      <p:sp>
        <p:nvSpPr>
          <p:cNvPr id="27" name="Shape 25"/>
          <p:cNvSpPr/>
          <p:nvPr/>
        </p:nvSpPr>
        <p:spPr>
          <a:xfrm>
            <a:off x="8641080" y="2450592"/>
            <a:ext cx="3017520" cy="493776"/>
          </a:xfrm>
          <a:prstGeom prst="rect">
            <a:avLst/>
          </a:prstGeom>
          <a:solidFill>
            <a:srgbClr val="E0F5F4"/>
          </a:solidFill>
          <a:ln w="12700">
            <a:solidFill>
              <a:srgbClr val="D0D8E4"/>
            </a:solidFill>
            <a:prstDash val="solid"/>
          </a:ln>
        </p:spPr>
        <p:txBody>
          <a:bodyPr/>
          <a:lstStyle/>
          <a:p>
            <a:endParaRPr lang="en-US"/>
          </a:p>
        </p:txBody>
      </p:sp>
      <p:sp>
        <p:nvSpPr>
          <p:cNvPr id="28" name="Text 26"/>
          <p:cNvSpPr/>
          <p:nvPr/>
        </p:nvSpPr>
        <p:spPr>
          <a:xfrm>
            <a:off x="8750808" y="2450592"/>
            <a:ext cx="2834640" cy="493776"/>
          </a:xfrm>
          <a:prstGeom prst="rect">
            <a:avLst/>
          </a:prstGeom>
          <a:noFill/>
          <a:ln/>
        </p:spPr>
        <p:txBody>
          <a:bodyPr wrap="square" rtlCol="0" anchor="ctr"/>
          <a:lstStyle/>
          <a:p>
            <a:pPr marL="0" indent="0">
              <a:buNone/>
            </a:pPr>
            <a:r>
              <a:rPr lang="en-US" sz="1100" dirty="0">
                <a:solidFill>
                  <a:srgbClr val="2C4A6E"/>
                </a:solidFill>
              </a:rPr>
              <a:t>DaaS: models, pipelines, portal, AI query</a:t>
            </a:r>
            <a:endParaRPr lang="en-US" sz="1100" dirty="0"/>
          </a:p>
        </p:txBody>
      </p:sp>
      <p:sp>
        <p:nvSpPr>
          <p:cNvPr id="29" name="Shape 27"/>
          <p:cNvSpPr/>
          <p:nvPr/>
        </p:nvSpPr>
        <p:spPr>
          <a:xfrm>
            <a:off x="320040" y="2944368"/>
            <a:ext cx="2560320" cy="493776"/>
          </a:xfrm>
          <a:prstGeom prst="rect">
            <a:avLst/>
          </a:prstGeom>
          <a:solidFill>
            <a:srgbClr val="E8ECF1"/>
          </a:solidFill>
          <a:ln w="12700">
            <a:solidFill>
              <a:srgbClr val="D0D8E4"/>
            </a:solidFill>
            <a:prstDash val="solid"/>
          </a:ln>
        </p:spPr>
        <p:txBody>
          <a:bodyPr/>
          <a:lstStyle/>
          <a:p>
            <a:endParaRPr lang="en-US"/>
          </a:p>
        </p:txBody>
      </p:sp>
      <p:sp>
        <p:nvSpPr>
          <p:cNvPr id="30" name="Text 28"/>
          <p:cNvSpPr/>
          <p:nvPr/>
        </p:nvSpPr>
        <p:spPr>
          <a:xfrm>
            <a:off x="429768" y="2944368"/>
            <a:ext cx="2377440" cy="493776"/>
          </a:xfrm>
          <a:prstGeom prst="rect">
            <a:avLst/>
          </a:prstGeom>
          <a:noFill/>
          <a:ln/>
        </p:spPr>
        <p:txBody>
          <a:bodyPr wrap="square" rtlCol="0" anchor="ctr"/>
          <a:lstStyle/>
          <a:p>
            <a:pPr marL="0" indent="0">
              <a:buNone/>
            </a:pPr>
            <a:r>
              <a:rPr lang="en-US" sz="1150" b="1" dirty="0">
                <a:solidFill>
                  <a:srgbClr val="0D2340"/>
                </a:solidFill>
              </a:rPr>
              <a:t>Technical skill</a:t>
            </a:r>
            <a:endParaRPr lang="en-US" sz="1150" dirty="0"/>
          </a:p>
        </p:txBody>
      </p:sp>
      <p:sp>
        <p:nvSpPr>
          <p:cNvPr id="31" name="Shape 29"/>
          <p:cNvSpPr/>
          <p:nvPr/>
        </p:nvSpPr>
        <p:spPr>
          <a:xfrm>
            <a:off x="2880360" y="2944368"/>
            <a:ext cx="2743200" cy="493776"/>
          </a:xfrm>
          <a:prstGeom prst="rect">
            <a:avLst/>
          </a:prstGeom>
          <a:solidFill>
            <a:srgbClr val="F4F6F9"/>
          </a:solidFill>
          <a:ln w="12700">
            <a:solidFill>
              <a:srgbClr val="D0D8E4"/>
            </a:solidFill>
            <a:prstDash val="solid"/>
          </a:ln>
        </p:spPr>
        <p:txBody>
          <a:bodyPr/>
          <a:lstStyle/>
          <a:p>
            <a:endParaRPr lang="en-US"/>
          </a:p>
        </p:txBody>
      </p:sp>
      <p:sp>
        <p:nvSpPr>
          <p:cNvPr id="32" name="Text 30"/>
          <p:cNvSpPr/>
          <p:nvPr/>
        </p:nvSpPr>
        <p:spPr>
          <a:xfrm>
            <a:off x="2990088" y="2944368"/>
            <a:ext cx="2560320" cy="493776"/>
          </a:xfrm>
          <a:prstGeom prst="rect">
            <a:avLst/>
          </a:prstGeom>
          <a:noFill/>
          <a:ln/>
        </p:spPr>
        <p:txBody>
          <a:bodyPr wrap="square" rtlCol="0" anchor="ctr"/>
          <a:lstStyle/>
          <a:p>
            <a:pPr marL="0" indent="0">
              <a:buNone/>
            </a:pPr>
            <a:r>
              <a:rPr lang="en-US" sz="1100" dirty="0">
                <a:solidFill>
                  <a:srgbClr val="2C4A6E"/>
                </a:solidFill>
              </a:rPr>
              <a:t>High — SQL/Python/BI tools</a:t>
            </a:r>
            <a:endParaRPr lang="en-US" sz="1100" dirty="0"/>
          </a:p>
        </p:txBody>
      </p:sp>
      <p:sp>
        <p:nvSpPr>
          <p:cNvPr id="33" name="Shape 31"/>
          <p:cNvSpPr/>
          <p:nvPr/>
        </p:nvSpPr>
        <p:spPr>
          <a:xfrm>
            <a:off x="5623560" y="2944368"/>
            <a:ext cx="3017520" cy="493776"/>
          </a:xfrm>
          <a:prstGeom prst="rect">
            <a:avLst/>
          </a:prstGeom>
          <a:solidFill>
            <a:srgbClr val="F4F6F9"/>
          </a:solidFill>
          <a:ln w="12700">
            <a:solidFill>
              <a:srgbClr val="D0D8E4"/>
            </a:solidFill>
            <a:prstDash val="solid"/>
          </a:ln>
        </p:spPr>
        <p:txBody>
          <a:bodyPr/>
          <a:lstStyle/>
          <a:p>
            <a:endParaRPr lang="en-US"/>
          </a:p>
        </p:txBody>
      </p:sp>
      <p:sp>
        <p:nvSpPr>
          <p:cNvPr id="34" name="Text 32"/>
          <p:cNvSpPr/>
          <p:nvPr/>
        </p:nvSpPr>
        <p:spPr>
          <a:xfrm>
            <a:off x="5733288" y="2944368"/>
            <a:ext cx="2834640" cy="493776"/>
          </a:xfrm>
          <a:prstGeom prst="rect">
            <a:avLst/>
          </a:prstGeom>
          <a:noFill/>
          <a:ln/>
        </p:spPr>
        <p:txBody>
          <a:bodyPr wrap="square" rtlCol="0" anchor="ctr"/>
          <a:lstStyle/>
          <a:p>
            <a:pPr marL="0" indent="0">
              <a:buNone/>
            </a:pPr>
            <a:r>
              <a:rPr lang="en-US" sz="1100" dirty="0">
                <a:solidFill>
                  <a:srgbClr val="2C4A6E"/>
                </a:solidFill>
              </a:rPr>
              <a:t>Medium — SQL + reporting</a:t>
            </a:r>
            <a:endParaRPr lang="en-US" sz="1100" dirty="0"/>
          </a:p>
        </p:txBody>
      </p:sp>
      <p:sp>
        <p:nvSpPr>
          <p:cNvPr id="35" name="Shape 33"/>
          <p:cNvSpPr/>
          <p:nvPr/>
        </p:nvSpPr>
        <p:spPr>
          <a:xfrm>
            <a:off x="8641080" y="2944368"/>
            <a:ext cx="3017520" cy="493776"/>
          </a:xfrm>
          <a:prstGeom prst="rect">
            <a:avLst/>
          </a:prstGeom>
          <a:solidFill>
            <a:srgbClr val="CCF0EE"/>
          </a:solidFill>
          <a:ln w="12700">
            <a:solidFill>
              <a:srgbClr val="D0D8E4"/>
            </a:solidFill>
            <a:prstDash val="solid"/>
          </a:ln>
        </p:spPr>
        <p:txBody>
          <a:bodyPr/>
          <a:lstStyle/>
          <a:p>
            <a:endParaRPr lang="en-US"/>
          </a:p>
        </p:txBody>
      </p:sp>
      <p:sp>
        <p:nvSpPr>
          <p:cNvPr id="36" name="Text 34"/>
          <p:cNvSpPr/>
          <p:nvPr/>
        </p:nvSpPr>
        <p:spPr>
          <a:xfrm>
            <a:off x="8750808" y="2944368"/>
            <a:ext cx="2834640" cy="493776"/>
          </a:xfrm>
          <a:prstGeom prst="rect">
            <a:avLst/>
          </a:prstGeom>
          <a:noFill/>
          <a:ln/>
        </p:spPr>
        <p:txBody>
          <a:bodyPr wrap="square" rtlCol="0" anchor="ctr"/>
          <a:lstStyle/>
          <a:p>
            <a:pPr marL="0" indent="0">
              <a:buNone/>
            </a:pPr>
            <a:r>
              <a:rPr lang="en-US" sz="1100" dirty="0">
                <a:solidFill>
                  <a:srgbClr val="2C4A6E"/>
                </a:solidFill>
              </a:rPr>
              <a:t>Low — self-service UI</a:t>
            </a:r>
            <a:endParaRPr lang="en-US" sz="1100" dirty="0"/>
          </a:p>
        </p:txBody>
      </p:sp>
      <p:sp>
        <p:nvSpPr>
          <p:cNvPr id="37" name="Shape 35"/>
          <p:cNvSpPr/>
          <p:nvPr/>
        </p:nvSpPr>
        <p:spPr>
          <a:xfrm>
            <a:off x="320040" y="3438144"/>
            <a:ext cx="2560320" cy="493776"/>
          </a:xfrm>
          <a:prstGeom prst="rect">
            <a:avLst/>
          </a:prstGeom>
          <a:solidFill>
            <a:srgbClr val="E8ECF1"/>
          </a:solidFill>
          <a:ln w="12700">
            <a:solidFill>
              <a:srgbClr val="D0D8E4"/>
            </a:solidFill>
            <a:prstDash val="solid"/>
          </a:ln>
        </p:spPr>
        <p:txBody>
          <a:bodyPr/>
          <a:lstStyle/>
          <a:p>
            <a:endParaRPr lang="en-US"/>
          </a:p>
        </p:txBody>
      </p:sp>
      <p:sp>
        <p:nvSpPr>
          <p:cNvPr id="38" name="Text 36"/>
          <p:cNvSpPr/>
          <p:nvPr/>
        </p:nvSpPr>
        <p:spPr>
          <a:xfrm>
            <a:off x="429768" y="3438144"/>
            <a:ext cx="2377440" cy="493776"/>
          </a:xfrm>
          <a:prstGeom prst="rect">
            <a:avLst/>
          </a:prstGeom>
          <a:noFill/>
          <a:ln/>
        </p:spPr>
        <p:txBody>
          <a:bodyPr wrap="square" rtlCol="0" anchor="ctr"/>
          <a:lstStyle/>
          <a:p>
            <a:pPr marL="0" indent="0">
              <a:buNone/>
            </a:pPr>
            <a:r>
              <a:rPr lang="en-US" sz="1150" b="1" dirty="0">
                <a:solidFill>
                  <a:srgbClr val="0D2340"/>
                </a:solidFill>
              </a:rPr>
              <a:t>Time to value</a:t>
            </a:r>
            <a:endParaRPr lang="en-US" sz="1150" dirty="0"/>
          </a:p>
        </p:txBody>
      </p:sp>
      <p:sp>
        <p:nvSpPr>
          <p:cNvPr id="39" name="Shape 37"/>
          <p:cNvSpPr/>
          <p:nvPr/>
        </p:nvSpPr>
        <p:spPr>
          <a:xfrm>
            <a:off x="2880360" y="3438144"/>
            <a:ext cx="2743200" cy="493776"/>
          </a:xfrm>
          <a:prstGeom prst="rect">
            <a:avLst/>
          </a:prstGeom>
          <a:solidFill>
            <a:srgbClr val="FFFFFF"/>
          </a:solidFill>
          <a:ln w="12700">
            <a:solidFill>
              <a:srgbClr val="D0D8E4"/>
            </a:solidFill>
            <a:prstDash val="solid"/>
          </a:ln>
        </p:spPr>
        <p:txBody>
          <a:bodyPr/>
          <a:lstStyle/>
          <a:p>
            <a:endParaRPr lang="en-US"/>
          </a:p>
        </p:txBody>
      </p:sp>
      <p:sp>
        <p:nvSpPr>
          <p:cNvPr id="40" name="Text 38"/>
          <p:cNvSpPr/>
          <p:nvPr/>
        </p:nvSpPr>
        <p:spPr>
          <a:xfrm>
            <a:off x="2990088" y="3438144"/>
            <a:ext cx="2560320" cy="493776"/>
          </a:xfrm>
          <a:prstGeom prst="rect">
            <a:avLst/>
          </a:prstGeom>
          <a:noFill/>
          <a:ln/>
        </p:spPr>
        <p:txBody>
          <a:bodyPr wrap="square" rtlCol="0" anchor="ctr"/>
          <a:lstStyle/>
          <a:p>
            <a:pPr marL="0" indent="0">
              <a:buNone/>
            </a:pPr>
            <a:r>
              <a:rPr lang="en-US" sz="1100" dirty="0">
                <a:solidFill>
                  <a:srgbClr val="2C4A6E"/>
                </a:solidFill>
              </a:rPr>
              <a:t>Weeks (after integration)</a:t>
            </a:r>
            <a:endParaRPr lang="en-US" sz="1100" dirty="0"/>
          </a:p>
        </p:txBody>
      </p:sp>
      <p:sp>
        <p:nvSpPr>
          <p:cNvPr id="41" name="Shape 39"/>
          <p:cNvSpPr/>
          <p:nvPr/>
        </p:nvSpPr>
        <p:spPr>
          <a:xfrm>
            <a:off x="5623560" y="3438144"/>
            <a:ext cx="3017520" cy="493776"/>
          </a:xfrm>
          <a:prstGeom prst="rect">
            <a:avLst/>
          </a:prstGeom>
          <a:solidFill>
            <a:srgbClr val="FFFFFF"/>
          </a:solidFill>
          <a:ln w="12700">
            <a:solidFill>
              <a:srgbClr val="D0D8E4"/>
            </a:solidFill>
            <a:prstDash val="solid"/>
          </a:ln>
        </p:spPr>
        <p:txBody>
          <a:bodyPr/>
          <a:lstStyle/>
          <a:p>
            <a:endParaRPr lang="en-US"/>
          </a:p>
        </p:txBody>
      </p:sp>
      <p:sp>
        <p:nvSpPr>
          <p:cNvPr id="42" name="Text 40"/>
          <p:cNvSpPr/>
          <p:nvPr/>
        </p:nvSpPr>
        <p:spPr>
          <a:xfrm>
            <a:off x="5733288" y="3438144"/>
            <a:ext cx="2834640" cy="493776"/>
          </a:xfrm>
          <a:prstGeom prst="rect">
            <a:avLst/>
          </a:prstGeom>
          <a:noFill/>
          <a:ln/>
        </p:spPr>
        <p:txBody>
          <a:bodyPr wrap="square" rtlCol="0" anchor="ctr"/>
          <a:lstStyle/>
          <a:p>
            <a:pPr marL="0" indent="0">
              <a:buNone/>
            </a:pPr>
            <a:r>
              <a:rPr lang="en-US" sz="1100" dirty="0">
                <a:solidFill>
                  <a:srgbClr val="2C4A6E"/>
                </a:solidFill>
              </a:rPr>
              <a:t>Days (pre-configured)</a:t>
            </a:r>
            <a:endParaRPr lang="en-US" sz="1100" dirty="0"/>
          </a:p>
        </p:txBody>
      </p:sp>
      <p:sp>
        <p:nvSpPr>
          <p:cNvPr id="43" name="Shape 41"/>
          <p:cNvSpPr/>
          <p:nvPr/>
        </p:nvSpPr>
        <p:spPr>
          <a:xfrm>
            <a:off x="8641080" y="3438144"/>
            <a:ext cx="3017520" cy="493776"/>
          </a:xfrm>
          <a:prstGeom prst="rect">
            <a:avLst/>
          </a:prstGeom>
          <a:solidFill>
            <a:srgbClr val="E0F5F4"/>
          </a:solidFill>
          <a:ln w="12700">
            <a:solidFill>
              <a:srgbClr val="D0D8E4"/>
            </a:solidFill>
            <a:prstDash val="solid"/>
          </a:ln>
        </p:spPr>
        <p:txBody>
          <a:bodyPr/>
          <a:lstStyle/>
          <a:p>
            <a:endParaRPr lang="en-US"/>
          </a:p>
        </p:txBody>
      </p:sp>
      <p:sp>
        <p:nvSpPr>
          <p:cNvPr id="44" name="Text 42"/>
          <p:cNvSpPr/>
          <p:nvPr/>
        </p:nvSpPr>
        <p:spPr>
          <a:xfrm>
            <a:off x="8750808" y="3438144"/>
            <a:ext cx="2834640" cy="493776"/>
          </a:xfrm>
          <a:prstGeom prst="rect">
            <a:avLst/>
          </a:prstGeom>
          <a:noFill/>
          <a:ln/>
        </p:spPr>
        <p:txBody>
          <a:bodyPr wrap="square" rtlCol="0" anchor="ctr"/>
          <a:lstStyle/>
          <a:p>
            <a:pPr marL="0" indent="0">
              <a:buNone/>
            </a:pPr>
            <a:r>
              <a:rPr lang="en-US" sz="1100" dirty="0">
                <a:solidFill>
                  <a:srgbClr val="2C4A6E"/>
                </a:solidFill>
              </a:rPr>
              <a:t>Days (pre-built views)</a:t>
            </a:r>
            <a:endParaRPr lang="en-US" sz="1100" dirty="0"/>
          </a:p>
        </p:txBody>
      </p:sp>
      <p:sp>
        <p:nvSpPr>
          <p:cNvPr id="45" name="Shape 43"/>
          <p:cNvSpPr/>
          <p:nvPr/>
        </p:nvSpPr>
        <p:spPr>
          <a:xfrm>
            <a:off x="320040" y="3931920"/>
            <a:ext cx="2560320" cy="493776"/>
          </a:xfrm>
          <a:prstGeom prst="rect">
            <a:avLst/>
          </a:prstGeom>
          <a:solidFill>
            <a:srgbClr val="E8ECF1"/>
          </a:solidFill>
          <a:ln w="12700">
            <a:solidFill>
              <a:srgbClr val="D0D8E4"/>
            </a:solidFill>
            <a:prstDash val="solid"/>
          </a:ln>
        </p:spPr>
        <p:txBody>
          <a:bodyPr/>
          <a:lstStyle/>
          <a:p>
            <a:endParaRPr lang="en-US"/>
          </a:p>
        </p:txBody>
      </p:sp>
      <p:sp>
        <p:nvSpPr>
          <p:cNvPr id="46" name="Text 44"/>
          <p:cNvSpPr/>
          <p:nvPr/>
        </p:nvSpPr>
        <p:spPr>
          <a:xfrm>
            <a:off x="429768" y="3931920"/>
            <a:ext cx="2377440" cy="493776"/>
          </a:xfrm>
          <a:prstGeom prst="rect">
            <a:avLst/>
          </a:prstGeom>
          <a:noFill/>
          <a:ln/>
        </p:spPr>
        <p:txBody>
          <a:bodyPr wrap="square" rtlCol="0" anchor="ctr"/>
          <a:lstStyle/>
          <a:p>
            <a:pPr marL="0" indent="0">
              <a:buNone/>
            </a:pPr>
            <a:r>
              <a:rPr lang="en-US" sz="1150" b="1" dirty="0">
                <a:solidFill>
                  <a:srgbClr val="0D2340"/>
                </a:solidFill>
              </a:rPr>
              <a:t>Customization</a:t>
            </a:r>
            <a:endParaRPr lang="en-US" sz="1150" dirty="0"/>
          </a:p>
        </p:txBody>
      </p:sp>
      <p:sp>
        <p:nvSpPr>
          <p:cNvPr id="47" name="Shape 45"/>
          <p:cNvSpPr/>
          <p:nvPr/>
        </p:nvSpPr>
        <p:spPr>
          <a:xfrm>
            <a:off x="2880360" y="3931920"/>
            <a:ext cx="2743200" cy="493776"/>
          </a:xfrm>
          <a:prstGeom prst="rect">
            <a:avLst/>
          </a:prstGeom>
          <a:solidFill>
            <a:srgbClr val="F4F6F9"/>
          </a:solidFill>
          <a:ln w="12700">
            <a:solidFill>
              <a:srgbClr val="D0D8E4"/>
            </a:solidFill>
            <a:prstDash val="solid"/>
          </a:ln>
        </p:spPr>
        <p:txBody>
          <a:bodyPr/>
          <a:lstStyle/>
          <a:p>
            <a:endParaRPr lang="en-US"/>
          </a:p>
        </p:txBody>
      </p:sp>
      <p:sp>
        <p:nvSpPr>
          <p:cNvPr id="48" name="Text 46"/>
          <p:cNvSpPr/>
          <p:nvPr/>
        </p:nvSpPr>
        <p:spPr>
          <a:xfrm>
            <a:off x="2990088" y="3931920"/>
            <a:ext cx="2560320" cy="493776"/>
          </a:xfrm>
          <a:prstGeom prst="rect">
            <a:avLst/>
          </a:prstGeom>
          <a:noFill/>
          <a:ln/>
        </p:spPr>
        <p:txBody>
          <a:bodyPr wrap="square" rtlCol="0" anchor="ctr"/>
          <a:lstStyle/>
          <a:p>
            <a:pPr marL="0" indent="0">
              <a:buNone/>
            </a:pPr>
            <a:r>
              <a:rPr lang="en-US" sz="1100" dirty="0">
                <a:solidFill>
                  <a:srgbClr val="2C4A6E"/>
                </a:solidFill>
              </a:rPr>
              <a:t>Fully custom</a:t>
            </a:r>
            <a:endParaRPr lang="en-US" sz="1100" dirty="0"/>
          </a:p>
        </p:txBody>
      </p:sp>
      <p:sp>
        <p:nvSpPr>
          <p:cNvPr id="49" name="Shape 47"/>
          <p:cNvSpPr/>
          <p:nvPr/>
        </p:nvSpPr>
        <p:spPr>
          <a:xfrm>
            <a:off x="5623560" y="3931920"/>
            <a:ext cx="3017520" cy="493776"/>
          </a:xfrm>
          <a:prstGeom prst="rect">
            <a:avLst/>
          </a:prstGeom>
          <a:solidFill>
            <a:srgbClr val="F4F6F9"/>
          </a:solidFill>
          <a:ln w="12700">
            <a:solidFill>
              <a:srgbClr val="D0D8E4"/>
            </a:solidFill>
            <a:prstDash val="solid"/>
          </a:ln>
        </p:spPr>
        <p:txBody>
          <a:bodyPr/>
          <a:lstStyle/>
          <a:p>
            <a:endParaRPr lang="en-US"/>
          </a:p>
        </p:txBody>
      </p:sp>
      <p:sp>
        <p:nvSpPr>
          <p:cNvPr id="50" name="Text 48"/>
          <p:cNvSpPr/>
          <p:nvPr/>
        </p:nvSpPr>
        <p:spPr>
          <a:xfrm>
            <a:off x="5733288" y="3931920"/>
            <a:ext cx="2834640" cy="493776"/>
          </a:xfrm>
          <a:prstGeom prst="rect">
            <a:avLst/>
          </a:prstGeom>
          <a:noFill/>
          <a:ln/>
        </p:spPr>
        <p:txBody>
          <a:bodyPr wrap="square" rtlCol="0" anchor="ctr"/>
          <a:lstStyle/>
          <a:p>
            <a:pPr marL="0" indent="0">
              <a:buNone/>
            </a:pPr>
            <a:r>
              <a:rPr lang="en-US" sz="1100" dirty="0">
                <a:solidFill>
                  <a:srgbClr val="2C4A6E"/>
                </a:solidFill>
              </a:rPr>
              <a:t>Configurable models</a:t>
            </a:r>
            <a:endParaRPr lang="en-US" sz="1100" dirty="0"/>
          </a:p>
        </p:txBody>
      </p:sp>
      <p:sp>
        <p:nvSpPr>
          <p:cNvPr id="51" name="Shape 49"/>
          <p:cNvSpPr/>
          <p:nvPr/>
        </p:nvSpPr>
        <p:spPr>
          <a:xfrm>
            <a:off x="8641080" y="3931920"/>
            <a:ext cx="3017520" cy="493776"/>
          </a:xfrm>
          <a:prstGeom prst="rect">
            <a:avLst/>
          </a:prstGeom>
          <a:solidFill>
            <a:srgbClr val="CCF0EE"/>
          </a:solidFill>
          <a:ln w="12700">
            <a:solidFill>
              <a:srgbClr val="D0D8E4"/>
            </a:solidFill>
            <a:prstDash val="solid"/>
          </a:ln>
        </p:spPr>
        <p:txBody>
          <a:bodyPr/>
          <a:lstStyle/>
          <a:p>
            <a:endParaRPr lang="en-US"/>
          </a:p>
        </p:txBody>
      </p:sp>
      <p:sp>
        <p:nvSpPr>
          <p:cNvPr id="52" name="Text 50"/>
          <p:cNvSpPr/>
          <p:nvPr/>
        </p:nvSpPr>
        <p:spPr>
          <a:xfrm>
            <a:off x="8750808" y="3931920"/>
            <a:ext cx="2834640" cy="493776"/>
          </a:xfrm>
          <a:prstGeom prst="rect">
            <a:avLst/>
          </a:prstGeom>
          <a:noFill/>
          <a:ln/>
        </p:spPr>
        <p:txBody>
          <a:bodyPr wrap="square" rtlCol="0" anchor="ctr"/>
          <a:lstStyle/>
          <a:p>
            <a:pPr marL="0" indent="0">
              <a:buNone/>
            </a:pPr>
            <a:r>
              <a:rPr lang="en-US" sz="1100" dirty="0">
                <a:solidFill>
                  <a:srgbClr val="2C4A6E"/>
                </a:solidFill>
              </a:rPr>
              <a:t>Drag-and-drop builder</a:t>
            </a:r>
            <a:endParaRPr lang="en-US" sz="1100" dirty="0"/>
          </a:p>
        </p:txBody>
      </p:sp>
      <p:sp>
        <p:nvSpPr>
          <p:cNvPr id="53" name="Shape 51"/>
          <p:cNvSpPr/>
          <p:nvPr/>
        </p:nvSpPr>
        <p:spPr>
          <a:xfrm>
            <a:off x="320040" y="4425696"/>
            <a:ext cx="2560320" cy="493776"/>
          </a:xfrm>
          <a:prstGeom prst="rect">
            <a:avLst/>
          </a:prstGeom>
          <a:solidFill>
            <a:srgbClr val="E8ECF1"/>
          </a:solidFill>
          <a:ln w="12700">
            <a:solidFill>
              <a:srgbClr val="D0D8E4"/>
            </a:solidFill>
            <a:prstDash val="solid"/>
          </a:ln>
        </p:spPr>
        <p:txBody>
          <a:bodyPr/>
          <a:lstStyle/>
          <a:p>
            <a:endParaRPr lang="en-US"/>
          </a:p>
        </p:txBody>
      </p:sp>
      <p:sp>
        <p:nvSpPr>
          <p:cNvPr id="54" name="Text 52"/>
          <p:cNvSpPr/>
          <p:nvPr/>
        </p:nvSpPr>
        <p:spPr>
          <a:xfrm>
            <a:off x="429768" y="4425696"/>
            <a:ext cx="2377440" cy="493776"/>
          </a:xfrm>
          <a:prstGeom prst="rect">
            <a:avLst/>
          </a:prstGeom>
          <a:noFill/>
          <a:ln/>
        </p:spPr>
        <p:txBody>
          <a:bodyPr wrap="square" rtlCol="0" anchor="ctr"/>
          <a:lstStyle/>
          <a:p>
            <a:pPr marL="0" indent="0">
              <a:buNone/>
            </a:pPr>
            <a:r>
              <a:rPr lang="en-US" sz="1150" b="1" dirty="0">
                <a:solidFill>
                  <a:srgbClr val="0D2340"/>
                </a:solidFill>
              </a:rPr>
              <a:t>Hosting</a:t>
            </a:r>
            <a:endParaRPr lang="en-US" sz="1150" dirty="0"/>
          </a:p>
        </p:txBody>
      </p:sp>
      <p:sp>
        <p:nvSpPr>
          <p:cNvPr id="55" name="Shape 53"/>
          <p:cNvSpPr/>
          <p:nvPr/>
        </p:nvSpPr>
        <p:spPr>
          <a:xfrm>
            <a:off x="2880360" y="4425696"/>
            <a:ext cx="2743200" cy="493776"/>
          </a:xfrm>
          <a:prstGeom prst="rect">
            <a:avLst/>
          </a:prstGeom>
          <a:solidFill>
            <a:srgbClr val="FFFFFF"/>
          </a:solidFill>
          <a:ln w="12700">
            <a:solidFill>
              <a:srgbClr val="D0D8E4"/>
            </a:solidFill>
            <a:prstDash val="solid"/>
          </a:ln>
        </p:spPr>
        <p:txBody>
          <a:bodyPr/>
          <a:lstStyle/>
          <a:p>
            <a:endParaRPr lang="en-US"/>
          </a:p>
        </p:txBody>
      </p:sp>
      <p:sp>
        <p:nvSpPr>
          <p:cNvPr id="56" name="Text 54"/>
          <p:cNvSpPr/>
          <p:nvPr/>
        </p:nvSpPr>
        <p:spPr>
          <a:xfrm>
            <a:off x="2990088" y="4425696"/>
            <a:ext cx="2560320" cy="493776"/>
          </a:xfrm>
          <a:prstGeom prst="rect">
            <a:avLst/>
          </a:prstGeom>
          <a:noFill/>
          <a:ln/>
        </p:spPr>
        <p:txBody>
          <a:bodyPr wrap="square" rtlCol="0" anchor="ctr"/>
          <a:lstStyle/>
          <a:p>
            <a:pPr marL="0" indent="0">
              <a:buNone/>
            </a:pPr>
            <a:r>
              <a:rPr lang="en-US" sz="1100" dirty="0">
                <a:solidFill>
                  <a:srgbClr val="2C4A6E"/>
                </a:solidFill>
              </a:rPr>
              <a:t>Your cloud (GCP BigQuery)</a:t>
            </a:r>
            <a:endParaRPr lang="en-US" sz="1100" dirty="0"/>
          </a:p>
        </p:txBody>
      </p:sp>
      <p:sp>
        <p:nvSpPr>
          <p:cNvPr id="57" name="Shape 55"/>
          <p:cNvSpPr/>
          <p:nvPr/>
        </p:nvSpPr>
        <p:spPr>
          <a:xfrm>
            <a:off x="5623560" y="4425696"/>
            <a:ext cx="3017520" cy="493776"/>
          </a:xfrm>
          <a:prstGeom prst="rect">
            <a:avLst/>
          </a:prstGeom>
          <a:solidFill>
            <a:srgbClr val="FFFFFF"/>
          </a:solidFill>
          <a:ln w="12700">
            <a:solidFill>
              <a:srgbClr val="D0D8E4"/>
            </a:solidFill>
            <a:prstDash val="solid"/>
          </a:ln>
        </p:spPr>
        <p:txBody>
          <a:bodyPr/>
          <a:lstStyle/>
          <a:p>
            <a:endParaRPr lang="en-US"/>
          </a:p>
        </p:txBody>
      </p:sp>
      <p:sp>
        <p:nvSpPr>
          <p:cNvPr id="58" name="Text 56"/>
          <p:cNvSpPr/>
          <p:nvPr/>
        </p:nvSpPr>
        <p:spPr>
          <a:xfrm>
            <a:off x="5733288" y="4425696"/>
            <a:ext cx="2834640" cy="493776"/>
          </a:xfrm>
          <a:prstGeom prst="rect">
            <a:avLst/>
          </a:prstGeom>
          <a:noFill/>
          <a:ln/>
        </p:spPr>
        <p:txBody>
          <a:bodyPr wrap="square" rtlCol="0" anchor="ctr"/>
          <a:lstStyle/>
          <a:p>
            <a:pPr marL="0" indent="0">
              <a:buNone/>
            </a:pPr>
            <a:r>
              <a:rPr lang="en-US" sz="1100" dirty="0">
                <a:solidFill>
                  <a:srgbClr val="2C4A6E"/>
                </a:solidFill>
              </a:rPr>
              <a:t>JH-managed warehouse</a:t>
            </a:r>
            <a:endParaRPr lang="en-US" sz="1100" dirty="0"/>
          </a:p>
        </p:txBody>
      </p:sp>
      <p:sp>
        <p:nvSpPr>
          <p:cNvPr id="59" name="Shape 57"/>
          <p:cNvSpPr/>
          <p:nvPr/>
        </p:nvSpPr>
        <p:spPr>
          <a:xfrm>
            <a:off x="8641080" y="4425696"/>
            <a:ext cx="3017520" cy="493776"/>
          </a:xfrm>
          <a:prstGeom prst="rect">
            <a:avLst/>
          </a:prstGeom>
          <a:solidFill>
            <a:srgbClr val="E0F5F4"/>
          </a:solidFill>
          <a:ln w="12700">
            <a:solidFill>
              <a:srgbClr val="D0D8E4"/>
            </a:solidFill>
            <a:prstDash val="solid"/>
          </a:ln>
        </p:spPr>
        <p:txBody>
          <a:bodyPr/>
          <a:lstStyle/>
          <a:p>
            <a:endParaRPr lang="en-US"/>
          </a:p>
        </p:txBody>
      </p:sp>
      <p:sp>
        <p:nvSpPr>
          <p:cNvPr id="60" name="Text 58"/>
          <p:cNvSpPr/>
          <p:nvPr/>
        </p:nvSpPr>
        <p:spPr>
          <a:xfrm>
            <a:off x="8750808" y="4425696"/>
            <a:ext cx="2834640" cy="493776"/>
          </a:xfrm>
          <a:prstGeom prst="rect">
            <a:avLst/>
          </a:prstGeom>
          <a:noFill/>
          <a:ln/>
        </p:spPr>
        <p:txBody>
          <a:bodyPr wrap="square" rtlCol="0" anchor="ctr"/>
          <a:lstStyle/>
          <a:p>
            <a:pPr marL="0" indent="0">
              <a:buNone/>
            </a:pPr>
            <a:r>
              <a:rPr lang="en-US" sz="1100" dirty="0">
                <a:solidFill>
                  <a:srgbClr val="2C4A6E"/>
                </a:solidFill>
              </a:rPr>
              <a:t>JH-managed, fully hosted</a:t>
            </a:r>
            <a:endParaRPr lang="en-US" sz="1100" dirty="0"/>
          </a:p>
        </p:txBody>
      </p:sp>
      <p:sp>
        <p:nvSpPr>
          <p:cNvPr id="61" name="Shape 59"/>
          <p:cNvSpPr/>
          <p:nvPr/>
        </p:nvSpPr>
        <p:spPr>
          <a:xfrm>
            <a:off x="320040" y="4919472"/>
            <a:ext cx="2560320" cy="493776"/>
          </a:xfrm>
          <a:prstGeom prst="rect">
            <a:avLst/>
          </a:prstGeom>
          <a:solidFill>
            <a:srgbClr val="E8ECF1"/>
          </a:solidFill>
          <a:ln w="12700">
            <a:solidFill>
              <a:srgbClr val="D0D8E4"/>
            </a:solidFill>
            <a:prstDash val="solid"/>
          </a:ln>
        </p:spPr>
        <p:txBody>
          <a:bodyPr/>
          <a:lstStyle/>
          <a:p>
            <a:endParaRPr lang="en-US"/>
          </a:p>
        </p:txBody>
      </p:sp>
      <p:sp>
        <p:nvSpPr>
          <p:cNvPr id="62" name="Text 60"/>
          <p:cNvSpPr/>
          <p:nvPr/>
        </p:nvSpPr>
        <p:spPr>
          <a:xfrm>
            <a:off x="429768" y="4919472"/>
            <a:ext cx="2377440" cy="493776"/>
          </a:xfrm>
          <a:prstGeom prst="rect">
            <a:avLst/>
          </a:prstGeom>
          <a:noFill/>
          <a:ln/>
        </p:spPr>
        <p:txBody>
          <a:bodyPr wrap="square" rtlCol="0" anchor="ctr"/>
          <a:lstStyle/>
          <a:p>
            <a:pPr marL="0" indent="0">
              <a:buNone/>
            </a:pPr>
            <a:r>
              <a:rPr lang="en-US" sz="1150" b="1" dirty="0">
                <a:solidFill>
                  <a:srgbClr val="0D2340"/>
                </a:solidFill>
              </a:rPr>
              <a:t>Use independently?</a:t>
            </a:r>
            <a:endParaRPr lang="en-US" sz="1150" dirty="0"/>
          </a:p>
        </p:txBody>
      </p:sp>
      <p:sp>
        <p:nvSpPr>
          <p:cNvPr id="63" name="Shape 61"/>
          <p:cNvSpPr/>
          <p:nvPr/>
        </p:nvSpPr>
        <p:spPr>
          <a:xfrm>
            <a:off x="2880360" y="4919472"/>
            <a:ext cx="2743200" cy="493776"/>
          </a:xfrm>
          <a:prstGeom prst="rect">
            <a:avLst/>
          </a:prstGeom>
          <a:solidFill>
            <a:srgbClr val="F4F6F9"/>
          </a:solidFill>
          <a:ln w="12700">
            <a:solidFill>
              <a:srgbClr val="D0D8E4"/>
            </a:solidFill>
            <a:prstDash val="solid"/>
          </a:ln>
        </p:spPr>
        <p:txBody>
          <a:bodyPr/>
          <a:lstStyle/>
          <a:p>
            <a:endParaRPr lang="en-US"/>
          </a:p>
        </p:txBody>
      </p:sp>
      <p:sp>
        <p:nvSpPr>
          <p:cNvPr id="64" name="Text 62"/>
          <p:cNvSpPr/>
          <p:nvPr/>
        </p:nvSpPr>
        <p:spPr>
          <a:xfrm>
            <a:off x="2990088" y="4919472"/>
            <a:ext cx="2560320" cy="493776"/>
          </a:xfrm>
          <a:prstGeom prst="rect">
            <a:avLst/>
          </a:prstGeom>
          <a:noFill/>
          <a:ln/>
        </p:spPr>
        <p:txBody>
          <a:bodyPr wrap="square" rtlCol="0" anchor="ctr"/>
          <a:lstStyle/>
          <a:p>
            <a:pPr marL="0" indent="0">
              <a:buNone/>
            </a:pPr>
            <a:r>
              <a:rPr lang="en-US" sz="1100" dirty="0">
                <a:solidFill>
                  <a:srgbClr val="2C4A6E"/>
                </a:solidFill>
              </a:rPr>
              <a:t>Yes</a:t>
            </a:r>
            <a:endParaRPr lang="en-US" sz="1100" dirty="0"/>
          </a:p>
        </p:txBody>
      </p:sp>
      <p:sp>
        <p:nvSpPr>
          <p:cNvPr id="65" name="Shape 63"/>
          <p:cNvSpPr/>
          <p:nvPr/>
        </p:nvSpPr>
        <p:spPr>
          <a:xfrm>
            <a:off x="5623560" y="4919472"/>
            <a:ext cx="3017520" cy="493776"/>
          </a:xfrm>
          <a:prstGeom prst="rect">
            <a:avLst/>
          </a:prstGeom>
          <a:solidFill>
            <a:srgbClr val="F4F6F9"/>
          </a:solidFill>
          <a:ln w="12700">
            <a:solidFill>
              <a:srgbClr val="D0D8E4"/>
            </a:solidFill>
            <a:prstDash val="solid"/>
          </a:ln>
        </p:spPr>
        <p:txBody>
          <a:bodyPr/>
          <a:lstStyle/>
          <a:p>
            <a:endParaRPr lang="en-US"/>
          </a:p>
        </p:txBody>
      </p:sp>
      <p:sp>
        <p:nvSpPr>
          <p:cNvPr id="66" name="Text 64"/>
          <p:cNvSpPr/>
          <p:nvPr/>
        </p:nvSpPr>
        <p:spPr>
          <a:xfrm>
            <a:off x="5733288" y="4919472"/>
            <a:ext cx="2834640" cy="493776"/>
          </a:xfrm>
          <a:prstGeom prst="rect">
            <a:avLst/>
          </a:prstGeom>
          <a:noFill/>
          <a:ln/>
        </p:spPr>
        <p:txBody>
          <a:bodyPr wrap="square" rtlCol="0" anchor="ctr"/>
          <a:lstStyle/>
          <a:p>
            <a:pPr marL="0" indent="0">
              <a:buNone/>
            </a:pPr>
            <a:r>
              <a:rPr lang="en-US" sz="1100" dirty="0">
                <a:solidFill>
                  <a:srgbClr val="2C4A6E"/>
                </a:solidFill>
              </a:rPr>
              <a:t>Yes</a:t>
            </a:r>
            <a:endParaRPr lang="en-US" sz="1100" dirty="0"/>
          </a:p>
        </p:txBody>
      </p:sp>
      <p:sp>
        <p:nvSpPr>
          <p:cNvPr id="67" name="Shape 65"/>
          <p:cNvSpPr/>
          <p:nvPr/>
        </p:nvSpPr>
        <p:spPr>
          <a:xfrm>
            <a:off x="8641080" y="4919472"/>
            <a:ext cx="3017520" cy="493776"/>
          </a:xfrm>
          <a:prstGeom prst="rect">
            <a:avLst/>
          </a:prstGeom>
          <a:solidFill>
            <a:srgbClr val="CCF0EE"/>
          </a:solidFill>
          <a:ln w="12700">
            <a:solidFill>
              <a:srgbClr val="D0D8E4"/>
            </a:solidFill>
            <a:prstDash val="solid"/>
          </a:ln>
        </p:spPr>
        <p:txBody>
          <a:bodyPr/>
          <a:lstStyle/>
          <a:p>
            <a:endParaRPr lang="en-US"/>
          </a:p>
        </p:txBody>
      </p:sp>
      <p:sp>
        <p:nvSpPr>
          <p:cNvPr id="68" name="Text 66"/>
          <p:cNvSpPr/>
          <p:nvPr/>
        </p:nvSpPr>
        <p:spPr>
          <a:xfrm>
            <a:off x="8750808" y="4919472"/>
            <a:ext cx="2834640" cy="493776"/>
          </a:xfrm>
          <a:prstGeom prst="rect">
            <a:avLst/>
          </a:prstGeom>
          <a:noFill/>
          <a:ln/>
        </p:spPr>
        <p:txBody>
          <a:bodyPr wrap="square" rtlCol="0" anchor="ctr"/>
          <a:lstStyle/>
          <a:p>
            <a:pPr marL="0" indent="0">
              <a:buNone/>
            </a:pPr>
            <a:r>
              <a:rPr lang="en-US" sz="1100" dirty="0">
                <a:solidFill>
                  <a:srgbClr val="2C4A6E"/>
                </a:solidFill>
              </a:rPr>
              <a:t>Standalone; replaces JHKnow/ARCU long-term</a:t>
            </a:r>
            <a:endParaRPr lang="en-US" sz="1100" dirty="0"/>
          </a:p>
        </p:txBody>
      </p:sp>
      <p:sp>
        <p:nvSpPr>
          <p:cNvPr id="69" name="Shape 67"/>
          <p:cNvSpPr/>
          <p:nvPr/>
        </p:nvSpPr>
        <p:spPr>
          <a:xfrm>
            <a:off x="8641080" y="1325880"/>
            <a:ext cx="3017520" cy="201168"/>
          </a:xfrm>
          <a:prstGeom prst="rect">
            <a:avLst/>
          </a:prstGeom>
          <a:solidFill>
            <a:srgbClr val="F5A623"/>
          </a:solidFill>
          <a:ln/>
        </p:spPr>
        <p:txBody>
          <a:bodyPr/>
          <a:lstStyle/>
          <a:p>
            <a:endParaRPr lang="en-US"/>
          </a:p>
        </p:txBody>
      </p:sp>
      <p:sp>
        <p:nvSpPr>
          <p:cNvPr id="70" name="Text 68"/>
          <p:cNvSpPr/>
          <p:nvPr/>
        </p:nvSpPr>
        <p:spPr>
          <a:xfrm>
            <a:off x="8641080" y="1325880"/>
            <a:ext cx="3017520" cy="201168"/>
          </a:xfrm>
          <a:prstGeom prst="rect">
            <a:avLst/>
          </a:prstGeom>
          <a:noFill/>
          <a:ln/>
        </p:spPr>
        <p:txBody>
          <a:bodyPr wrap="square" lIns="0" tIns="0" rIns="0" bIns="0" rtlCol="0" anchor="ctr"/>
          <a:lstStyle/>
          <a:p>
            <a:pPr marL="0" indent="0" algn="ctr">
              <a:buNone/>
            </a:pPr>
            <a:r>
              <a:rPr lang="en-US" sz="900" b="1" dirty="0">
                <a:solidFill>
                  <a:srgbClr val="0D2340"/>
                </a:solidFill>
              </a:rPr>
              <a:t>✦ NEW OFFERING</a:t>
            </a:r>
            <a:endParaRPr lang="en-US" sz="900" dirty="0"/>
          </a:p>
        </p:txBody>
      </p:sp>
      <p:sp>
        <p:nvSpPr>
          <p:cNvPr id="71" name="Text 69"/>
          <p:cNvSpPr/>
          <p:nvPr/>
        </p:nvSpPr>
        <p:spPr>
          <a:xfrm>
            <a:off x="320040" y="5897880"/>
            <a:ext cx="11430000" cy="320040"/>
          </a:xfrm>
          <a:prstGeom prst="rect">
            <a:avLst/>
          </a:prstGeom>
          <a:noFill/>
          <a:ln/>
        </p:spPr>
        <p:txBody>
          <a:bodyPr wrap="square" rtlCol="0" anchor="ctr"/>
          <a:lstStyle/>
          <a:p>
            <a:pPr marL="0" indent="0">
              <a:buNone/>
            </a:pPr>
            <a:r>
              <a:rPr lang="en-US" sz="950" i="1" dirty="0">
                <a:solidFill>
                  <a:srgbClr val="4A6080"/>
                </a:solidFill>
              </a:rPr>
              <a:t>* Products can be used independently or in combination. JHBI delivers maximum value when layered on JHKnow or ARCU.</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D2340"/>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89D"/>
          </a:solidFill>
          <a:ln/>
        </p:spPr>
        <p:txBody>
          <a:bodyPr/>
          <a:lstStyle/>
          <a:p>
            <a:endParaRPr lang="en-US"/>
          </a:p>
        </p:txBody>
      </p:sp>
      <p:sp>
        <p:nvSpPr>
          <p:cNvPr id="3" name="Text 1"/>
          <p:cNvSpPr/>
          <p:nvPr/>
        </p:nvSpPr>
        <p:spPr>
          <a:xfrm>
            <a:off x="365760" y="274320"/>
            <a:ext cx="9144000" cy="594360"/>
          </a:xfrm>
          <a:prstGeom prst="rect">
            <a:avLst/>
          </a:prstGeom>
          <a:noFill/>
          <a:ln/>
        </p:spPr>
        <p:txBody>
          <a:bodyPr wrap="square" rtlCol="0" anchor="ctr"/>
          <a:lstStyle/>
          <a:p>
            <a:pPr marL="0" indent="0">
              <a:buNone/>
            </a:pPr>
            <a:r>
              <a:rPr lang="en-US" sz="3200" b="1" dirty="0">
                <a:solidFill>
                  <a:srgbClr val="FFFFFF"/>
                </a:solidFill>
              </a:rPr>
              <a:t>Why Jack Henry for Data?</a:t>
            </a:r>
            <a:endParaRPr lang="en-US" sz="3200" dirty="0"/>
          </a:p>
        </p:txBody>
      </p:sp>
      <p:sp>
        <p:nvSpPr>
          <p:cNvPr id="4" name="Text 2"/>
          <p:cNvSpPr/>
          <p:nvPr/>
        </p:nvSpPr>
        <p:spPr>
          <a:xfrm>
            <a:off x="365760" y="914400"/>
            <a:ext cx="9144000" cy="365760"/>
          </a:xfrm>
          <a:prstGeom prst="rect">
            <a:avLst/>
          </a:prstGeom>
          <a:noFill/>
          <a:ln/>
        </p:spPr>
        <p:txBody>
          <a:bodyPr wrap="square" rtlCol="0" anchor="ctr"/>
          <a:lstStyle/>
          <a:p>
            <a:pPr marL="0" indent="0">
              <a:buNone/>
            </a:pPr>
            <a:r>
              <a:rPr lang="en-US" sz="1400" i="1" dirty="0">
                <a:solidFill>
                  <a:srgbClr val="33BDB3"/>
                </a:solidFill>
              </a:rPr>
              <a:t>Seven reasons your peers choose JH data products over building their own.</a:t>
            </a:r>
            <a:endParaRPr lang="en-US" sz="1400" dirty="0"/>
          </a:p>
        </p:txBody>
      </p:sp>
      <p:sp>
        <p:nvSpPr>
          <p:cNvPr id="5" name="Shape 3"/>
          <p:cNvSpPr/>
          <p:nvPr/>
        </p:nvSpPr>
        <p:spPr>
          <a:xfrm>
            <a:off x="365760" y="1463040"/>
            <a:ext cx="3611880" cy="2011680"/>
          </a:xfrm>
          <a:prstGeom prst="rect">
            <a:avLst/>
          </a:prstGeom>
          <a:solidFill>
            <a:srgbClr val="163354"/>
          </a:solidFill>
          <a:ln/>
          <a:effectLst>
            <a:outerShdw blurRad="127000" dist="25400" dir="8100000" algn="bl" rotWithShape="0">
              <a:srgbClr val="000000">
                <a:alpha val="20000"/>
              </a:srgbClr>
            </a:outerShdw>
          </a:effectLst>
        </p:spPr>
        <p:txBody>
          <a:bodyPr/>
          <a:lstStyle/>
          <a:p>
            <a:endParaRPr lang="en-US"/>
          </a:p>
        </p:txBody>
      </p:sp>
      <p:sp>
        <p:nvSpPr>
          <p:cNvPr id="6" name="Shape 4"/>
          <p:cNvSpPr/>
          <p:nvPr/>
        </p:nvSpPr>
        <p:spPr>
          <a:xfrm>
            <a:off x="365760" y="1463040"/>
            <a:ext cx="3611880" cy="64008"/>
          </a:xfrm>
          <a:prstGeom prst="rect">
            <a:avLst/>
          </a:prstGeom>
          <a:solidFill>
            <a:srgbClr val="00A89D"/>
          </a:solidFill>
          <a:ln/>
        </p:spPr>
        <p:txBody>
          <a:bodyPr/>
          <a:lstStyle/>
          <a:p>
            <a:endParaRPr lang="en-US"/>
          </a:p>
        </p:txBody>
      </p:sp>
      <p:sp>
        <p:nvSpPr>
          <p:cNvPr id="7" name="Shape 5"/>
          <p:cNvSpPr/>
          <p:nvPr/>
        </p:nvSpPr>
        <p:spPr>
          <a:xfrm>
            <a:off x="548640" y="1691640"/>
            <a:ext cx="548640" cy="548640"/>
          </a:xfrm>
          <a:prstGeom prst="ellipse">
            <a:avLst/>
          </a:prstGeom>
          <a:solidFill>
            <a:srgbClr val="00A89D"/>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612648" y="1737360"/>
            <a:ext cx="402336" cy="402336"/>
          </a:xfrm>
          <a:prstGeom prst="rect">
            <a:avLst/>
          </a:prstGeom>
        </p:spPr>
      </p:pic>
      <p:sp>
        <p:nvSpPr>
          <p:cNvPr id="9" name="Text 6"/>
          <p:cNvSpPr/>
          <p:nvPr/>
        </p:nvSpPr>
        <p:spPr>
          <a:xfrm>
            <a:off x="1234440" y="1737360"/>
            <a:ext cx="2560320" cy="384048"/>
          </a:xfrm>
          <a:prstGeom prst="rect">
            <a:avLst/>
          </a:prstGeom>
          <a:noFill/>
          <a:ln/>
        </p:spPr>
        <p:txBody>
          <a:bodyPr wrap="square" rtlCol="0" anchor="ctr"/>
          <a:lstStyle/>
          <a:p>
            <a:pPr marL="0" indent="0">
              <a:buNone/>
            </a:pPr>
            <a:r>
              <a:rPr lang="en-US" sz="1300" b="1" dirty="0">
                <a:solidFill>
                  <a:srgbClr val="FFFFFF"/>
                </a:solidFill>
              </a:rPr>
              <a:t>Native Integration</a:t>
            </a:r>
            <a:endParaRPr lang="en-US" sz="1300" dirty="0"/>
          </a:p>
        </p:txBody>
      </p:sp>
      <p:sp>
        <p:nvSpPr>
          <p:cNvPr id="10" name="Text 7"/>
          <p:cNvSpPr/>
          <p:nvPr/>
        </p:nvSpPr>
        <p:spPr>
          <a:xfrm>
            <a:off x="548640" y="2359152"/>
            <a:ext cx="3246120" cy="868680"/>
          </a:xfrm>
          <a:prstGeom prst="rect">
            <a:avLst/>
          </a:prstGeom>
          <a:noFill/>
          <a:ln/>
        </p:spPr>
        <p:txBody>
          <a:bodyPr wrap="square" rtlCol="0" anchor="ctr"/>
          <a:lstStyle/>
          <a:p>
            <a:pPr marL="0" indent="0">
              <a:buNone/>
            </a:pPr>
            <a:r>
              <a:rPr lang="en-US" sz="1100" dirty="0">
                <a:solidFill>
                  <a:srgbClr val="7B96B2"/>
                </a:solidFill>
              </a:rPr>
              <a:t>Data comes directly from JH core systems — no third-party connectors or custom ETL to maintain.</a:t>
            </a:r>
            <a:endParaRPr lang="en-US" sz="1100" dirty="0"/>
          </a:p>
        </p:txBody>
      </p:sp>
      <p:sp>
        <p:nvSpPr>
          <p:cNvPr id="11" name="Shape 8"/>
          <p:cNvSpPr/>
          <p:nvPr/>
        </p:nvSpPr>
        <p:spPr>
          <a:xfrm>
            <a:off x="4251960" y="1463040"/>
            <a:ext cx="3611880" cy="2011680"/>
          </a:xfrm>
          <a:prstGeom prst="rect">
            <a:avLst/>
          </a:prstGeom>
          <a:solidFill>
            <a:srgbClr val="163354"/>
          </a:solidFill>
          <a:ln/>
          <a:effectLst>
            <a:outerShdw blurRad="127000" dist="25400" dir="8100000" algn="bl" rotWithShape="0">
              <a:srgbClr val="000000">
                <a:alpha val="20000"/>
              </a:srgbClr>
            </a:outerShdw>
          </a:effectLst>
        </p:spPr>
        <p:txBody>
          <a:bodyPr/>
          <a:lstStyle/>
          <a:p>
            <a:endParaRPr lang="en-US"/>
          </a:p>
        </p:txBody>
      </p:sp>
      <p:sp>
        <p:nvSpPr>
          <p:cNvPr id="12" name="Shape 9"/>
          <p:cNvSpPr/>
          <p:nvPr/>
        </p:nvSpPr>
        <p:spPr>
          <a:xfrm>
            <a:off x="4251960" y="1463040"/>
            <a:ext cx="3611880" cy="64008"/>
          </a:xfrm>
          <a:prstGeom prst="rect">
            <a:avLst/>
          </a:prstGeom>
          <a:solidFill>
            <a:srgbClr val="00A89D"/>
          </a:solidFill>
          <a:ln/>
        </p:spPr>
        <p:txBody>
          <a:bodyPr/>
          <a:lstStyle/>
          <a:p>
            <a:endParaRPr lang="en-US"/>
          </a:p>
        </p:txBody>
      </p:sp>
      <p:sp>
        <p:nvSpPr>
          <p:cNvPr id="13" name="Shape 10"/>
          <p:cNvSpPr/>
          <p:nvPr/>
        </p:nvSpPr>
        <p:spPr>
          <a:xfrm>
            <a:off x="4434840" y="1691640"/>
            <a:ext cx="548640" cy="548640"/>
          </a:xfrm>
          <a:prstGeom prst="ellipse">
            <a:avLst/>
          </a:prstGeom>
          <a:solidFill>
            <a:srgbClr val="00A89D"/>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498848" y="1737360"/>
            <a:ext cx="402336" cy="402336"/>
          </a:xfrm>
          <a:prstGeom prst="rect">
            <a:avLst/>
          </a:prstGeom>
        </p:spPr>
      </p:pic>
      <p:sp>
        <p:nvSpPr>
          <p:cNvPr id="15" name="Text 11"/>
          <p:cNvSpPr/>
          <p:nvPr/>
        </p:nvSpPr>
        <p:spPr>
          <a:xfrm>
            <a:off x="5120640" y="1737360"/>
            <a:ext cx="2560320" cy="384048"/>
          </a:xfrm>
          <a:prstGeom prst="rect">
            <a:avLst/>
          </a:prstGeom>
          <a:noFill/>
          <a:ln/>
        </p:spPr>
        <p:txBody>
          <a:bodyPr wrap="square" rtlCol="0" anchor="ctr"/>
          <a:lstStyle/>
          <a:p>
            <a:pPr marL="0" indent="0">
              <a:buNone/>
            </a:pPr>
            <a:r>
              <a:rPr lang="en-US" sz="1300" b="1" dirty="0">
                <a:solidFill>
                  <a:srgbClr val="FFFFFF"/>
                </a:solidFill>
              </a:rPr>
              <a:t>Security &amp; Compliance</a:t>
            </a:r>
            <a:endParaRPr lang="en-US" sz="1300" dirty="0"/>
          </a:p>
        </p:txBody>
      </p:sp>
      <p:sp>
        <p:nvSpPr>
          <p:cNvPr id="16" name="Text 12"/>
          <p:cNvSpPr/>
          <p:nvPr/>
        </p:nvSpPr>
        <p:spPr>
          <a:xfrm>
            <a:off x="4434840" y="2359152"/>
            <a:ext cx="3246120" cy="868680"/>
          </a:xfrm>
          <a:prstGeom prst="rect">
            <a:avLst/>
          </a:prstGeom>
          <a:noFill/>
          <a:ln/>
        </p:spPr>
        <p:txBody>
          <a:bodyPr wrap="square" rtlCol="0" anchor="ctr"/>
          <a:lstStyle/>
          <a:p>
            <a:pPr marL="0" indent="0">
              <a:buNone/>
            </a:pPr>
            <a:r>
              <a:rPr lang="en-US" sz="1100" dirty="0">
                <a:solidFill>
                  <a:srgbClr val="7B96B2"/>
                </a:solidFill>
              </a:rPr>
              <a:t>SOC2-compliant, single-tenant architecture. Your data never co-mingles with another institution.</a:t>
            </a:r>
            <a:endParaRPr lang="en-US" sz="1100" dirty="0"/>
          </a:p>
        </p:txBody>
      </p:sp>
      <p:sp>
        <p:nvSpPr>
          <p:cNvPr id="17" name="Shape 13"/>
          <p:cNvSpPr/>
          <p:nvPr/>
        </p:nvSpPr>
        <p:spPr>
          <a:xfrm>
            <a:off x="8138160" y="1463040"/>
            <a:ext cx="3611880" cy="2011680"/>
          </a:xfrm>
          <a:prstGeom prst="rect">
            <a:avLst/>
          </a:prstGeom>
          <a:solidFill>
            <a:srgbClr val="163354"/>
          </a:solidFill>
          <a:ln/>
          <a:effectLst>
            <a:outerShdw blurRad="127000" dist="25400" dir="8100000" algn="bl" rotWithShape="0">
              <a:srgbClr val="000000">
                <a:alpha val="20000"/>
              </a:srgbClr>
            </a:outerShdw>
          </a:effectLst>
        </p:spPr>
        <p:txBody>
          <a:bodyPr/>
          <a:lstStyle/>
          <a:p>
            <a:endParaRPr lang="en-US"/>
          </a:p>
        </p:txBody>
      </p:sp>
      <p:sp>
        <p:nvSpPr>
          <p:cNvPr id="18" name="Shape 14"/>
          <p:cNvSpPr/>
          <p:nvPr/>
        </p:nvSpPr>
        <p:spPr>
          <a:xfrm>
            <a:off x="8138160" y="1463040"/>
            <a:ext cx="3611880" cy="64008"/>
          </a:xfrm>
          <a:prstGeom prst="rect">
            <a:avLst/>
          </a:prstGeom>
          <a:solidFill>
            <a:srgbClr val="00A89D"/>
          </a:solidFill>
          <a:ln/>
        </p:spPr>
        <p:txBody>
          <a:bodyPr/>
          <a:lstStyle/>
          <a:p>
            <a:endParaRPr lang="en-US"/>
          </a:p>
        </p:txBody>
      </p:sp>
      <p:sp>
        <p:nvSpPr>
          <p:cNvPr id="19" name="Shape 15"/>
          <p:cNvSpPr/>
          <p:nvPr/>
        </p:nvSpPr>
        <p:spPr>
          <a:xfrm>
            <a:off x="8321040" y="1691640"/>
            <a:ext cx="548640" cy="548640"/>
          </a:xfrm>
          <a:prstGeom prst="ellipse">
            <a:avLst/>
          </a:prstGeom>
          <a:solidFill>
            <a:srgbClr val="00A89D"/>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8385048" y="1737360"/>
            <a:ext cx="402336" cy="402336"/>
          </a:xfrm>
          <a:prstGeom prst="rect">
            <a:avLst/>
          </a:prstGeom>
        </p:spPr>
      </p:pic>
      <p:sp>
        <p:nvSpPr>
          <p:cNvPr id="21" name="Text 16"/>
          <p:cNvSpPr/>
          <p:nvPr/>
        </p:nvSpPr>
        <p:spPr>
          <a:xfrm>
            <a:off x="9006840" y="1737360"/>
            <a:ext cx="2560320" cy="384048"/>
          </a:xfrm>
          <a:prstGeom prst="rect">
            <a:avLst/>
          </a:prstGeom>
          <a:noFill/>
          <a:ln/>
        </p:spPr>
        <p:txBody>
          <a:bodyPr wrap="square" rtlCol="0" anchor="ctr"/>
          <a:lstStyle/>
          <a:p>
            <a:pPr marL="0" indent="0">
              <a:buNone/>
            </a:pPr>
            <a:r>
              <a:rPr lang="en-US" sz="1300" b="1" dirty="0">
                <a:solidFill>
                  <a:srgbClr val="FFFFFF"/>
                </a:solidFill>
              </a:rPr>
              <a:t>Pre-Built Models</a:t>
            </a:r>
            <a:endParaRPr lang="en-US" sz="1300" dirty="0"/>
          </a:p>
        </p:txBody>
      </p:sp>
      <p:sp>
        <p:nvSpPr>
          <p:cNvPr id="22" name="Text 17"/>
          <p:cNvSpPr/>
          <p:nvPr/>
        </p:nvSpPr>
        <p:spPr>
          <a:xfrm>
            <a:off x="8321040" y="2359152"/>
            <a:ext cx="3246120" cy="868680"/>
          </a:xfrm>
          <a:prstGeom prst="rect">
            <a:avLst/>
          </a:prstGeom>
          <a:noFill/>
          <a:ln/>
        </p:spPr>
        <p:txBody>
          <a:bodyPr wrap="square" rtlCol="0" anchor="ctr"/>
          <a:lstStyle/>
          <a:p>
            <a:pPr marL="0" indent="0">
              <a:buNone/>
            </a:pPr>
            <a:r>
              <a:rPr lang="en-US" sz="1100" dirty="0">
                <a:solidFill>
                  <a:srgbClr val="7B96B2"/>
                </a:solidFill>
              </a:rPr>
              <a:t>Years of banking domain expertise baked into the data models — not starting from a blank schema.</a:t>
            </a:r>
            <a:endParaRPr lang="en-US" sz="1100" dirty="0"/>
          </a:p>
        </p:txBody>
      </p:sp>
      <p:sp>
        <p:nvSpPr>
          <p:cNvPr id="23" name="Shape 18"/>
          <p:cNvSpPr/>
          <p:nvPr/>
        </p:nvSpPr>
        <p:spPr>
          <a:xfrm>
            <a:off x="365760" y="3749040"/>
            <a:ext cx="3611880" cy="2011680"/>
          </a:xfrm>
          <a:prstGeom prst="rect">
            <a:avLst/>
          </a:prstGeom>
          <a:solidFill>
            <a:srgbClr val="163354"/>
          </a:solidFill>
          <a:ln/>
          <a:effectLst>
            <a:outerShdw blurRad="127000" dist="25400" dir="8100000" algn="bl" rotWithShape="0">
              <a:srgbClr val="000000">
                <a:alpha val="20000"/>
              </a:srgbClr>
            </a:outerShdw>
          </a:effectLst>
        </p:spPr>
        <p:txBody>
          <a:bodyPr/>
          <a:lstStyle/>
          <a:p>
            <a:endParaRPr lang="en-US"/>
          </a:p>
        </p:txBody>
      </p:sp>
      <p:sp>
        <p:nvSpPr>
          <p:cNvPr id="24" name="Shape 19"/>
          <p:cNvSpPr/>
          <p:nvPr/>
        </p:nvSpPr>
        <p:spPr>
          <a:xfrm>
            <a:off x="365760" y="3749040"/>
            <a:ext cx="3611880" cy="64008"/>
          </a:xfrm>
          <a:prstGeom prst="rect">
            <a:avLst/>
          </a:prstGeom>
          <a:solidFill>
            <a:srgbClr val="00A89D"/>
          </a:solidFill>
          <a:ln/>
        </p:spPr>
        <p:txBody>
          <a:bodyPr/>
          <a:lstStyle/>
          <a:p>
            <a:endParaRPr lang="en-US"/>
          </a:p>
        </p:txBody>
      </p:sp>
      <p:sp>
        <p:nvSpPr>
          <p:cNvPr id="25" name="Shape 20"/>
          <p:cNvSpPr/>
          <p:nvPr/>
        </p:nvSpPr>
        <p:spPr>
          <a:xfrm>
            <a:off x="548640" y="3977640"/>
            <a:ext cx="548640" cy="548640"/>
          </a:xfrm>
          <a:prstGeom prst="ellipse">
            <a:avLst/>
          </a:prstGeom>
          <a:solidFill>
            <a:srgbClr val="00A89D"/>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612648" y="4023360"/>
            <a:ext cx="402336" cy="402336"/>
          </a:xfrm>
          <a:prstGeom prst="rect">
            <a:avLst/>
          </a:prstGeom>
        </p:spPr>
      </p:pic>
      <p:sp>
        <p:nvSpPr>
          <p:cNvPr id="27" name="Text 21"/>
          <p:cNvSpPr/>
          <p:nvPr/>
        </p:nvSpPr>
        <p:spPr>
          <a:xfrm>
            <a:off x="1234440" y="4023360"/>
            <a:ext cx="2560320" cy="384048"/>
          </a:xfrm>
          <a:prstGeom prst="rect">
            <a:avLst/>
          </a:prstGeom>
          <a:noFill/>
          <a:ln/>
        </p:spPr>
        <p:txBody>
          <a:bodyPr wrap="square" rtlCol="0" anchor="ctr"/>
          <a:lstStyle/>
          <a:p>
            <a:pPr marL="0" indent="0">
              <a:buNone/>
            </a:pPr>
            <a:r>
              <a:rPr lang="en-US" sz="1300" b="1" dirty="0">
                <a:solidFill>
                  <a:srgbClr val="FFFFFF"/>
                </a:solidFill>
              </a:rPr>
              <a:t>Faster ROI</a:t>
            </a:r>
            <a:endParaRPr lang="en-US" sz="1300" dirty="0"/>
          </a:p>
        </p:txBody>
      </p:sp>
      <p:sp>
        <p:nvSpPr>
          <p:cNvPr id="28" name="Text 22"/>
          <p:cNvSpPr/>
          <p:nvPr/>
        </p:nvSpPr>
        <p:spPr>
          <a:xfrm>
            <a:off x="548640" y="4645152"/>
            <a:ext cx="3246120" cy="868680"/>
          </a:xfrm>
          <a:prstGeom prst="rect">
            <a:avLst/>
          </a:prstGeom>
          <a:noFill/>
          <a:ln/>
        </p:spPr>
        <p:txBody>
          <a:bodyPr wrap="square" rtlCol="0" anchor="ctr"/>
          <a:lstStyle/>
          <a:p>
            <a:pPr marL="0" indent="0">
              <a:buNone/>
            </a:pPr>
            <a:r>
              <a:rPr lang="en-US" sz="1100" dirty="0">
                <a:solidFill>
                  <a:srgbClr val="7B96B2"/>
                </a:solidFill>
              </a:rPr>
              <a:t>Operational in days, not months. No data engineering hiring cycle required.</a:t>
            </a:r>
            <a:endParaRPr lang="en-US" sz="1100" dirty="0"/>
          </a:p>
        </p:txBody>
      </p:sp>
      <p:sp>
        <p:nvSpPr>
          <p:cNvPr id="29" name="Shape 23"/>
          <p:cNvSpPr/>
          <p:nvPr/>
        </p:nvSpPr>
        <p:spPr>
          <a:xfrm>
            <a:off x="4251960" y="3749040"/>
            <a:ext cx="3611880" cy="2011680"/>
          </a:xfrm>
          <a:prstGeom prst="rect">
            <a:avLst/>
          </a:prstGeom>
          <a:solidFill>
            <a:srgbClr val="163354"/>
          </a:solidFill>
          <a:ln/>
          <a:effectLst>
            <a:outerShdw blurRad="127000" dist="25400" dir="8100000" algn="bl" rotWithShape="0">
              <a:srgbClr val="000000">
                <a:alpha val="20000"/>
              </a:srgbClr>
            </a:outerShdw>
          </a:effectLst>
        </p:spPr>
        <p:txBody>
          <a:bodyPr/>
          <a:lstStyle/>
          <a:p>
            <a:endParaRPr lang="en-US"/>
          </a:p>
        </p:txBody>
      </p:sp>
      <p:sp>
        <p:nvSpPr>
          <p:cNvPr id="30" name="Shape 24"/>
          <p:cNvSpPr/>
          <p:nvPr/>
        </p:nvSpPr>
        <p:spPr>
          <a:xfrm>
            <a:off x="4251960" y="3749040"/>
            <a:ext cx="3611880" cy="64008"/>
          </a:xfrm>
          <a:prstGeom prst="rect">
            <a:avLst/>
          </a:prstGeom>
          <a:solidFill>
            <a:srgbClr val="00A89D"/>
          </a:solidFill>
          <a:ln/>
        </p:spPr>
        <p:txBody>
          <a:bodyPr/>
          <a:lstStyle/>
          <a:p>
            <a:endParaRPr lang="en-US"/>
          </a:p>
        </p:txBody>
      </p:sp>
      <p:sp>
        <p:nvSpPr>
          <p:cNvPr id="31" name="Shape 25"/>
          <p:cNvSpPr/>
          <p:nvPr/>
        </p:nvSpPr>
        <p:spPr>
          <a:xfrm>
            <a:off x="4434840" y="3977640"/>
            <a:ext cx="548640" cy="548640"/>
          </a:xfrm>
          <a:prstGeom prst="ellipse">
            <a:avLst/>
          </a:prstGeom>
          <a:solidFill>
            <a:srgbClr val="00A89D"/>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4498848" y="4023360"/>
            <a:ext cx="402336" cy="402336"/>
          </a:xfrm>
          <a:prstGeom prst="rect">
            <a:avLst/>
          </a:prstGeom>
        </p:spPr>
      </p:pic>
      <p:sp>
        <p:nvSpPr>
          <p:cNvPr id="33" name="Text 26"/>
          <p:cNvSpPr/>
          <p:nvPr/>
        </p:nvSpPr>
        <p:spPr>
          <a:xfrm>
            <a:off x="5120640" y="4023360"/>
            <a:ext cx="2560320" cy="384048"/>
          </a:xfrm>
          <a:prstGeom prst="rect">
            <a:avLst/>
          </a:prstGeom>
          <a:noFill/>
          <a:ln/>
        </p:spPr>
        <p:txBody>
          <a:bodyPr wrap="square" rtlCol="0" anchor="ctr"/>
          <a:lstStyle/>
          <a:p>
            <a:pPr marL="0" indent="0">
              <a:buNone/>
            </a:pPr>
            <a:r>
              <a:rPr lang="en-US" sz="1300" b="1" dirty="0">
                <a:solidFill>
                  <a:srgbClr val="FFFFFF"/>
                </a:solidFill>
              </a:rPr>
              <a:t>Cloud-Native</a:t>
            </a:r>
            <a:endParaRPr lang="en-US" sz="1300" dirty="0"/>
          </a:p>
        </p:txBody>
      </p:sp>
      <p:sp>
        <p:nvSpPr>
          <p:cNvPr id="34" name="Text 27"/>
          <p:cNvSpPr/>
          <p:nvPr/>
        </p:nvSpPr>
        <p:spPr>
          <a:xfrm>
            <a:off x="4434840" y="4645152"/>
            <a:ext cx="3246120" cy="868680"/>
          </a:xfrm>
          <a:prstGeom prst="rect">
            <a:avLst/>
          </a:prstGeom>
          <a:noFill/>
          <a:ln/>
        </p:spPr>
        <p:txBody>
          <a:bodyPr wrap="square" rtlCol="0" anchor="ctr"/>
          <a:lstStyle/>
          <a:p>
            <a:pPr marL="0" indent="0">
              <a:buNone/>
            </a:pPr>
            <a:r>
              <a:rPr lang="en-US" sz="1100" dirty="0">
                <a:solidFill>
                  <a:srgbClr val="7B96B2"/>
                </a:solidFill>
              </a:rPr>
              <a:t>Built on GCP/BigQuery — elastic scale, no on-premise hardware, pay for what you use.</a:t>
            </a:r>
            <a:endParaRPr lang="en-US" sz="1100" dirty="0"/>
          </a:p>
        </p:txBody>
      </p:sp>
      <p:sp>
        <p:nvSpPr>
          <p:cNvPr id="35" name="Shape 28"/>
          <p:cNvSpPr/>
          <p:nvPr/>
        </p:nvSpPr>
        <p:spPr>
          <a:xfrm>
            <a:off x="8138160" y="3749040"/>
            <a:ext cx="3611880" cy="2011680"/>
          </a:xfrm>
          <a:prstGeom prst="rect">
            <a:avLst/>
          </a:prstGeom>
          <a:solidFill>
            <a:srgbClr val="163354"/>
          </a:solidFill>
          <a:ln/>
          <a:effectLst>
            <a:outerShdw blurRad="127000" dist="25400" dir="8100000" algn="bl" rotWithShape="0">
              <a:srgbClr val="000000">
                <a:alpha val="20000"/>
              </a:srgbClr>
            </a:outerShdw>
          </a:effectLst>
        </p:spPr>
        <p:txBody>
          <a:bodyPr/>
          <a:lstStyle/>
          <a:p>
            <a:endParaRPr lang="en-US"/>
          </a:p>
        </p:txBody>
      </p:sp>
      <p:sp>
        <p:nvSpPr>
          <p:cNvPr id="36" name="Shape 29"/>
          <p:cNvSpPr/>
          <p:nvPr/>
        </p:nvSpPr>
        <p:spPr>
          <a:xfrm>
            <a:off x="8138160" y="3749040"/>
            <a:ext cx="3611880" cy="64008"/>
          </a:xfrm>
          <a:prstGeom prst="rect">
            <a:avLst/>
          </a:prstGeom>
          <a:solidFill>
            <a:srgbClr val="00A89D"/>
          </a:solidFill>
          <a:ln/>
        </p:spPr>
        <p:txBody>
          <a:bodyPr/>
          <a:lstStyle/>
          <a:p>
            <a:endParaRPr lang="en-US"/>
          </a:p>
        </p:txBody>
      </p:sp>
      <p:sp>
        <p:nvSpPr>
          <p:cNvPr id="37" name="Shape 30"/>
          <p:cNvSpPr/>
          <p:nvPr/>
        </p:nvSpPr>
        <p:spPr>
          <a:xfrm>
            <a:off x="8321040" y="3977640"/>
            <a:ext cx="548640" cy="548640"/>
          </a:xfrm>
          <a:prstGeom prst="ellipse">
            <a:avLst/>
          </a:prstGeom>
          <a:solidFill>
            <a:srgbClr val="00A89D"/>
          </a:solidFill>
          <a:ln/>
        </p:spPr>
        <p:txBody>
          <a:bodyPr/>
          <a:lstStyle/>
          <a:p>
            <a:endParaRPr lang="en-US"/>
          </a:p>
        </p:txBody>
      </p:sp>
      <p:pic>
        <p:nvPicPr>
          <p:cNvPr id="38" name="Image 5" descr="preencoded.png"/>
          <p:cNvPicPr>
            <a:picLocks noChangeAspect="1"/>
          </p:cNvPicPr>
          <p:nvPr/>
        </p:nvPicPr>
        <p:blipFill>
          <a:blip r:embed="rId8"/>
          <a:stretch>
            <a:fillRect/>
          </a:stretch>
        </p:blipFill>
        <p:spPr>
          <a:xfrm>
            <a:off x="8385048" y="4023360"/>
            <a:ext cx="402336" cy="402336"/>
          </a:xfrm>
          <a:prstGeom prst="rect">
            <a:avLst/>
          </a:prstGeom>
        </p:spPr>
      </p:pic>
      <p:sp>
        <p:nvSpPr>
          <p:cNvPr id="39" name="Text 31"/>
          <p:cNvSpPr/>
          <p:nvPr/>
        </p:nvSpPr>
        <p:spPr>
          <a:xfrm>
            <a:off x="9006840" y="4023360"/>
            <a:ext cx="2560320" cy="384048"/>
          </a:xfrm>
          <a:prstGeom prst="rect">
            <a:avLst/>
          </a:prstGeom>
          <a:noFill/>
          <a:ln/>
        </p:spPr>
        <p:txBody>
          <a:bodyPr wrap="square" rtlCol="0" anchor="ctr"/>
          <a:lstStyle/>
          <a:p>
            <a:pPr marL="0" indent="0">
              <a:buNone/>
            </a:pPr>
            <a:r>
              <a:rPr lang="en-US" sz="1300" b="1" dirty="0">
                <a:solidFill>
                  <a:srgbClr val="FFFFFF"/>
                </a:solidFill>
              </a:rPr>
              <a:t>One Relationship</a:t>
            </a:r>
            <a:endParaRPr lang="en-US" sz="1300" dirty="0"/>
          </a:p>
        </p:txBody>
      </p:sp>
      <p:sp>
        <p:nvSpPr>
          <p:cNvPr id="40" name="Text 32"/>
          <p:cNvSpPr/>
          <p:nvPr/>
        </p:nvSpPr>
        <p:spPr>
          <a:xfrm>
            <a:off x="8321040" y="4645152"/>
            <a:ext cx="3246120" cy="868680"/>
          </a:xfrm>
          <a:prstGeom prst="rect">
            <a:avLst/>
          </a:prstGeom>
          <a:noFill/>
          <a:ln/>
        </p:spPr>
        <p:txBody>
          <a:bodyPr wrap="square" rtlCol="0" anchor="ctr"/>
          <a:lstStyle/>
          <a:p>
            <a:pPr marL="0" indent="0">
              <a:buNone/>
            </a:pPr>
            <a:r>
              <a:rPr lang="en-US" sz="1100" dirty="0">
                <a:solidFill>
                  <a:srgbClr val="7B96B2"/>
                </a:solidFill>
              </a:rPr>
              <a:t>Core + data + BI from a single partner. One contract, one support team, one roadmap.</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D2340"/>
          </a:solidFill>
          <a:ln/>
        </p:spPr>
        <p:txBody>
          <a:bodyPr/>
          <a:lstStyle/>
          <a:p>
            <a:endParaRPr lang="en-US"/>
          </a:p>
        </p:txBody>
      </p:sp>
      <p:sp>
        <p:nvSpPr>
          <p:cNvPr id="3" name="Shape 1"/>
          <p:cNvSpPr/>
          <p:nvPr/>
        </p:nvSpPr>
        <p:spPr>
          <a:xfrm>
            <a:off x="0" y="1188720"/>
            <a:ext cx="12161520" cy="64008"/>
          </a:xfrm>
          <a:prstGeom prst="rect">
            <a:avLst/>
          </a:prstGeom>
          <a:solidFill>
            <a:srgbClr val="00A89D"/>
          </a:solidFill>
          <a:ln/>
        </p:spPr>
        <p:txBody>
          <a:bodyPr/>
          <a:lstStyle/>
          <a:p>
            <a:endParaRPr lang="en-US"/>
          </a:p>
        </p:txBody>
      </p:sp>
      <p:sp>
        <p:nvSpPr>
          <p:cNvPr id="4" name="Text 2"/>
          <p:cNvSpPr/>
          <p:nvPr/>
        </p:nvSpPr>
        <p:spPr>
          <a:xfrm>
            <a:off x="457200" y="0"/>
            <a:ext cx="9144000" cy="1188720"/>
          </a:xfrm>
          <a:prstGeom prst="rect">
            <a:avLst/>
          </a:prstGeom>
          <a:noFill/>
          <a:ln/>
        </p:spPr>
        <p:txBody>
          <a:bodyPr wrap="square" rtlCol="0" anchor="ctr"/>
          <a:lstStyle/>
          <a:p>
            <a:pPr marL="0" indent="0">
              <a:buNone/>
            </a:pPr>
            <a:r>
              <a:rPr lang="en-US" sz="3200" b="1" dirty="0">
                <a:solidFill>
                  <a:srgbClr val="FFFFFF"/>
                </a:solidFill>
              </a:rPr>
              <a:t>Suggested Next Steps</a:t>
            </a:r>
            <a:endParaRPr lang="en-US" sz="3200" dirty="0"/>
          </a:p>
        </p:txBody>
      </p:sp>
      <p:sp>
        <p:nvSpPr>
          <p:cNvPr id="5" name="Shape 3"/>
          <p:cNvSpPr/>
          <p:nvPr/>
        </p:nvSpPr>
        <p:spPr>
          <a:xfrm>
            <a:off x="320040" y="1463040"/>
            <a:ext cx="2743200" cy="470916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6" name="Shape 4"/>
          <p:cNvSpPr/>
          <p:nvPr/>
        </p:nvSpPr>
        <p:spPr>
          <a:xfrm>
            <a:off x="320040" y="1463040"/>
            <a:ext cx="2743200" cy="822960"/>
          </a:xfrm>
          <a:prstGeom prst="rect">
            <a:avLst/>
          </a:prstGeom>
          <a:solidFill>
            <a:srgbClr val="0D2340"/>
          </a:solidFill>
          <a:ln/>
        </p:spPr>
        <p:txBody>
          <a:bodyPr/>
          <a:lstStyle/>
          <a:p>
            <a:endParaRPr lang="en-US"/>
          </a:p>
        </p:txBody>
      </p:sp>
      <p:sp>
        <p:nvSpPr>
          <p:cNvPr id="7" name="Shape 5"/>
          <p:cNvSpPr/>
          <p:nvPr/>
        </p:nvSpPr>
        <p:spPr>
          <a:xfrm>
            <a:off x="1344168" y="1508760"/>
            <a:ext cx="694944" cy="694944"/>
          </a:xfrm>
          <a:prstGeom prst="ellipse">
            <a:avLst/>
          </a:prstGeom>
          <a:solidFill>
            <a:srgbClr val="00A89D"/>
          </a:solidFill>
          <a:ln/>
        </p:spPr>
        <p:txBody>
          <a:bodyPr/>
          <a:lstStyle/>
          <a:p>
            <a:endParaRPr lang="en-US"/>
          </a:p>
        </p:txBody>
      </p:sp>
      <p:sp>
        <p:nvSpPr>
          <p:cNvPr id="8" name="Text 6"/>
          <p:cNvSpPr/>
          <p:nvPr/>
        </p:nvSpPr>
        <p:spPr>
          <a:xfrm>
            <a:off x="1344168" y="1508760"/>
            <a:ext cx="694944" cy="694944"/>
          </a:xfrm>
          <a:prstGeom prst="rect">
            <a:avLst/>
          </a:prstGeom>
          <a:noFill/>
          <a:ln/>
        </p:spPr>
        <p:txBody>
          <a:bodyPr wrap="square" lIns="0" tIns="0" rIns="0" bIns="0" rtlCol="0" anchor="ctr"/>
          <a:lstStyle/>
          <a:p>
            <a:pPr marL="0" indent="0" algn="ctr">
              <a:buNone/>
            </a:pPr>
            <a:r>
              <a:rPr lang="en-US" sz="2200" b="1" dirty="0">
                <a:solidFill>
                  <a:srgbClr val="0D2340"/>
                </a:solidFill>
              </a:rPr>
              <a:t>1</a:t>
            </a:r>
            <a:endParaRPr lang="en-US" sz="2200" dirty="0"/>
          </a:p>
        </p:txBody>
      </p:sp>
      <p:sp>
        <p:nvSpPr>
          <p:cNvPr id="9" name="Text 7"/>
          <p:cNvSpPr/>
          <p:nvPr/>
        </p:nvSpPr>
        <p:spPr>
          <a:xfrm>
            <a:off x="411480" y="2176272"/>
            <a:ext cx="2560320" cy="256032"/>
          </a:xfrm>
          <a:prstGeom prst="rect">
            <a:avLst/>
          </a:prstGeom>
          <a:noFill/>
          <a:ln/>
        </p:spPr>
        <p:txBody>
          <a:bodyPr wrap="square" rtlCol="0" anchor="ctr"/>
          <a:lstStyle/>
          <a:p>
            <a:pPr marL="0" indent="0" algn="ctr">
              <a:buNone/>
            </a:pPr>
            <a:r>
              <a:rPr lang="en-US" sz="850" b="1" dirty="0">
                <a:solidFill>
                  <a:srgbClr val="33BDB3"/>
                </a:solidFill>
              </a:rPr>
              <a:t>DISCOVERY CALL</a:t>
            </a:r>
            <a:endParaRPr lang="en-US" sz="850" dirty="0"/>
          </a:p>
        </p:txBody>
      </p:sp>
      <p:sp>
        <p:nvSpPr>
          <p:cNvPr id="10" name="Text 8"/>
          <p:cNvSpPr/>
          <p:nvPr/>
        </p:nvSpPr>
        <p:spPr>
          <a:xfrm>
            <a:off x="457200" y="2487168"/>
            <a:ext cx="2468880" cy="594360"/>
          </a:xfrm>
          <a:prstGeom prst="rect">
            <a:avLst/>
          </a:prstGeom>
          <a:noFill/>
          <a:ln/>
        </p:spPr>
        <p:txBody>
          <a:bodyPr wrap="square" rtlCol="0" anchor="ctr"/>
          <a:lstStyle/>
          <a:p>
            <a:pPr marL="0" indent="0" algn="ctr">
              <a:buNone/>
            </a:pPr>
            <a:r>
              <a:rPr lang="en-US" sz="1300" b="1" dirty="0">
                <a:solidFill>
                  <a:srgbClr val="0D2340"/>
                </a:solidFill>
              </a:rPr>
              <a:t>Tell us about your data goals</a:t>
            </a:r>
            <a:endParaRPr lang="en-US" sz="1300" dirty="0"/>
          </a:p>
        </p:txBody>
      </p:sp>
      <p:sp>
        <p:nvSpPr>
          <p:cNvPr id="11" name="Text 9"/>
          <p:cNvSpPr/>
          <p:nvPr/>
        </p:nvSpPr>
        <p:spPr>
          <a:xfrm>
            <a:off x="457200" y="3127248"/>
            <a:ext cx="2468880" cy="1828800"/>
          </a:xfrm>
          <a:prstGeom prst="rect">
            <a:avLst/>
          </a:prstGeom>
          <a:noFill/>
          <a:ln/>
        </p:spPr>
        <p:txBody>
          <a:bodyPr wrap="square" rtlCol="0" anchor="ctr"/>
          <a:lstStyle/>
          <a:p>
            <a:pPr marL="0" indent="0" algn="ctr">
              <a:buNone/>
            </a:pPr>
            <a:r>
              <a:rPr lang="en-US" sz="1100" dirty="0">
                <a:solidFill>
                  <a:srgbClr val="2C4A6E"/>
                </a:solidFill>
              </a:rPr>
              <a:t>What decisions do you wish you could make faster? What reports take too long? We'll map your priorities to the right starting point.</a:t>
            </a:r>
            <a:endParaRPr lang="en-US" sz="1100" dirty="0"/>
          </a:p>
        </p:txBody>
      </p:sp>
      <p:sp>
        <p:nvSpPr>
          <p:cNvPr id="12" name="Shape 10"/>
          <p:cNvSpPr/>
          <p:nvPr/>
        </p:nvSpPr>
        <p:spPr>
          <a:xfrm>
            <a:off x="457200" y="5102352"/>
            <a:ext cx="2468880" cy="347472"/>
          </a:xfrm>
          <a:prstGeom prst="rect">
            <a:avLst/>
          </a:prstGeom>
          <a:solidFill>
            <a:srgbClr val="0D2340"/>
          </a:solidFill>
          <a:ln/>
        </p:spPr>
        <p:txBody>
          <a:bodyPr/>
          <a:lstStyle/>
          <a:p>
            <a:endParaRPr lang="en-US"/>
          </a:p>
        </p:txBody>
      </p:sp>
      <p:sp>
        <p:nvSpPr>
          <p:cNvPr id="13" name="Text 11"/>
          <p:cNvSpPr/>
          <p:nvPr/>
        </p:nvSpPr>
        <p:spPr>
          <a:xfrm>
            <a:off x="457200" y="5102352"/>
            <a:ext cx="2468880" cy="347472"/>
          </a:xfrm>
          <a:prstGeom prst="rect">
            <a:avLst/>
          </a:prstGeom>
          <a:noFill/>
          <a:ln/>
        </p:spPr>
        <p:txBody>
          <a:bodyPr wrap="square" lIns="0" tIns="0" rIns="0" bIns="0" rtlCol="0" anchor="ctr"/>
          <a:lstStyle/>
          <a:p>
            <a:pPr marL="0" indent="0" algn="ctr">
              <a:buNone/>
            </a:pPr>
            <a:r>
              <a:rPr lang="en-US" sz="1000" b="1" dirty="0">
                <a:solidFill>
                  <a:srgbClr val="FFFFFF"/>
                </a:solidFill>
              </a:rPr>
              <a:t>Schedule 30-min discovery</a:t>
            </a:r>
            <a:endParaRPr lang="en-US" sz="1000" dirty="0"/>
          </a:p>
        </p:txBody>
      </p:sp>
      <p:sp>
        <p:nvSpPr>
          <p:cNvPr id="14" name="Shape 12"/>
          <p:cNvSpPr/>
          <p:nvPr/>
        </p:nvSpPr>
        <p:spPr>
          <a:xfrm>
            <a:off x="3063240" y="3794760"/>
            <a:ext cx="182880" cy="0"/>
          </a:xfrm>
          <a:prstGeom prst="line">
            <a:avLst/>
          </a:prstGeom>
          <a:noFill/>
          <a:ln w="12700">
            <a:solidFill>
              <a:srgbClr val="00A89D"/>
            </a:solidFill>
            <a:prstDash val="solid"/>
          </a:ln>
        </p:spPr>
        <p:txBody>
          <a:bodyPr/>
          <a:lstStyle/>
          <a:p>
            <a:endParaRPr lang="en-US"/>
          </a:p>
        </p:txBody>
      </p:sp>
      <p:sp>
        <p:nvSpPr>
          <p:cNvPr id="15" name="Shape 13"/>
          <p:cNvSpPr/>
          <p:nvPr/>
        </p:nvSpPr>
        <p:spPr>
          <a:xfrm>
            <a:off x="3246120" y="1463040"/>
            <a:ext cx="2743200" cy="470916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6" name="Shape 14"/>
          <p:cNvSpPr/>
          <p:nvPr/>
        </p:nvSpPr>
        <p:spPr>
          <a:xfrm>
            <a:off x="3246120" y="1463040"/>
            <a:ext cx="2743200" cy="822960"/>
          </a:xfrm>
          <a:prstGeom prst="rect">
            <a:avLst/>
          </a:prstGeom>
          <a:solidFill>
            <a:srgbClr val="163354"/>
          </a:solidFill>
          <a:ln/>
        </p:spPr>
        <p:txBody>
          <a:bodyPr/>
          <a:lstStyle/>
          <a:p>
            <a:endParaRPr lang="en-US"/>
          </a:p>
        </p:txBody>
      </p:sp>
      <p:sp>
        <p:nvSpPr>
          <p:cNvPr id="17" name="Shape 15"/>
          <p:cNvSpPr/>
          <p:nvPr/>
        </p:nvSpPr>
        <p:spPr>
          <a:xfrm>
            <a:off x="4270248" y="1508760"/>
            <a:ext cx="694944" cy="694944"/>
          </a:xfrm>
          <a:prstGeom prst="ellipse">
            <a:avLst/>
          </a:prstGeom>
          <a:solidFill>
            <a:srgbClr val="00A89D"/>
          </a:solidFill>
          <a:ln/>
        </p:spPr>
        <p:txBody>
          <a:bodyPr/>
          <a:lstStyle/>
          <a:p>
            <a:endParaRPr lang="en-US"/>
          </a:p>
        </p:txBody>
      </p:sp>
      <p:sp>
        <p:nvSpPr>
          <p:cNvPr id="18" name="Text 16"/>
          <p:cNvSpPr/>
          <p:nvPr/>
        </p:nvSpPr>
        <p:spPr>
          <a:xfrm>
            <a:off x="4270248" y="1508760"/>
            <a:ext cx="694944" cy="694944"/>
          </a:xfrm>
          <a:prstGeom prst="rect">
            <a:avLst/>
          </a:prstGeom>
          <a:noFill/>
          <a:ln/>
        </p:spPr>
        <p:txBody>
          <a:bodyPr wrap="square" lIns="0" tIns="0" rIns="0" bIns="0" rtlCol="0" anchor="ctr"/>
          <a:lstStyle/>
          <a:p>
            <a:pPr marL="0" indent="0" algn="ctr">
              <a:buNone/>
            </a:pPr>
            <a:r>
              <a:rPr lang="en-US" sz="2200" b="1" dirty="0">
                <a:solidFill>
                  <a:srgbClr val="0D2340"/>
                </a:solidFill>
              </a:rPr>
              <a:t>2</a:t>
            </a:r>
            <a:endParaRPr lang="en-US" sz="2200" dirty="0"/>
          </a:p>
        </p:txBody>
      </p:sp>
      <p:sp>
        <p:nvSpPr>
          <p:cNvPr id="19" name="Text 17"/>
          <p:cNvSpPr/>
          <p:nvPr/>
        </p:nvSpPr>
        <p:spPr>
          <a:xfrm>
            <a:off x="3337560" y="2176272"/>
            <a:ext cx="2560320" cy="256032"/>
          </a:xfrm>
          <a:prstGeom prst="rect">
            <a:avLst/>
          </a:prstGeom>
          <a:noFill/>
          <a:ln/>
        </p:spPr>
        <p:txBody>
          <a:bodyPr wrap="square" rtlCol="0" anchor="ctr"/>
          <a:lstStyle/>
          <a:p>
            <a:pPr marL="0" indent="0" algn="ctr">
              <a:buNone/>
            </a:pPr>
            <a:r>
              <a:rPr lang="en-US" sz="850" b="1" dirty="0">
                <a:solidFill>
                  <a:srgbClr val="33BDB3"/>
                </a:solidFill>
              </a:rPr>
              <a:t>DATAHUB ASSESSMENT</a:t>
            </a:r>
            <a:endParaRPr lang="en-US" sz="850" dirty="0"/>
          </a:p>
        </p:txBody>
      </p:sp>
      <p:sp>
        <p:nvSpPr>
          <p:cNvPr id="20" name="Text 18"/>
          <p:cNvSpPr/>
          <p:nvPr/>
        </p:nvSpPr>
        <p:spPr>
          <a:xfrm>
            <a:off x="3383280" y="2487168"/>
            <a:ext cx="2468880" cy="594360"/>
          </a:xfrm>
          <a:prstGeom prst="rect">
            <a:avLst/>
          </a:prstGeom>
          <a:noFill/>
          <a:ln/>
        </p:spPr>
        <p:txBody>
          <a:bodyPr wrap="square" rtlCol="0" anchor="ctr"/>
          <a:lstStyle/>
          <a:p>
            <a:pPr marL="0" indent="0" algn="ctr">
              <a:buNone/>
            </a:pPr>
            <a:r>
              <a:rPr lang="en-US" sz="1300" b="1" dirty="0">
                <a:solidFill>
                  <a:srgbClr val="0D2340"/>
                </a:solidFill>
              </a:rPr>
              <a:t>Review your current data feeds</a:t>
            </a:r>
            <a:endParaRPr lang="en-US" sz="1300" dirty="0"/>
          </a:p>
        </p:txBody>
      </p:sp>
      <p:sp>
        <p:nvSpPr>
          <p:cNvPr id="21" name="Text 19"/>
          <p:cNvSpPr/>
          <p:nvPr/>
        </p:nvSpPr>
        <p:spPr>
          <a:xfrm>
            <a:off x="3383280" y="3127248"/>
            <a:ext cx="2468880" cy="1828800"/>
          </a:xfrm>
          <a:prstGeom prst="rect">
            <a:avLst/>
          </a:prstGeom>
          <a:noFill/>
          <a:ln/>
        </p:spPr>
        <p:txBody>
          <a:bodyPr wrap="square" rtlCol="0" anchor="ctr"/>
          <a:lstStyle/>
          <a:p>
            <a:pPr marL="0" indent="0" algn="ctr">
              <a:buNone/>
            </a:pPr>
            <a:r>
              <a:rPr lang="en-US" sz="1100" dirty="0">
                <a:solidFill>
                  <a:srgbClr val="2C4A6E"/>
                </a:solidFill>
              </a:rPr>
              <a:t>We'll audit which JH systems you're live on and confirm which DataHub feeds are available for your institution today.</a:t>
            </a:r>
            <a:endParaRPr lang="en-US" sz="1100" dirty="0"/>
          </a:p>
        </p:txBody>
      </p:sp>
      <p:sp>
        <p:nvSpPr>
          <p:cNvPr id="22" name="Shape 20"/>
          <p:cNvSpPr/>
          <p:nvPr/>
        </p:nvSpPr>
        <p:spPr>
          <a:xfrm>
            <a:off x="3383280" y="5102352"/>
            <a:ext cx="2468880" cy="347472"/>
          </a:xfrm>
          <a:prstGeom prst="rect">
            <a:avLst/>
          </a:prstGeom>
          <a:solidFill>
            <a:srgbClr val="163354"/>
          </a:solidFill>
          <a:ln/>
        </p:spPr>
        <p:txBody>
          <a:bodyPr/>
          <a:lstStyle/>
          <a:p>
            <a:endParaRPr lang="en-US"/>
          </a:p>
        </p:txBody>
      </p:sp>
      <p:sp>
        <p:nvSpPr>
          <p:cNvPr id="23" name="Text 21"/>
          <p:cNvSpPr/>
          <p:nvPr/>
        </p:nvSpPr>
        <p:spPr>
          <a:xfrm>
            <a:off x="3383280" y="5102352"/>
            <a:ext cx="2468880" cy="347472"/>
          </a:xfrm>
          <a:prstGeom prst="rect">
            <a:avLst/>
          </a:prstGeom>
          <a:noFill/>
          <a:ln/>
        </p:spPr>
        <p:txBody>
          <a:bodyPr wrap="square" lIns="0" tIns="0" rIns="0" bIns="0" rtlCol="0" anchor="ctr"/>
          <a:lstStyle/>
          <a:p>
            <a:pPr marL="0" indent="0" algn="ctr">
              <a:buNone/>
            </a:pPr>
            <a:r>
              <a:rPr lang="en-US" sz="1000" b="1" dirty="0">
                <a:solidFill>
                  <a:srgbClr val="FFFFFF"/>
                </a:solidFill>
              </a:rPr>
              <a:t>Initiate DataHub assessment</a:t>
            </a:r>
            <a:endParaRPr lang="en-US" sz="1000" dirty="0"/>
          </a:p>
        </p:txBody>
      </p:sp>
      <p:sp>
        <p:nvSpPr>
          <p:cNvPr id="24" name="Shape 22"/>
          <p:cNvSpPr/>
          <p:nvPr/>
        </p:nvSpPr>
        <p:spPr>
          <a:xfrm>
            <a:off x="5989320" y="3794760"/>
            <a:ext cx="182880" cy="0"/>
          </a:xfrm>
          <a:prstGeom prst="line">
            <a:avLst/>
          </a:prstGeom>
          <a:noFill/>
          <a:ln w="12700">
            <a:solidFill>
              <a:srgbClr val="00A89D"/>
            </a:solidFill>
            <a:prstDash val="solid"/>
          </a:ln>
        </p:spPr>
        <p:txBody>
          <a:bodyPr/>
          <a:lstStyle/>
          <a:p>
            <a:endParaRPr lang="en-US"/>
          </a:p>
        </p:txBody>
      </p:sp>
      <p:sp>
        <p:nvSpPr>
          <p:cNvPr id="25" name="Shape 23"/>
          <p:cNvSpPr/>
          <p:nvPr/>
        </p:nvSpPr>
        <p:spPr>
          <a:xfrm>
            <a:off x="6172200" y="1463040"/>
            <a:ext cx="2743200" cy="470916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6" name="Shape 24"/>
          <p:cNvSpPr/>
          <p:nvPr/>
        </p:nvSpPr>
        <p:spPr>
          <a:xfrm>
            <a:off x="6172200" y="1463040"/>
            <a:ext cx="2743200" cy="822960"/>
          </a:xfrm>
          <a:prstGeom prst="rect">
            <a:avLst/>
          </a:prstGeom>
          <a:solidFill>
            <a:srgbClr val="0C5C6E"/>
          </a:solidFill>
          <a:ln/>
        </p:spPr>
        <p:txBody>
          <a:bodyPr/>
          <a:lstStyle/>
          <a:p>
            <a:endParaRPr lang="en-US"/>
          </a:p>
        </p:txBody>
      </p:sp>
      <p:sp>
        <p:nvSpPr>
          <p:cNvPr id="27" name="Shape 25"/>
          <p:cNvSpPr/>
          <p:nvPr/>
        </p:nvSpPr>
        <p:spPr>
          <a:xfrm>
            <a:off x="7196328" y="1508760"/>
            <a:ext cx="694944" cy="694944"/>
          </a:xfrm>
          <a:prstGeom prst="ellipse">
            <a:avLst/>
          </a:prstGeom>
          <a:solidFill>
            <a:srgbClr val="00A89D"/>
          </a:solidFill>
          <a:ln/>
        </p:spPr>
        <p:txBody>
          <a:bodyPr/>
          <a:lstStyle/>
          <a:p>
            <a:endParaRPr lang="en-US"/>
          </a:p>
        </p:txBody>
      </p:sp>
      <p:sp>
        <p:nvSpPr>
          <p:cNvPr id="28" name="Text 26"/>
          <p:cNvSpPr/>
          <p:nvPr/>
        </p:nvSpPr>
        <p:spPr>
          <a:xfrm>
            <a:off x="7196328" y="1508760"/>
            <a:ext cx="694944" cy="694944"/>
          </a:xfrm>
          <a:prstGeom prst="rect">
            <a:avLst/>
          </a:prstGeom>
          <a:noFill/>
          <a:ln/>
        </p:spPr>
        <p:txBody>
          <a:bodyPr wrap="square" lIns="0" tIns="0" rIns="0" bIns="0" rtlCol="0" anchor="ctr"/>
          <a:lstStyle/>
          <a:p>
            <a:pPr marL="0" indent="0" algn="ctr">
              <a:buNone/>
            </a:pPr>
            <a:r>
              <a:rPr lang="en-US" sz="2200" b="1" dirty="0">
                <a:solidFill>
                  <a:srgbClr val="0D2340"/>
                </a:solidFill>
              </a:rPr>
              <a:t>3</a:t>
            </a:r>
            <a:endParaRPr lang="en-US" sz="2200" dirty="0"/>
          </a:p>
        </p:txBody>
      </p:sp>
      <p:sp>
        <p:nvSpPr>
          <p:cNvPr id="29" name="Text 27"/>
          <p:cNvSpPr/>
          <p:nvPr/>
        </p:nvSpPr>
        <p:spPr>
          <a:xfrm>
            <a:off x="6263640" y="2176272"/>
            <a:ext cx="2560320" cy="256032"/>
          </a:xfrm>
          <a:prstGeom prst="rect">
            <a:avLst/>
          </a:prstGeom>
          <a:noFill/>
          <a:ln/>
        </p:spPr>
        <p:txBody>
          <a:bodyPr wrap="square" rtlCol="0" anchor="ctr"/>
          <a:lstStyle/>
          <a:p>
            <a:pPr marL="0" indent="0" algn="ctr">
              <a:buNone/>
            </a:pPr>
            <a:r>
              <a:rPr lang="en-US" sz="850" b="1" dirty="0">
                <a:solidFill>
                  <a:srgbClr val="33BDB3"/>
                </a:solidFill>
              </a:rPr>
              <a:t>JHBI DEMO</a:t>
            </a:r>
            <a:endParaRPr lang="en-US" sz="850" dirty="0"/>
          </a:p>
        </p:txBody>
      </p:sp>
      <p:sp>
        <p:nvSpPr>
          <p:cNvPr id="30" name="Text 28"/>
          <p:cNvSpPr/>
          <p:nvPr/>
        </p:nvSpPr>
        <p:spPr>
          <a:xfrm>
            <a:off x="6309360" y="2487168"/>
            <a:ext cx="2468880" cy="594360"/>
          </a:xfrm>
          <a:prstGeom prst="rect">
            <a:avLst/>
          </a:prstGeom>
          <a:noFill/>
          <a:ln/>
        </p:spPr>
        <p:txBody>
          <a:bodyPr wrap="square" rtlCol="0" anchor="ctr"/>
          <a:lstStyle/>
          <a:p>
            <a:pPr marL="0" indent="0" algn="ctr">
              <a:buNone/>
            </a:pPr>
            <a:r>
              <a:rPr lang="en-US" sz="1300" b="1" dirty="0">
                <a:solidFill>
                  <a:srgbClr val="0D2340"/>
                </a:solidFill>
              </a:rPr>
              <a:t>See JHBI with your own data</a:t>
            </a:r>
            <a:endParaRPr lang="en-US" sz="1300" dirty="0"/>
          </a:p>
        </p:txBody>
      </p:sp>
      <p:sp>
        <p:nvSpPr>
          <p:cNvPr id="31" name="Text 29"/>
          <p:cNvSpPr/>
          <p:nvPr/>
        </p:nvSpPr>
        <p:spPr>
          <a:xfrm>
            <a:off x="6309360" y="3127248"/>
            <a:ext cx="2468880" cy="1828800"/>
          </a:xfrm>
          <a:prstGeom prst="rect">
            <a:avLst/>
          </a:prstGeom>
          <a:noFill/>
          <a:ln/>
        </p:spPr>
        <p:txBody>
          <a:bodyPr wrap="square" rtlCol="0" anchor="ctr"/>
          <a:lstStyle/>
          <a:p>
            <a:pPr marL="0" indent="0" algn="ctr">
              <a:buNone/>
            </a:pPr>
            <a:r>
              <a:rPr lang="en-US" sz="1100" dirty="0">
                <a:solidFill>
                  <a:srgbClr val="2C4A6E"/>
                </a:solidFill>
              </a:rPr>
              <a:t>The best way to evaluate JHBI is a live demo using real JH data models. We can show the exact dashboards your team would use.</a:t>
            </a:r>
            <a:endParaRPr lang="en-US" sz="1100" dirty="0"/>
          </a:p>
        </p:txBody>
      </p:sp>
      <p:sp>
        <p:nvSpPr>
          <p:cNvPr id="32" name="Shape 30"/>
          <p:cNvSpPr/>
          <p:nvPr/>
        </p:nvSpPr>
        <p:spPr>
          <a:xfrm>
            <a:off x="6309360" y="5102352"/>
            <a:ext cx="2468880" cy="347472"/>
          </a:xfrm>
          <a:prstGeom prst="rect">
            <a:avLst/>
          </a:prstGeom>
          <a:solidFill>
            <a:srgbClr val="0C5C6E"/>
          </a:solidFill>
          <a:ln/>
        </p:spPr>
        <p:txBody>
          <a:bodyPr/>
          <a:lstStyle/>
          <a:p>
            <a:endParaRPr lang="en-US"/>
          </a:p>
        </p:txBody>
      </p:sp>
      <p:sp>
        <p:nvSpPr>
          <p:cNvPr id="33" name="Text 31"/>
          <p:cNvSpPr/>
          <p:nvPr/>
        </p:nvSpPr>
        <p:spPr>
          <a:xfrm>
            <a:off x="6309360" y="5102352"/>
            <a:ext cx="2468880" cy="347472"/>
          </a:xfrm>
          <a:prstGeom prst="rect">
            <a:avLst/>
          </a:prstGeom>
          <a:noFill/>
          <a:ln/>
        </p:spPr>
        <p:txBody>
          <a:bodyPr wrap="square" lIns="0" tIns="0" rIns="0" bIns="0" rtlCol="0" anchor="ctr"/>
          <a:lstStyle/>
          <a:p>
            <a:pPr marL="0" indent="0" algn="ctr">
              <a:buNone/>
            </a:pPr>
            <a:r>
              <a:rPr lang="en-US" sz="1000" b="1" dirty="0">
                <a:solidFill>
                  <a:srgbClr val="FFFFFF"/>
                </a:solidFill>
              </a:rPr>
              <a:t>Book a JHBI demo</a:t>
            </a:r>
            <a:endParaRPr lang="en-US" sz="1000" dirty="0"/>
          </a:p>
        </p:txBody>
      </p:sp>
      <p:sp>
        <p:nvSpPr>
          <p:cNvPr id="34" name="Shape 32"/>
          <p:cNvSpPr/>
          <p:nvPr/>
        </p:nvSpPr>
        <p:spPr>
          <a:xfrm>
            <a:off x="8915400" y="3794760"/>
            <a:ext cx="182880" cy="0"/>
          </a:xfrm>
          <a:prstGeom prst="line">
            <a:avLst/>
          </a:prstGeom>
          <a:noFill/>
          <a:ln w="12700">
            <a:solidFill>
              <a:srgbClr val="00A89D"/>
            </a:solidFill>
            <a:prstDash val="solid"/>
          </a:ln>
        </p:spPr>
        <p:txBody>
          <a:bodyPr/>
          <a:lstStyle/>
          <a:p>
            <a:endParaRPr lang="en-US"/>
          </a:p>
        </p:txBody>
      </p:sp>
      <p:sp>
        <p:nvSpPr>
          <p:cNvPr id="35" name="Shape 33"/>
          <p:cNvSpPr/>
          <p:nvPr/>
        </p:nvSpPr>
        <p:spPr>
          <a:xfrm>
            <a:off x="9098280" y="1463040"/>
            <a:ext cx="2743200" cy="470916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36" name="Shape 34"/>
          <p:cNvSpPr/>
          <p:nvPr/>
        </p:nvSpPr>
        <p:spPr>
          <a:xfrm>
            <a:off x="9098280" y="1463040"/>
            <a:ext cx="2743200" cy="822960"/>
          </a:xfrm>
          <a:prstGeom prst="rect">
            <a:avLst/>
          </a:prstGeom>
          <a:solidFill>
            <a:srgbClr val="00A89D"/>
          </a:solidFill>
          <a:ln/>
        </p:spPr>
        <p:txBody>
          <a:bodyPr/>
          <a:lstStyle/>
          <a:p>
            <a:endParaRPr lang="en-US"/>
          </a:p>
        </p:txBody>
      </p:sp>
      <p:sp>
        <p:nvSpPr>
          <p:cNvPr id="37" name="Shape 35"/>
          <p:cNvSpPr/>
          <p:nvPr/>
        </p:nvSpPr>
        <p:spPr>
          <a:xfrm>
            <a:off x="10122408" y="1508760"/>
            <a:ext cx="694944" cy="694944"/>
          </a:xfrm>
          <a:prstGeom prst="ellipse">
            <a:avLst/>
          </a:prstGeom>
          <a:solidFill>
            <a:srgbClr val="00A89D"/>
          </a:solidFill>
          <a:ln/>
        </p:spPr>
        <p:txBody>
          <a:bodyPr/>
          <a:lstStyle/>
          <a:p>
            <a:endParaRPr lang="en-US"/>
          </a:p>
        </p:txBody>
      </p:sp>
      <p:sp>
        <p:nvSpPr>
          <p:cNvPr id="38" name="Text 36"/>
          <p:cNvSpPr/>
          <p:nvPr/>
        </p:nvSpPr>
        <p:spPr>
          <a:xfrm>
            <a:off x="10122408" y="1508760"/>
            <a:ext cx="694944" cy="694944"/>
          </a:xfrm>
          <a:prstGeom prst="rect">
            <a:avLst/>
          </a:prstGeom>
          <a:noFill/>
          <a:ln/>
        </p:spPr>
        <p:txBody>
          <a:bodyPr wrap="square" lIns="0" tIns="0" rIns="0" bIns="0" rtlCol="0" anchor="ctr"/>
          <a:lstStyle/>
          <a:p>
            <a:pPr marL="0" indent="0" algn="ctr">
              <a:buNone/>
            </a:pPr>
            <a:r>
              <a:rPr lang="en-US" sz="2200" b="1" dirty="0">
                <a:solidFill>
                  <a:srgbClr val="0D2340"/>
                </a:solidFill>
              </a:rPr>
              <a:t>4</a:t>
            </a:r>
            <a:endParaRPr lang="en-US" sz="2200" dirty="0"/>
          </a:p>
        </p:txBody>
      </p:sp>
      <p:sp>
        <p:nvSpPr>
          <p:cNvPr id="39" name="Text 37"/>
          <p:cNvSpPr/>
          <p:nvPr/>
        </p:nvSpPr>
        <p:spPr>
          <a:xfrm>
            <a:off x="9189720" y="2176272"/>
            <a:ext cx="2560320" cy="256032"/>
          </a:xfrm>
          <a:prstGeom prst="rect">
            <a:avLst/>
          </a:prstGeom>
          <a:noFill/>
          <a:ln/>
        </p:spPr>
        <p:txBody>
          <a:bodyPr wrap="square" rtlCol="0" anchor="ctr"/>
          <a:lstStyle/>
          <a:p>
            <a:pPr marL="0" indent="0" algn="ctr">
              <a:buNone/>
            </a:pPr>
            <a:r>
              <a:rPr lang="en-US" sz="850" b="1" dirty="0">
                <a:solidFill>
                  <a:srgbClr val="33BDB3"/>
                </a:solidFill>
              </a:rPr>
              <a:t>PILOT PROGRAM</a:t>
            </a:r>
            <a:endParaRPr lang="en-US" sz="850" dirty="0"/>
          </a:p>
        </p:txBody>
      </p:sp>
      <p:sp>
        <p:nvSpPr>
          <p:cNvPr id="40" name="Text 38"/>
          <p:cNvSpPr/>
          <p:nvPr/>
        </p:nvSpPr>
        <p:spPr>
          <a:xfrm>
            <a:off x="9235440" y="2487168"/>
            <a:ext cx="2468880" cy="594360"/>
          </a:xfrm>
          <a:prstGeom prst="rect">
            <a:avLst/>
          </a:prstGeom>
          <a:noFill/>
          <a:ln/>
        </p:spPr>
        <p:txBody>
          <a:bodyPr wrap="square" rtlCol="0" anchor="ctr"/>
          <a:lstStyle/>
          <a:p>
            <a:pPr marL="0" indent="0" algn="ctr">
              <a:buNone/>
            </a:pPr>
            <a:r>
              <a:rPr lang="en-US" sz="1300" b="1" dirty="0">
                <a:solidFill>
                  <a:srgbClr val="0D2340"/>
                </a:solidFill>
              </a:rPr>
              <a:t>Start with one use case</a:t>
            </a:r>
            <a:endParaRPr lang="en-US" sz="1300" dirty="0"/>
          </a:p>
        </p:txBody>
      </p:sp>
      <p:sp>
        <p:nvSpPr>
          <p:cNvPr id="41" name="Text 39"/>
          <p:cNvSpPr/>
          <p:nvPr/>
        </p:nvSpPr>
        <p:spPr>
          <a:xfrm>
            <a:off x="9235440" y="3127248"/>
            <a:ext cx="2468880" cy="1828800"/>
          </a:xfrm>
          <a:prstGeom prst="rect">
            <a:avLst/>
          </a:prstGeom>
          <a:noFill/>
          <a:ln/>
        </p:spPr>
        <p:txBody>
          <a:bodyPr wrap="square" rtlCol="0" anchor="ctr"/>
          <a:lstStyle/>
          <a:p>
            <a:pPr marL="0" indent="0" algn="ctr">
              <a:buNone/>
            </a:pPr>
            <a:r>
              <a:rPr lang="en-US" sz="1100" dirty="0">
                <a:solidFill>
                  <a:srgbClr val="2C4A6E"/>
                </a:solidFill>
              </a:rPr>
              <a:t>Most clients begin with a single high-value use case — deposit analytics, loan performance, or executive dashboards — and expand from there.</a:t>
            </a:r>
            <a:endParaRPr lang="en-US" sz="1100" dirty="0"/>
          </a:p>
        </p:txBody>
      </p:sp>
      <p:sp>
        <p:nvSpPr>
          <p:cNvPr id="42" name="Shape 40"/>
          <p:cNvSpPr/>
          <p:nvPr/>
        </p:nvSpPr>
        <p:spPr>
          <a:xfrm>
            <a:off x="9235440" y="5102352"/>
            <a:ext cx="2468880" cy="347472"/>
          </a:xfrm>
          <a:prstGeom prst="rect">
            <a:avLst/>
          </a:prstGeom>
          <a:solidFill>
            <a:srgbClr val="00A89D"/>
          </a:solidFill>
          <a:ln/>
        </p:spPr>
        <p:txBody>
          <a:bodyPr/>
          <a:lstStyle/>
          <a:p>
            <a:endParaRPr lang="en-US"/>
          </a:p>
        </p:txBody>
      </p:sp>
      <p:sp>
        <p:nvSpPr>
          <p:cNvPr id="43" name="Text 41"/>
          <p:cNvSpPr/>
          <p:nvPr/>
        </p:nvSpPr>
        <p:spPr>
          <a:xfrm>
            <a:off x="9235440" y="5102352"/>
            <a:ext cx="2468880" cy="347472"/>
          </a:xfrm>
          <a:prstGeom prst="rect">
            <a:avLst/>
          </a:prstGeom>
          <a:noFill/>
          <a:ln/>
        </p:spPr>
        <p:txBody>
          <a:bodyPr wrap="square" lIns="0" tIns="0" rIns="0" bIns="0" rtlCol="0" anchor="ctr"/>
          <a:lstStyle/>
          <a:p>
            <a:pPr marL="0" indent="0" algn="ctr">
              <a:buNone/>
            </a:pPr>
            <a:r>
              <a:rPr lang="en-US" sz="1000" b="1" dirty="0">
                <a:solidFill>
                  <a:srgbClr val="FFFFFF"/>
                </a:solidFill>
              </a:rPr>
              <a:t>Define pilot scope</a:t>
            </a:r>
            <a:endParaRPr lang="en-US" sz="1000" dirty="0"/>
          </a:p>
        </p:txBody>
      </p:sp>
      <p:sp>
        <p:nvSpPr>
          <p:cNvPr id="44" name="Shape 42"/>
          <p:cNvSpPr/>
          <p:nvPr/>
        </p:nvSpPr>
        <p:spPr>
          <a:xfrm>
            <a:off x="320040" y="6446520"/>
            <a:ext cx="11521440" cy="292608"/>
          </a:xfrm>
          <a:prstGeom prst="rect">
            <a:avLst/>
          </a:prstGeom>
          <a:solidFill>
            <a:srgbClr val="E8ECF1"/>
          </a:solidFill>
          <a:ln/>
        </p:spPr>
        <p:txBody>
          <a:bodyPr/>
          <a:lstStyle/>
          <a:p>
            <a:endParaRPr lang="en-US"/>
          </a:p>
        </p:txBody>
      </p:sp>
      <p:sp>
        <p:nvSpPr>
          <p:cNvPr id="45" name="Text 43"/>
          <p:cNvSpPr/>
          <p:nvPr/>
        </p:nvSpPr>
        <p:spPr>
          <a:xfrm>
            <a:off x="320040" y="6446520"/>
            <a:ext cx="11521440" cy="292608"/>
          </a:xfrm>
          <a:prstGeom prst="rect">
            <a:avLst/>
          </a:prstGeom>
          <a:noFill/>
          <a:ln/>
        </p:spPr>
        <p:txBody>
          <a:bodyPr wrap="square" rtlCol="0" anchor="ctr"/>
          <a:lstStyle/>
          <a:p>
            <a:pPr marL="0" indent="0" algn="ctr">
              <a:buNone/>
            </a:pPr>
            <a:r>
              <a:rPr lang="en-US" sz="900" dirty="0">
                <a:solidFill>
                  <a:srgbClr val="4A6080"/>
                </a:solidFill>
              </a:rPr>
              <a:t>jackhenry.com  |  jackhenry.dev/data-hub  |  © 2025 Jack Henry &amp; Associates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1750</Words>
  <Application>Microsoft Macintosh PowerPoint</Application>
  <PresentationFormat>Widescreen</PresentationFormat>
  <Paragraphs>278</Paragraphs>
  <Slides>12</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Jack Henry Data Services - First Call Deck</dc:title>
  <dc:subject>PptxGenJS Presentation</dc:subject>
  <dc:creator>PptxGenJS</dc:creator>
  <cp:lastModifiedBy>Adam Ames</cp:lastModifiedBy>
  <cp:revision>1</cp:revision>
  <dcterms:created xsi:type="dcterms:W3CDTF">2026-02-27T17:55:13Z</dcterms:created>
  <dcterms:modified xsi:type="dcterms:W3CDTF">2026-02-27T18:59:35Z</dcterms:modified>
</cp:coreProperties>
</file>