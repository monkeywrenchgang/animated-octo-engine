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70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Resolution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Jack Henry Payment Products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59436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Entity Resolution: Account · Customer/Member · Household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1417320" cy="310896"/>
          </a:xfrm>
          <a:prstGeom prst="rect">
            <a:avLst/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944368"/>
            <a:ext cx="1417320" cy="310896"/>
          </a:xfrm>
          <a:prstGeom prst="rect">
            <a:avLst/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889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v0.3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944368"/>
            <a:ext cx="1417320" cy="310896"/>
          </a:xfrm>
          <a:prstGeom prst="rect">
            <a:avLst/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1605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3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Payment-level anchor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8221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221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individual or business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74827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4827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Fragmented Identity Across Payment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6118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420624" cy="420624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Identity per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payment product (ACH, Zelle, Wires, Bill Pay, RDC) maintains its own customer model. The same person has different IDs in every system, and no link between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64008" cy="3611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01568" y="1207008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8328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Cross-Product Payment 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reliably answer: 'What payments has this customer made across all JH products?' Same individual may appear 6+ times across SilverLake, ACH, Banno, PayCenter, iPay, Payrailz.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64008" cy="36118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36208" y="1207008"/>
            <a:ext cx="420624" cy="42062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Analytics Blocked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identity anchor, unified analytics, fraud detection, and BSA/AML reporting cannot reliably attribute payment activity to a verified individual or household.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deterministic identity resolution layer — simple first, extensible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Everyone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parties — originators and destinations — receive identity resolution. JH account holders get full entity profiles; external counterparties get lightweight stubs that can be promoted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0156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Auditable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499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uses exact-match blocking keys (SSN hash, account+routing token, email/Zelle token). Every match decision is fully explainable with a named rule and confidence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974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8192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4535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Privacy Tiers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+ JH-GLOBAL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only see their own data. JH-internal analytics can link the same person across FIs using token-only evidence — no PII ever crosses a tenant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In-Scope: 9 Jack Henry Payment Products + 7 Payment Adapters (EP-06, EP-10 through EP-16)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sources for the IDR system  |  CPS (card issuance) is explicitly excluded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Symitar Core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(anchor)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1005840" cy="21945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6692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40156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 (EPS / Profitstars)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Credit/Debit, Same-Day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792224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40156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035040" y="1024128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3620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792224"/>
            <a:ext cx="1005840" cy="21945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3620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6692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Bill Pay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017520"/>
            <a:ext cx="1005840" cy="21945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6692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200400" y="2249424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40156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FedWire, Corpay/SWIFT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1568" y="3017520"/>
            <a:ext cx="100584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40156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03504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23620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3620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CardPay, P2P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017520"/>
            <a:ext cx="1005840" cy="21945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23620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365760" y="3474720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6692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Check / RDC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21, RDC, Check→ACH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242816"/>
            <a:ext cx="10058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6692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3200400" y="3474720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340156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Platform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40156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Zelle, Bill Pay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01568" y="4242816"/>
            <a:ext cx="1005840" cy="21945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340156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3504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035040" y="3474720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23620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Solutions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23620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36208" y="4242816"/>
            <a:ext cx="1005840" cy="21945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23620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1–2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solidFill>
            <a:srgbClr val="FCE8E8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0292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CPS (Card Processing Solutions) is excluded from scope — card issuance data and ATM/ITM driving are out of scope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Entity Model: Three Types + Two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21792"/>
          </a:xfrm>
          <a:prstGeom prst="rect">
            <a:avLst/>
          </a:prstGeom>
          <a:solidFill>
            <a:srgbClr val="EB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 idr_global_person_id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JHBI analytics only — no FI can see this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0"/>
          </a:xfrm>
          <a:prstGeom prst="line">
            <a:avLst/>
          </a:prstGeom>
          <a:noFill/>
          <a:ln w="19050">
            <a:solidFill>
              <a:srgbClr val="1C4E8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36676" y="16382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FI TENANT BOUNDARY ──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 (1 per FI)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individuals by joint account or shared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615184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  (1..N per household)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BUSINESS  ·  Full or External Profile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511296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(1..N per customer)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payment-eligible unit — DDA, ACH, Wire, External…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89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92624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idr_customer_id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UUID — per FI, stable forever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846320" y="18470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92624" y="1874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2048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JH-wide link (token-only, internal)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04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846320" y="23042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992624" y="2331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BUSINESS / TRUST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614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846320" y="27614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992624" y="2788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profile_completeness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2962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(JH holder) · EXTERNAL · BILLER · MERCHANT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186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846320" y="3218688"/>
            <a:ext cx="6400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92624" y="3246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ein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92624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RLS-protected; hashed at compare time for BK-1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675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4846320" y="3675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992624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3877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normalized to lowercase; RLS-scoped to FI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33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846320" y="4133088"/>
            <a:ext cx="64008" cy="40233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992624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resolution_method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92624" y="4334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EXACT_SSN · EXACT_ACCOUNT · EXACT_EMAIL · 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90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4846320" y="4590288"/>
            <a:ext cx="6400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992624" y="4617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92624" y="4791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0–1  matched to Tier 1–5 buckets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Layer: Originator &amp; Destination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resolves both parties independently on every payment event — regardless of whether they are a JH account holder or an external counterparty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194560" cy="16916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· Amount · Direction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548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initiates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sends the 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" y="210312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" y="20665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  (BK-2)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523744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" y="2487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— plaintext, hashed at runtime for BK-1 comparison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944368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2907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plaintext, normalized for BK-3 direct 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plaintext, E.164 normalized for BK-4 direct match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785616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 / Source ID  (BK-5)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420624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 → entity_type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1947672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383280" y="1901952"/>
            <a:ext cx="128016" cy="91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64008" cy="3566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8192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receives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281928" y="2103120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648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FI Account Holder → Full resolution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81928" y="259689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64808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Counterparty → Lightweight stub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1928" y="3090672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464808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/ Merchant → entity_type=BUSINESS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81928" y="3584448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64808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Beneficiary → SWIFT BIC + IBAN token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4078224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6480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P2P → email or phone token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0" y="1947672"/>
            <a:ext cx="457200" cy="0"/>
          </a:xfrm>
          <a:prstGeom prst="line">
            <a:avLst/>
          </a:prstGeom>
          <a:noFill/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016752" y="1901952"/>
            <a:ext cx="128016" cy="91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SEC Code inference: PPD / WEB / TEL → INDIVIDUAL  ·  CCD / CTX → BUSINESS  ·  ARC / POP / BOC → INDIVIDUAL (check conversion)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&amp; Bucketing: The Core Mechanism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candidate records for comparison without O(N²)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323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pair is only compared if they share at least one Blocking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Blocking Keys (BK-1→8): SSN hash, account+routing, email token, phone/Zelle, core CIF, name+zip, SWIFT BIC, PAN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323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 (Name+Zip) is never used as a standalone key — must accompany a stronger signal (enforced in resolution engine and Redis lookup).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30552"/>
            <a:ext cx="50292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2084832"/>
            <a:ext cx="128016" cy="9144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960120"/>
            <a:ext cx="39319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8348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confidence tier to the match based on which key produced 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18105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19379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tiers: DEFINITIVE (SSN) → HIGH → VERIFIED → INFERRED → UNRESOLVED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2677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9379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governs auto-action: auto-merge, auto-stub, or manual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9379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match_decision_log — training corpus for future probabilistic (Phase 3)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8404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41732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61848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63677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9164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(PCI only)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70048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2871216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2889504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44368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22776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123944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14223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97096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(Redis O(1))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75504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376672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3949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9824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8232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62940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64768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0255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8212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8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Write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8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(match_decision_log)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Confidence Tiers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blocking key maps to a tier that governs the auto-action taken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75488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1338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225296"/>
            <a:ext cx="1097280" cy="32918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2252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BK-1: 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SSN hash match within FI. Strongest possible signal. No review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97480" cy="3657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035040" y="1207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196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65760" y="1819656"/>
            <a:ext cx="475488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5760" y="19293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2020824"/>
            <a:ext cx="10972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4400" y="2020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0.90–0.99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BK-2: Acct+Routing Token  |  BK-5: Core CIF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21854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account continuity or core platform customer ID match.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02536"/>
            <a:ext cx="2697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035040" y="20025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2615184"/>
            <a:ext cx="475488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2816352"/>
            <a:ext cx="1097280" cy="32918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14400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76272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BK-3: Email Token  |  BK-4: Phone/Zelle Token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76272" y="2980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email/phone. Auto-merge if no conflicting BK-1 exists; route to manual review queue if BK-1 conflict found (5-day SLA).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798064"/>
            <a:ext cx="2697480" cy="3657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35040" y="27980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or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4107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7548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65760" y="35204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14400" y="3611880"/>
            <a:ext cx="109728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14400" y="3611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0.65–0.84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BK-6: Name + Zip5 + secondary signal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auto-merge into FULL entities. Create stub; log for Phase 3 ML training.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593592"/>
            <a:ext cx="26974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035040" y="3593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365760" y="4206240"/>
            <a:ext cx="47548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65760" y="43159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4400" y="4407408"/>
            <a:ext cx="109728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14400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76272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key match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76272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EXTERNAL_STUB with available signals. No entity link created.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4389120"/>
            <a:ext cx="269748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03504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Blocking Keys: What They Are and Where They Come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64008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12064" y="1115568"/>
            <a:ext cx="658368" cy="274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120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43584" y="1115568"/>
            <a:ext cx="640080" cy="274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435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SHA-256(plaintext SSN/EIN + fi_id) at runtime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12064" y="2121408"/>
            <a:ext cx="65836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120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43584" y="2121408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435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account_number + ':' + routing_number (plaintext)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303580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2064" y="3127248"/>
            <a:ext cx="658368" cy="2743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20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43584" y="3127248"/>
            <a:ext cx="640080" cy="2743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2435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Token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plaintext email (lowercase)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12064" y="4133088"/>
            <a:ext cx="658368" cy="2743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120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43584" y="4133088"/>
            <a:ext cx="640080" cy="2743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2435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Zelle 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E.164 phone; Zelle proxy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709160" y="102412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855464" y="1115568"/>
            <a:ext cx="65836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8554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86984" y="1115568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5869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554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554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source_system + source_customer_id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709160" y="202996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855464" y="2121408"/>
            <a:ext cx="65836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8554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86984" y="2121408"/>
            <a:ext cx="6400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5869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554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Zip5  ⚠ secondary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554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name_normalized + zip5 postal code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4709160" y="303580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855464" y="3127248"/>
            <a:ext cx="65836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8554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86984" y="3127248"/>
            <a:ext cx="6400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5869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554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Account Token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554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plaintext IBAN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4709160" y="4041648"/>
            <a:ext cx="64008" cy="8961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4855464" y="4133088"/>
            <a:ext cx="65836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8554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86984" y="4133088"/>
            <a:ext cx="64008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55869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554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PAN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554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FPE(PAN) via PCI Vault — only tokenized field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Architecture: FI-Scoped + JH-Global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resolution always  ·  JH-global linking only when warranted by BK-1 or BK-2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1645920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TIER  (Internal / JHBI only — never exposed to FIs)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table only — no PII, no data copied from any 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15568"/>
            <a:ext cx="1463040" cy="2926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76072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  SSN hash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146304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76072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  Acct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10512"/>
            <a:ext cx="14630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60720" y="1810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BK-3/4 email/phone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115568"/>
            <a:ext cx="1280160" cy="2926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60920" y="1115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463040"/>
            <a:ext cx="128016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6092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810512"/>
            <a:ext cx="12801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36092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Cross-FI excl. by design (plaintext within FI only; no global hash).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371600" y="2633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TENANT BOUNDARY — no FI-to-FI data access permitted below this 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0292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FI-A  (e.g., First National Bank)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customer entity  idr_customer_id = UUID-A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populated by JHBI process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FI-A data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84632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98348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FI-B  (e.g., Community Credit Union)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person, different entity  idr_customer_id = UUID-B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091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= same UUID as FI-A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FI-B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5-Layer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05840" cy="7315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1521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Adapters (1 per JH product) → Event Bus consumer.  Normalize, validate, forward to IdentityEvent schema.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1810512"/>
            <a:ext cx="1005840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" y="19568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PCI Vault (PAN only)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7627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FF3-1 FPE for card PANs only. OPTIONAL — required only for EP-16 card-acceptance. SSN, account numbers, email, phone stored plaintext (RLS-protected). PCI scope: BK-8 (Tap2Local / EPS gateway).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1005840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276148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98094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 Deriver → Candidate Generator (Redis O(1)) → Bucket Evaluator → Decision Engine.  Stateless, horizontally scalable.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10058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65760" y="3529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" y="356616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Store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78561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Entity DB (PostgreSQL, temporal tables, RLS) · Resolution Index (Redis) · Global Link Index (JHBI internal).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1005840" cy="73152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" y="4334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" y="437083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5902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FI-facing REST + GraphQL (FI-scoped, OAuth). JHBI Internal API (global-scoped, idr:global:read scope). Kafka change-event topic.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5084064"/>
            <a:ext cx="8412480" cy="0"/>
          </a:xfrm>
          <a:prstGeom prst="rect">
            <a:avLst/>
          </a:prstGeom>
          <a:solidFill>
            <a:srgbClr val="F0F5FC"/>
          </a:solidFill>
          <a:ln w="12700">
            <a:solidFill>
              <a:srgbClr val="F0F5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Kotlin/Spring Boot  ·  PostgreSQL 15+  ·  Redis  ·  Apache Kafka  ·  HashiCorp Vault  ·  OpenTelemetry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Phasing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28016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43000" y="914400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20116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938528"/>
            <a:ext cx="1737360" cy="256032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eng-weeks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34086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schema + PCI Vault (optional — EP-16 only) (PAN only) (FPE + per-FI HMAC + SHA-256)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284378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Engine: BK-1–5, Tier 1–5 auto-actions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334670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SilverLake/Symitar baseline seeding (SEEDED); ACH adapter (EP-06)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384962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global linking (JHBI internal)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435254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REST Query API + audit logging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9272" y="914400"/>
            <a:ext cx="164592" cy="16459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542032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542032" y="1152144"/>
            <a:ext cx="20116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67004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Adapters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70048" y="1938528"/>
            <a:ext cx="1737360" cy="256032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670048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eng-weeks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70048" y="234086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816352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EP-10 PayCenter: RTP, FedNow, Zelle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284378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816352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EP-11 Payrailz: P2P, A2A, Bill Pay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70048" y="334670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816352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EP-12 Wires: FedWire + Corpay/SWIFT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70048" y="384962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2816352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EP-13 iPay; EP-14 Banno; EP-15 Business Payment Solutions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70048" y="435254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816352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EP-16 EPS Check/RDC + Tap2Local (Tier-5 BK-8 stubs)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95544" y="914400"/>
            <a:ext cx="164592" cy="16459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718304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1152144"/>
            <a:ext cx="20116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84632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Matching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1938528"/>
            <a:ext cx="1737360" cy="256032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846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~10–12 eng-weeks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992624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on match_decision_log corpus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84378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992624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scorer replaces Tier-4 rules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34670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992624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pipeline (idr_shadow_decisions) runs in parallel before promotion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384962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992624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confidence threshold via idr_fi_config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435254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992624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external counterparty resolution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671816" y="91440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6894576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894576" y="1152144"/>
            <a:ext cx="20116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7022592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2259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Enrichment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022592" y="1938528"/>
            <a:ext cx="1737360" cy="256032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02259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22592" y="234086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168896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household formation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22592" y="284378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7168896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Age graph migration (if warranted)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22592" y="334670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168896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data ingestion (if available)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22592" y="38496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7168896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enrichment (opt-in)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 &amp; Open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335024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Resolve all payment parties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 — all originators and destinations get at least an External Profile stub.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Biller/Merchant = BUSINESS entity_type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51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4th entity type needed. Billers and merchants resolved as Customer/Member with entity_type=BUSINESS.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30352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Two-tier identity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447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(external API) + JH-global link table (JHBI internal, token-only, no PII crossing tenant boundary).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03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Email/phone NOT cross-FI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within FI only (RLS-scoped). Cross-FI linking uses only BK1 (SHA-256(SSN+platform_salt) at runtime) and BK2 (account+routing plaintext). No HMAC or per-FI salt needed.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530352" y="4773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BK-6 enforcement codified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530352" y="50383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idr_blocking_key_def.can_be_sole_key=FALSE enforced at schema and engine level.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(decisions needed)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35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1335024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1389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1371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SSN available in plaintext from SilverLake CDC, or pre-hashed? Who owns the hashing process? See ep02_pii_vault.sql §idr_token_registry.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0096" y="17556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54880" y="208483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19472" y="2139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0096" y="2121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pilot: which FIs and which products are in scope for Phase 1?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5054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919472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0096" y="28712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formation: opt-in per FI (idr_fi_config.household_address_match defaults FALSE). Joint-account household always auto-forms.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40096" y="325526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Legal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844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754880" y="3584448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9472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0096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SLO: near-real-time (&lt; 500ms) or eventual consistency acceptable?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40050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Eng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4754880" y="433425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91947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0096" y="437083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Tap2Local: can we obtain card-network tokens from Moov to enable cross-transaction linking?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40096" y="4754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Tap2Local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5720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4447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417320" y="1298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open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910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handling, pilot FI selection, household opt-in policy, and latency SLO — target decisions by end of sprint.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3591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17320" y="2212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Phase 1 backlog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054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EP-01 through EP-09 + EP-06 decomposed. Sample schemas generated for all P0 epics. Size and prioritize for sprint planning.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735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417320" y="3127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design doc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v0.2 is complete and available. Next: team review and sign-off session.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41879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presentation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34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share with broader product and leadership stakeholders for awareness and feedback.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Identity Resolution for Payment Products  ·  DRAFT v0.3  ·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2292</Words>
  <Application>Microsoft Macintosh PowerPoint</Application>
  <PresentationFormat>On-screen Show (16:9)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Identity Resolution – Payment Products</dc:title>
  <dc:subject>PptxGenJS Presentation</dc:subject>
  <dc:creator>JHBI</dc:creator>
  <cp:lastModifiedBy>Adam Ames</cp:lastModifiedBy>
  <cp:revision>2</cp:revision>
  <dcterms:created xsi:type="dcterms:W3CDTF">2026-02-23T16:15:03Z</dcterms:created>
  <dcterms:modified xsi:type="dcterms:W3CDTF">2026-02-24T18:08:02Z</dcterms:modified>
</cp:coreProperties>
</file>