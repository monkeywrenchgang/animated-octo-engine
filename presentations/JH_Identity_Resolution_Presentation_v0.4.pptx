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60F1A"/>
          </a:solidFill>
          <a:ln w="12700">
            <a:solidFill>
              <a:srgbClr val="060F1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11480" y="0"/>
            <a:ext cx="8732520" cy="10972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5029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Resolution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8C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Jack Henry Payment Products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85800" y="2267712"/>
            <a:ext cx="5943600" cy="0"/>
          </a:xfrm>
          <a:prstGeom prst="line">
            <a:avLst/>
          </a:prstGeom>
          <a:noFill/>
          <a:ln w="254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24231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Entity Resolution: Account · Customer/Member · Household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944368"/>
            <a:ext cx="1417320" cy="310896"/>
          </a:xfrm>
          <a:prstGeom prst="rect">
            <a:avLst>
              <a:gd name="adj" fmla="val 23529"/>
            </a:avLst>
          </a:prstGeom>
          <a:solidFill>
            <a:srgbClr val="1F4F82"/>
          </a:solidFill>
          <a:ln w="12700">
            <a:solidFill>
              <a:srgbClr val="1F4F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2944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2944368"/>
            <a:ext cx="1417320" cy="310896"/>
          </a:xfrm>
          <a:prstGeom prst="rect">
            <a:avLst>
              <a:gd name="adj" fmla="val 23529"/>
            </a:avLst>
          </a:prstGeom>
          <a:solidFill>
            <a:srgbClr val="1F4F82"/>
          </a:solidFill>
          <a:ln w="12700">
            <a:solidFill>
              <a:srgbClr val="1F4F8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88920" y="2944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  |  Phase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2944368"/>
            <a:ext cx="1417320" cy="310896"/>
          </a:xfrm>
          <a:prstGeom prst="rect">
            <a:avLst>
              <a:gd name="adj" fmla="val 23529"/>
            </a:avLst>
          </a:prstGeom>
          <a:solidFill>
            <a:srgbClr val="1F4F82"/>
          </a:solidFill>
          <a:ln w="12700">
            <a:solidFill>
              <a:srgbClr val="1F4F8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160520" y="2944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456432"/>
            <a:ext cx="2423160" cy="1417320"/>
          </a:xfrm>
          <a:prstGeom prst="rect">
            <a:avLst/>
          </a:prstGeom>
          <a:solidFill>
            <a:srgbClr val="132B45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0392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" y="4224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Payment-level anchor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3456432"/>
            <a:ext cx="2423160" cy="1417320"/>
          </a:xfrm>
          <a:prstGeom prst="rect">
            <a:avLst/>
          </a:prstGeom>
          <a:solidFill>
            <a:srgbClr val="132B45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822192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22192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Member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22192" y="4224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individual or business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456432"/>
            <a:ext cx="2423160" cy="1417320"/>
          </a:xfrm>
          <a:prstGeom prst="rect">
            <a:avLst/>
          </a:prstGeom>
          <a:solidFill>
            <a:srgbClr val="132B45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748272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48272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48272" y="4224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relationship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Fragmented Identity Across Payment Products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1051560"/>
            <a:ext cx="263347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051560"/>
            <a:ext cx="64008" cy="361188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928" y="1207008"/>
            <a:ext cx="420624" cy="420624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2252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Siloed Identity per Product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249424"/>
            <a:ext cx="2304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payment product (ACH, Zelle, Wires, Bill Pay, RDC) maintains its own customer model. The same person has different IDs in every system, and no link between them.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63347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64008" cy="36118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401568" y="1207008"/>
            <a:ext cx="420624" cy="42062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383280" y="12252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17556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Cross-Product Payment 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249424"/>
            <a:ext cx="2304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reliably answer: 'What payments has this customer made across all JH products?' Same individual may appear 6+ times across SilverLake, ACH, Banno, PayCenter, iPay, Payrailz.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3347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035040" y="1051560"/>
            <a:ext cx="64008" cy="36118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236208" y="1207008"/>
            <a:ext cx="420624" cy="42062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17920" y="12252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17556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JHBI Analytics Blocked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249424"/>
            <a:ext cx="2304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shared identity anchor, unified analytics, fraud detection, and BSA/AML reporting cannot reliably attribute payment activity to a verified individual or household.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4E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Building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deterministic identity resolution layer — simple first, extensible later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8229600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88720"/>
            <a:ext cx="2697480" cy="3657600"/>
          </a:xfrm>
          <a:prstGeom prst="rect">
            <a:avLst/>
          </a:prstGeom>
          <a:solidFill>
            <a:srgbClr val="132B45"/>
          </a:solidFill>
          <a:ln w="1905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1188720"/>
            <a:ext cx="2697480" cy="1097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" y="13716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" y="18470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 Everyone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" y="22128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JH ACCOUNT HOLDERS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" y="246888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payment parties — originators and destinations — receive identity resolution. JH account holders get full entity profiles; external counterparties get lightweight stubs that can be promoted later.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97480" cy="3657600"/>
          </a:xfrm>
          <a:prstGeom prst="rect">
            <a:avLst/>
          </a:prstGeom>
          <a:solidFill>
            <a:srgbClr val="132B45"/>
          </a:solidFill>
          <a:ln w="1905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697480" cy="10972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01568" y="13716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64992" y="18470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Auditable Rules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64992" y="22128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FIRST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64992" y="246888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uses exact-match blocking keys (SSN hash, account+routing token, email/Zelle token). Every match decision is fully explainable with a named rule and confidence score.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97480" cy="3657600"/>
          </a:xfrm>
          <a:prstGeom prst="rect">
            <a:avLst/>
          </a:prstGeom>
          <a:solidFill>
            <a:srgbClr val="132B45"/>
          </a:solidFill>
          <a:ln w="1905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080760" y="1188720"/>
            <a:ext cx="2697480" cy="10972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281928" y="13716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9C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45352" y="18470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Privacy Tiers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45352" y="22128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FI-SCOPED + JH-GLOBAL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45352" y="246888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only see their own data. JH-internal analytics can link the same person across FIs using token-only evidence — no PII ever crosses a tenant boundary.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65836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In-Scope: 9 Jack Henry Payment Products + 7 Payment Adapters (EP-06, EP-10 through EP-16)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sources for the IDR system  |  CPS (card issuance) is explicitly excluded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024128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024128"/>
            <a:ext cx="64008" cy="11155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109728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 / Symitar Core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4813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(anchor)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1792224"/>
            <a:ext cx="1005840" cy="219456"/>
          </a:xfrm>
          <a:prstGeom prst="rect">
            <a:avLst>
              <a:gd name="adj" fmla="val 3333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024128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00400" y="1024128"/>
            <a:ext cx="64008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401568" y="109728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 (EPS / Profitstars)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01568" y="14813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Credit/Debit, Same-Day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01568" y="1792224"/>
            <a:ext cx="1005840" cy="219456"/>
          </a:xfrm>
          <a:prstGeom prst="rect">
            <a:avLst>
              <a:gd name="adj" fmla="val 3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401568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024128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35040" y="1024128"/>
            <a:ext cx="64008" cy="111556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36208" y="109728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 PayCenter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36208" y="14813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RTP, FedNow, Zelle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36208" y="1792224"/>
            <a:ext cx="1005840" cy="219456"/>
          </a:xfrm>
          <a:prstGeom prst="rect">
            <a:avLst>
              <a:gd name="adj" fmla="val 3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36208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249424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65760" y="2249424"/>
            <a:ext cx="64008" cy="111556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66928" y="232257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Payrailz Platform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27066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P2P, A2A, Bill Pay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3017520"/>
            <a:ext cx="1005840" cy="219456"/>
          </a:xfrm>
          <a:prstGeom prst="rect">
            <a:avLst>
              <a:gd name="adj" fmla="val 3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66928" y="30175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2249424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200400" y="2249424"/>
            <a:ext cx="64008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401568" y="232257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Wires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401568" y="27066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FedWire, Corpay/SWIFT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01568" y="3017520"/>
            <a:ext cx="1005840" cy="219456"/>
          </a:xfrm>
          <a:prstGeom prst="rect">
            <a:avLst>
              <a:gd name="adj" fmla="val 3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401568" y="30175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2249424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035040" y="2249424"/>
            <a:ext cx="64008" cy="111556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236208" y="232257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iPay Solutions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236208" y="27066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Pay, CardPay, P2P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36208" y="3017520"/>
            <a:ext cx="1005840" cy="219456"/>
          </a:xfrm>
          <a:prstGeom prst="rect">
            <a:avLst>
              <a:gd name="adj" fmla="val 3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236208" y="30175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3474720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365760" y="3474720"/>
            <a:ext cx="64008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66928" y="354787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Check / RDC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39319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21, RDC, Check→ACH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4242816"/>
            <a:ext cx="1005840" cy="219456"/>
          </a:xfrm>
          <a:prstGeom prst="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66928" y="4242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2–4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0" y="3474720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3200400" y="3474720"/>
            <a:ext cx="64008" cy="111556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401568" y="354787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Digital Platform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401568" y="39319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Transfers, Zelle, Bill Pay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01568" y="4242816"/>
            <a:ext cx="1005840" cy="219456"/>
          </a:xfrm>
          <a:prstGeom prst="rect">
            <a:avLst>
              <a:gd name="adj" fmla="val 3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401568" y="4242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2–3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035040" y="3474720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6035040" y="3474720"/>
            <a:ext cx="64008" cy="11155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236208" y="354787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Payment Solutions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236208" y="39319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B2V ACH, Payroll, Remittance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36208" y="4242816"/>
            <a:ext cx="1005840" cy="219456"/>
          </a:xfrm>
          <a:prstGeom prst="rect">
            <a:avLst>
              <a:gd name="adj" fmla="val 3333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236208" y="4242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1–2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65760" y="4809744"/>
            <a:ext cx="8412480" cy="274320"/>
          </a:xfrm>
          <a:prstGeom prst="rect">
            <a:avLst/>
          </a:prstGeom>
          <a:solidFill>
            <a:srgbClr val="FCE8E8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50292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CPS (Card Processing Solutions) is excluded from scope — card issuance data and ATM/ITM driving are out of scope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Entity Model: Three Types + Two Tiers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621792"/>
          </a:xfrm>
          <a:prstGeom prst="rect">
            <a:avLst/>
          </a:prstGeom>
          <a:solidFill>
            <a:srgbClr val="EBF0FB"/>
          </a:solidFill>
          <a:ln w="1905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10789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JH-Global  idr_global_person_id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3624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/ JHBI analytics only — no FI can see this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114800" cy="0"/>
          </a:xfrm>
          <a:prstGeom prst="line">
            <a:avLst/>
          </a:prstGeom>
          <a:noFill/>
          <a:ln w="19050">
            <a:solidFill>
              <a:srgbClr val="1C4E80"/>
            </a:solidFill>
            <a:prstDash val="dash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FI TENANT BOUNDARY ──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4114800" cy="621792"/>
          </a:xfrm>
          <a:prstGeom prst="rect">
            <a:avLst/>
          </a:prstGeom>
          <a:solidFill>
            <a:srgbClr val="E8F0FB"/>
          </a:solidFill>
          <a:ln w="1905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" y="2066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 (1 per FI)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3225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individuals by joint account or shared address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2615184"/>
            <a:ext cx="0" cy="274320"/>
          </a:xfrm>
          <a:prstGeom prst="line">
            <a:avLst/>
          </a:prstGeom>
          <a:noFill/>
          <a:ln w="1905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65760" y="2889504"/>
            <a:ext cx="4114800" cy="621792"/>
          </a:xfrm>
          <a:prstGeom prst="rect">
            <a:avLst/>
          </a:prstGeom>
          <a:solidFill>
            <a:srgbClr val="E8F0FB"/>
          </a:solidFill>
          <a:ln w="1905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29626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Member  (1..N per household)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21868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or BUSINESS  ·  Full or External Profile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3511296"/>
            <a:ext cx="0" cy="274320"/>
          </a:xfrm>
          <a:prstGeom prst="line">
            <a:avLst/>
          </a:prstGeom>
          <a:noFill/>
          <a:ln w="1905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65760" y="3785616"/>
            <a:ext cx="4114800" cy="621792"/>
          </a:xfrm>
          <a:prstGeom prst="rect">
            <a:avLst/>
          </a:prstGeom>
          <a:solidFill>
            <a:srgbClr val="E8F0FB"/>
          </a:solidFill>
          <a:ln w="1905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2920" y="38587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(1..N per customer)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1148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payment-eligible unit — DDA, ACH, Wire, External…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0058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4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Attributes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46320" y="13898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846320" y="1389888"/>
            <a:ext cx="64008" cy="402336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992624" y="1417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idr_customer_id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92624" y="15910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UUID — per FI, stable forever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8470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846320" y="1847088"/>
            <a:ext cx="64008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992624" y="18745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idr_global_person_id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92624" y="20482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JH-wide link (token-only, internal)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3042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846320" y="2304288"/>
            <a:ext cx="64008" cy="402336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992624" y="23317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entity_type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92624" y="25054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/ BUSINESS / TRUST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7614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846320" y="2761488"/>
            <a:ext cx="64008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992624" y="27889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profile_completeness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92624" y="29626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(JH holder) · EXTERNAL · BILLER · MERCHANT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2186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846320" y="3218688"/>
            <a:ext cx="64008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992624" y="32461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/ ein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92624" y="34198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plaintext — RLS-protected; hashed at compare time for BK-1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6758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846320" y="3675888"/>
            <a:ext cx="64008" cy="402336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992624" y="3703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92624" y="38770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plaintext — normalized to lowercase; RLS-scoped to FI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41330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846320" y="4133088"/>
            <a:ext cx="64008" cy="402336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992624" y="41605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resolution_method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92624" y="43342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EXACT_SSN · EXACT_ACCOUNT · EXACT_EMAIL · …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45902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4846320" y="4590288"/>
            <a:ext cx="64008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992624" y="46177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confidence_score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92624" y="47914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0–1  matched to Tier 1–5 buckets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65836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 Layer: Originator &amp; Destination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 resolves both parties independently on every payment event — regardless of whether they are a JH account holder or an external counterparty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474720" y="1097280"/>
            <a:ext cx="2194560" cy="169164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474720" y="1325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4720" y="19933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· Amount · Direction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Timestamp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20040" y="1097280"/>
            <a:ext cx="64008" cy="35661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5488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53619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party that initiates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sends the payment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1993392"/>
            <a:ext cx="242316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75488" y="2103120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" y="20665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+ Routing Token  (BK-2)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" y="2523744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8368" y="24871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/ TIN — plaintext, hashed at runtime for BK-1 comparison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" y="2944368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8368" y="2907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— plaintext, normalized for BK-3 direct match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" y="3364992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8368" y="33284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— plaintext, E.164 normalized for BK-4 direct match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" y="3785616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8368" y="3749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CIF / Source ID  (BK-5)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" y="4206240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8368" y="41696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Code → entity_type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17520" y="1947672"/>
            <a:ext cx="45720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383280" y="1901952"/>
            <a:ext cx="128016" cy="914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126480" y="109728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126480" y="1097280"/>
            <a:ext cx="64008" cy="356616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281928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81928" y="153619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party that receives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81928" y="1993392"/>
            <a:ext cx="242316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281928" y="2103120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64808" y="206654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FI Account Holder → Full resolution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81928" y="2596896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64808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Counterparty → Lightweight stub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81928" y="3090672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64808" y="30540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Biller / Merchant → entity_type=BUSINESS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81928" y="3584448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64808" y="35478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Beneficiary → SWIFT BIC + IBAN token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81928" y="4078224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464808" y="4041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Open-Loop P2P → email or phone token only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69280" y="1947672"/>
            <a:ext cx="457200" cy="0"/>
          </a:xfrm>
          <a:prstGeom prst="line">
            <a:avLst/>
          </a:prstGeom>
          <a:noFill/>
          <a:ln w="254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016752" y="1901952"/>
            <a:ext cx="128016" cy="9144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solidFill>
            <a:srgbClr val="E8F0FB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57200" y="47457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SEC Code inference: PPD / WEB / TEL → INDIVIDUAL  ·  CCD / CTX → BUSINESS  ·  ARC / POP / BOC → INDIVIDUAL (check conversion)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4E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Blocking &amp; Bucketing: The Core Mechanism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8229600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2331720"/>
          </a:xfrm>
          <a:prstGeom prst="rect">
            <a:avLst/>
          </a:prstGeom>
          <a:solidFill>
            <a:srgbClr val="132B45"/>
          </a:solidFill>
          <a:ln w="1905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1097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11155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candidate records for comparison without O(N²) cost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10512"/>
            <a:ext cx="118872" cy="11887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232" y="17739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pair is only compared if they share at least one Blocking Key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67712"/>
            <a:ext cx="118872" cy="11887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22311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Blocking Keys (BK-1→8): SSN hash, account+routing, email token, phone/Zelle, core CIF, name+zip, SWIFT BIC, PAN token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724912"/>
            <a:ext cx="118872" cy="11887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26883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BK-6 (Name+Zip) is never used as a standalone key — must accompany a stronger signal (enforced in resolution engine and Redis lookup).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2130552"/>
            <a:ext cx="502920" cy="0"/>
          </a:xfrm>
          <a:prstGeom prst="line">
            <a:avLst/>
          </a:prstGeom>
          <a:noFill/>
          <a:ln w="254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709160" y="2084832"/>
            <a:ext cx="128016" cy="91440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846320" y="960120"/>
            <a:ext cx="3931920" cy="2331720"/>
          </a:xfrm>
          <a:prstGeom prst="rect">
            <a:avLst/>
          </a:prstGeom>
          <a:solidFill>
            <a:srgbClr val="132B45"/>
          </a:solidFill>
          <a:ln w="1905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46320" y="960120"/>
            <a:ext cx="3931920" cy="10972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83480" y="11155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BUCKETING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8348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confidence tier to the match based on which key produced 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1810512"/>
            <a:ext cx="118872" cy="118872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193792" y="17739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tiers: DEFINITIVE (SSN) → HIGH → VERIFIED → INFERRED → UNRESOLVED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83480" y="2267712"/>
            <a:ext cx="118872" cy="118872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193792" y="22311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governs auto-action: auto-merge, auto-stub, or manual review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2724912"/>
            <a:ext cx="118872" cy="118872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193792" y="26883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 to match_decision_log — training corpus for future probabilistic scoring (see Futures doc)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84048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8912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417320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618488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636776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691640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(PCI only)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70048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871216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889504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944368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Keys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922776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123944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142232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197096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(Redis O(1))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175504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5376672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39496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49824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28232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6629400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647688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702552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680960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7882128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900416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900416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955280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Write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Event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955280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(match_decision_log)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65836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 Confidence Tiers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blocking key maps to a tier that governs the auto-action taken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024128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024128"/>
            <a:ext cx="475488" cy="7315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1133856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1225296"/>
            <a:ext cx="1097280" cy="329184"/>
          </a:xfrm>
          <a:prstGeom prst="rect">
            <a:avLst>
              <a:gd name="adj" fmla="val 22222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122529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76272" y="1078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BK-1: SSN / TIN Hash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76272" y="1389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SSN hash match within FI. Strongest possible signal. No review required.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207008"/>
            <a:ext cx="2697480" cy="365760"/>
          </a:xfrm>
          <a:prstGeom prst="rect">
            <a:avLst>
              <a:gd name="adj" fmla="val 20000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035040" y="12070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19656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65760" y="1819656"/>
            <a:ext cx="475488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5760" y="1929384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400" y="2020824"/>
            <a:ext cx="1097280" cy="329184"/>
          </a:xfrm>
          <a:prstGeom prst="rect">
            <a:avLst>
              <a:gd name="adj" fmla="val 2222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20208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0.90–0.99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76272" y="1874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BK-2: Acct+Routing Token  |  BK-5: Core CIF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76272" y="21854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account continuity or core platform customer ID match.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2002536"/>
            <a:ext cx="2697480" cy="365760"/>
          </a:xfrm>
          <a:prstGeom prst="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035040" y="200253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615184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65760" y="2615184"/>
            <a:ext cx="475488" cy="7315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65760" y="2724912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14400" y="2816352"/>
            <a:ext cx="1097280" cy="329184"/>
          </a:xfrm>
          <a:prstGeom prst="rect">
            <a:avLst>
              <a:gd name="adj" fmla="val 22222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14400" y="28163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0.85–0.92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76272" y="2670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BK-3: Email Token  |  BK-4: Phone/Zelle Token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76272" y="29809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email/phone. Auto-merge if no conflicting BK-1 exists; route to manual review queue if BK-1 conflict found (5-day SLA).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35040" y="2798064"/>
            <a:ext cx="2697480" cy="365760"/>
          </a:xfrm>
          <a:prstGeom prst="rect">
            <a:avLst>
              <a:gd name="adj" fmla="val 20000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035040" y="279806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 or REVIEW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410712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365760" y="3410712"/>
            <a:ext cx="475488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65760" y="352044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T4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914400" y="3611880"/>
            <a:ext cx="1097280" cy="329184"/>
          </a:xfrm>
          <a:prstGeom prst="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14400" y="36118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0.65–0.84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76272" y="34655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BK-6: Name + Zip5 + secondary signal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176272" y="3776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auto-merge into FULL entities. Create stub; logged to match_decision_log for future ML scorer (see Futures doc).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35040" y="3593592"/>
            <a:ext cx="2697480" cy="365760"/>
          </a:xfrm>
          <a:prstGeom prst="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035040" y="35935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STUB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365760" y="4206240"/>
            <a:ext cx="475488" cy="7315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65760" y="4315968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T5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914400" y="4407408"/>
            <a:ext cx="1097280" cy="329184"/>
          </a:xfrm>
          <a:prstGeom prst="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14400" y="44074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0.65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176272" y="42611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blocking key match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176272" y="4572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EXTERNAL_STUB with available signals. No entity link created.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035040" y="4389120"/>
            <a:ext cx="2697480" cy="365760"/>
          </a:xfrm>
          <a:prstGeom prst="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035040" y="4389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STUB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Blocking Keys: What They Are and Where They Come From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102412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024128"/>
            <a:ext cx="64008" cy="89611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12064" y="1115568"/>
            <a:ext cx="658368" cy="274320"/>
          </a:xfrm>
          <a:prstGeom prst="rect">
            <a:avLst>
              <a:gd name="adj" fmla="val 26667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12064" y="11155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43584" y="1115568"/>
            <a:ext cx="640080" cy="274320"/>
          </a:xfrm>
          <a:prstGeom prst="rect">
            <a:avLst>
              <a:gd name="adj" fmla="val 26667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43584" y="11155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14264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/ TIN Hash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1664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SHA-256(plaintext SSN/EIN + fi_id) at runtime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02996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65760" y="2029968"/>
            <a:ext cx="64008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12064" y="2121408"/>
            <a:ext cx="658368" cy="274320"/>
          </a:xfrm>
          <a:prstGeom prst="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12064" y="21214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43584" y="2121408"/>
            <a:ext cx="640080" cy="274320"/>
          </a:xfrm>
          <a:prstGeom prst="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43584" y="2121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" y="24323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+ Routing Token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" y="2670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account_number + ':' + routing_number (plaintext)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65760" y="3035808"/>
            <a:ext cx="64008" cy="89611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12064" y="3127248"/>
            <a:ext cx="658368" cy="274320"/>
          </a:xfrm>
          <a:prstGeom prst="rect">
            <a:avLst>
              <a:gd name="adj" fmla="val 26667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12064" y="31272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43584" y="3127248"/>
            <a:ext cx="640080" cy="274320"/>
          </a:xfrm>
          <a:prstGeom prst="rect">
            <a:avLst>
              <a:gd name="adj" fmla="val 26667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43584" y="3127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" y="34381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Token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" y="3675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plaintext email (lowercase)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04164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65760" y="4041648"/>
            <a:ext cx="64008" cy="89611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12064" y="4133088"/>
            <a:ext cx="658368" cy="274320"/>
          </a:xfrm>
          <a:prstGeom prst="rect">
            <a:avLst>
              <a:gd name="adj" fmla="val 26667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12064" y="41330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243584" y="4133088"/>
            <a:ext cx="640080" cy="274320"/>
          </a:xfrm>
          <a:prstGeom prst="rect">
            <a:avLst>
              <a:gd name="adj" fmla="val 26667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243584" y="4133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" y="44439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Zelle Token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2064" y="4681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E.164 phone; Zelle proxy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102412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4709160" y="1024128"/>
            <a:ext cx="64008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855464" y="1115568"/>
            <a:ext cx="658368" cy="274320"/>
          </a:xfrm>
          <a:prstGeom prst="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855464" y="11155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86984" y="1115568"/>
            <a:ext cx="640080" cy="274320"/>
          </a:xfrm>
          <a:prstGeom prst="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586984" y="11155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55464" y="14264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CIF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55464" y="1664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source_system + source_customer_id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202996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4709160" y="2029968"/>
            <a:ext cx="64008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855464" y="2121408"/>
            <a:ext cx="658368" cy="274320"/>
          </a:xfrm>
          <a:prstGeom prst="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855464" y="21214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BK-6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586984" y="2121408"/>
            <a:ext cx="640080" cy="274320"/>
          </a:xfrm>
          <a:prstGeom prst="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5586984" y="2121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55464" y="24323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Zip5  ⚠ secondary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855464" y="2670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name_normalized + zip5 postal code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09160" y="303580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4709160" y="3035808"/>
            <a:ext cx="64008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4855464" y="3127248"/>
            <a:ext cx="658368" cy="274320"/>
          </a:xfrm>
          <a:prstGeom prst="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855464" y="31272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BK-7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586984" y="3127248"/>
            <a:ext cx="640080" cy="274320"/>
          </a:xfrm>
          <a:prstGeom prst="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586984" y="3127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55464" y="34381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BIC + Account Token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855464" y="3675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BIC + plaintext IBAN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09160" y="404164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4709160" y="4041648"/>
            <a:ext cx="64008" cy="8961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855464" y="4133088"/>
            <a:ext cx="658368" cy="274320"/>
          </a:xfrm>
          <a:prstGeom prst="rect">
            <a:avLst>
              <a:gd name="adj" fmla="val 2666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4855464" y="41330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BK-8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586984" y="4133088"/>
            <a:ext cx="640080" cy="274320"/>
          </a:xfrm>
          <a:prstGeom prst="rect">
            <a:avLst>
              <a:gd name="adj" fmla="val 2666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5586984" y="4133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855464" y="44439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PAN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855464" y="4681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FPE(PAN) via PCI Vault — only tokenized field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65836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Two-Tier Architecture: FI-Scoped + JH-Global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FI-scoped resolution always  ·  JH-global linking only when warranted by BK-1 or BK-2 signals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1645920"/>
          </a:xfrm>
          <a:prstGeom prst="rect">
            <a:avLst/>
          </a:prstGeom>
          <a:solidFill>
            <a:srgbClr val="E8F0FB"/>
          </a:solidFill>
          <a:ln w="1905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JH-GLOBAL TIER  (Internal / JHBI only — never exposed to FIs)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idr_global_person_id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093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table only — no PII, no data copied from any FI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115568"/>
            <a:ext cx="1463040" cy="292608"/>
          </a:xfrm>
          <a:prstGeom prst="rect">
            <a:avLst>
              <a:gd name="adj" fmla="val 25000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760720" y="11155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BK-1  SSN hash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1463040" cy="292608"/>
          </a:xfrm>
          <a:prstGeom prst="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760720" y="1463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BK-2  Acct token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1810512"/>
            <a:ext cx="1463040" cy="292608"/>
          </a:xfrm>
          <a:prstGeom prst="rect">
            <a:avLst>
              <a:gd name="adj" fmla="val 2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760720" y="1810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BK-3/4 email/phone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0920" y="1115568"/>
            <a:ext cx="1280160" cy="292608"/>
          </a:xfrm>
          <a:prstGeom prst="rect">
            <a:avLst>
              <a:gd name="adj" fmla="val 25000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60920" y="11155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Permitted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60920" y="1463040"/>
            <a:ext cx="1280160" cy="292608"/>
          </a:xfrm>
          <a:prstGeom prst="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60920" y="1463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Permitted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60920" y="1810512"/>
            <a:ext cx="1280160" cy="292608"/>
          </a:xfrm>
          <a:prstGeom prst="rect">
            <a:avLst>
              <a:gd name="adj" fmla="val 2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60920" y="1810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Cross-FI excl. by design (plaintext within FI only; no global hash).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743200"/>
            <a:ext cx="8412480" cy="0"/>
          </a:xfrm>
          <a:prstGeom prst="line">
            <a:avLst/>
          </a:prstGeom>
          <a:noFill/>
          <a:ln w="25400">
            <a:solidFill>
              <a:srgbClr val="B91C1C"/>
            </a:solidFill>
            <a:prstDash val="dash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371600" y="26334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TENANT BOUNDARY — no FI-to-FI data access permitted below this line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862072"/>
            <a:ext cx="39319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4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65760" y="2862072"/>
            <a:ext cx="3931920" cy="329184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2920" y="2898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FI-A  (e.g., First National Bank)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" y="32552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customer entity  idr_customer_id = UUID-A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" y="3675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Resolution: BK-1 through BK-6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0352" y="40965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idr_global_person_id populated by JHBI process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0352" y="45171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returns FI-A data only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862072"/>
            <a:ext cx="39319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4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846320" y="2862072"/>
            <a:ext cx="3931920" cy="329184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983480" y="2898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FI-B  (e.g., Community Credit Union)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10912" y="32552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Same person, different entity  idr_customer_id = UUID-B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10912" y="3675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Resolution: BK-1 through BK-6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10912" y="40965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idr_global_person_id = same UUID as FI-A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10912" y="45171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returns FI-B data only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Architecture: 5-Layer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005840"/>
            <a:ext cx="1005840" cy="73152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1115568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15214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3040" y="10789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371600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Adapters (1 per JH product) → Event Bus consumer.  Normalize, validate, forward to IdentityEvent schema.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5760" y="1810512"/>
            <a:ext cx="1005840" cy="7315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" y="192024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" y="19568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VAULT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18836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PCI Vault (PAN only)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176272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FF3-1 FPE for card PANs only. OPTIONAL — required only for EP-16 card-acceptance. SSN, account numbers, email, phone stored plaintext (RLS-protected). PCI scope: BK-8 (Tap2Local / EPS gateway).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615184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65760" y="2615184"/>
            <a:ext cx="1005840" cy="7315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65760" y="2724912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" y="276148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ENGINE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26883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Resolution Engine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2980944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Key Deriver → Candidate Generator (Redis O(1)) → Bucket Evaluator → Decision Engine.  Stateless, horizontally scalable.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419856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65760" y="3419856"/>
            <a:ext cx="100584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65760" y="3529584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1792" y="356616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STORE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63040" y="3493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Store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3785616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Entity DB (PostgreSQL, temporal tables, RLS) · Resolution Index (Redis) · Global Link Index (JHBI internal).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224528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65760" y="4224528"/>
            <a:ext cx="1005840" cy="731520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65760" y="4334256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1792" y="437083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API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63040" y="4297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API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63040" y="4590288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FI-facing REST + GraphQL (FI-scoped, OAuth). JHBI Internal API (global-scoped, idr:global:read scope). Kafka change-event topic.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5084064"/>
            <a:ext cx="8412480" cy="0"/>
          </a:xfrm>
          <a:prstGeom prst="rect">
            <a:avLst/>
          </a:prstGeom>
          <a:solidFill>
            <a:srgbClr val="F0F5FC"/>
          </a:solidFill>
          <a:ln w="12700">
            <a:solidFill>
              <a:srgbClr val="F0F5FC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65760" y="49194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Kotlin/Spring Boot  ·  PostgreSQL 15+  ·  Redis  ·  Apache Kafka  ·  HashiCorp Vault  ·  OpenTelemetry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Plan — Phase 1 (Deterministic Core)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229600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128016"/>
          </a:xfrm>
          <a:prstGeom prst="rect">
            <a:avLst/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3000" y="914400"/>
            <a:ext cx="164592" cy="16459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152144"/>
            <a:ext cx="2011680" cy="3749040"/>
          </a:xfrm>
          <a:prstGeom prst="rect">
            <a:avLst/>
          </a:prstGeom>
          <a:solidFill>
            <a:srgbClr val="132B45"/>
          </a:solidFill>
          <a:ln w="1905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152144"/>
            <a:ext cx="2011680" cy="1097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93776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Core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" y="1938528"/>
            <a:ext cx="1737360" cy="256032"/>
          </a:xfrm>
          <a:prstGeom prst="rect">
            <a:avLst>
              <a:gd name="adj" fmla="val 28571"/>
            </a:avLst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eng-weeks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" y="234086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schema + PCI Vault (optional — EP-16 only) (PAN only) (FPE + per-FI HMAC + SHA-256)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" y="284378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27980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Engine: BK-1–5, Tier 1–5 auto-actions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" y="334670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300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SilverLake/Symitar baseline seeding (SEEDED); ACH adapter (EP-06)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" y="384962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38039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global linking (JHBI internal)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" y="435254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430682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FI-scoped REST Query API + audit logging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19272" y="914400"/>
            <a:ext cx="164592" cy="16459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542032" y="1152144"/>
            <a:ext cx="2011680" cy="3749040"/>
          </a:xfrm>
          <a:prstGeom prst="rect">
            <a:avLst/>
          </a:prstGeom>
          <a:solidFill>
            <a:srgbClr val="132B45"/>
          </a:solidFill>
          <a:ln w="1905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542032" y="1152144"/>
            <a:ext cx="2011680" cy="10972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0048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70048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Phases 2–4: Futures Roadmap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670048" y="1938528"/>
            <a:ext cx="1737360" cy="256032"/>
          </a:xfrm>
          <a:prstGeom prst="rect">
            <a:avLst>
              <a:gd name="adj" fmla="val 28571"/>
            </a:avLst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670048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companion document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70048" y="234086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816352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Additional product adapters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70048" y="284378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816352" y="27980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(PayCenter, Payrailz, iPay, Wires, Banno, Biz Pay, EPS/RDC)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70048" y="334670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816352" y="3300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Probabilistic matching (ML scorer)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670048" y="384962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816352" y="38039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Graph enrichment + probabilistic household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70048" y="435254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816352" y="430682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JH_Identity_Resolution_Futures_v0.1.docx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95544" y="914400"/>
            <a:ext cx="164592" cy="164592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718304" y="1152144"/>
            <a:ext cx="2011680" cy="3749040"/>
          </a:xfrm>
          <a:prstGeom prst="rect">
            <a:avLst/>
          </a:prstGeom>
          <a:solidFill>
            <a:srgbClr val="132B45"/>
          </a:solidFill>
          <a:ln w="1905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718304" y="1152144"/>
            <a:ext cx="2011680" cy="10972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846320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846320" y="1938528"/>
            <a:ext cx="1737360" cy="256032"/>
          </a:xfrm>
          <a:prstGeom prst="rect">
            <a:avLst>
              <a:gd name="adj" fmla="val 28571"/>
            </a:avLst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84632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Platform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46320" y="234086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992624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 (PostgreSQL 15+)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46320" y="284378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992624" y="27980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Memorystore (Redis)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46320" y="334670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992624" y="3300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(Resolution Engine + Adapters)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46320" y="384962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992624" y="38039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Pub/Sub (Event Bus)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46320" y="435254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992624" y="430682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Endpoints + Cloud Armor (API)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671816" y="914400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894576" y="1152144"/>
            <a:ext cx="2011680" cy="3749040"/>
          </a:xfrm>
          <a:prstGeom prst="rect">
            <a:avLst/>
          </a:prstGeom>
          <a:solidFill>
            <a:srgbClr val="132B45"/>
          </a:solidFill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6894576" y="1152144"/>
            <a:ext cx="201168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022592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022592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Decisions Required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022592" y="1938528"/>
            <a:ext cx="1737360" cy="256032"/>
          </a:xfrm>
          <a:prstGeom prst="rect">
            <a:avLst>
              <a:gd name="adj" fmla="val 28571"/>
            </a:avLst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7022592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Section 12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022592" y="234086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7168896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FI / product line selection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022592" y="284378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7168896" y="27980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plaintext availability from SilverLake CDC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022592" y="334670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7168896" y="3300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formation: opt-in vs. opt-out policy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022592" y="384962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7168896" y="38039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SLO: ≤500ms vs. eventual consistency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Design Decisions &amp; Open Questions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35024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335024"/>
            <a:ext cx="64008" cy="80467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30352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Resolve all payment parties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65506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JH account holders — all originators and destinations get at least an External Profile stub.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5760" y="2231136"/>
            <a:ext cx="64008" cy="80467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0352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Biller/Merchant = BUSINESS entity_type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55117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4th entity type needed. Billers and merchants resolved as Customer/Member with entity_type=BUSINESS.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127248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65760" y="3127248"/>
            <a:ext cx="64008" cy="80467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0352" y="3182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Two-tier identity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4472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FI-scoped (external API) + JH-global link table (JHBI internal, token-only, no PII crossing tenant boundary).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65760" y="4023360"/>
            <a:ext cx="64008" cy="80467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30352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Email/phone NOT cross-FI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43434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within FI only (RLS-scoped). Cross-FI linking uses only BK1 (SHA-256(SSN+platform_salt) at runtime) and BK2 (account+routing plaintext). No HMAC or per-FI salt needed.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4773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BK-6 enforcement codified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503834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idr_blocking_key_def.can_be_sole_key=FALSE enforced at schema and engine level.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(decisions needed)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33502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754880" y="1335024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919472" y="13898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0096" y="13716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SSN available in plaintext from SilverLake CDC, or pre-hashed? Who owns the hashing process? See ep02_pii_vault.sql §idr_token_registry.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40096" y="175564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Eng / Security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08483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754880" y="2084832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919472" y="21396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0096" y="21214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pilot: which FIs and which products are in scope for Phase 1?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40096" y="250545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Product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83464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754880" y="2834640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919472" y="28895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0096" y="287121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formation: opt-in per FI (idr_fi_config.household_address_match defaults FALSE). Joint-account household always auto-forms.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40096" y="325526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Product / Legal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58444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754880" y="3584448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919472" y="36393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40096" y="362102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SLO: near-real-time (&lt; 500ms) or eventual consistency acceptable?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40096" y="400507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Product / Eng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43342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4754880" y="4334256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919472" y="4389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40096" y="437083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Tap2Local: can we obtain card-network tokens from Moov to enable cross-transaction linking?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40096" y="475488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Eng / Tap2Local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Comes Next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4572000" cy="0"/>
          </a:xfrm>
          <a:prstGeom prst="line">
            <a:avLst/>
          </a:prstGeom>
          <a:noFill/>
          <a:ln w="254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280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1444752"/>
            <a:ext cx="256032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17320" y="12984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open questions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5910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handling, pilot FI selection, household opt-in policy, and latency SLO — target decisions by end of sprint.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97280" y="2359152"/>
            <a:ext cx="256032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417320" y="22128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futures roadmap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5054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2–4 are documented in JH_Identity_Resolution_Futures_v0.1. Confirm Phase 2 adapter sequencing and Phase 3 training data strategy with the team.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97280" y="3273552"/>
            <a:ext cx="256032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417320" y="31272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on v0.4 design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4198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Document v0.4 is complete. Schedule team review, address open questions in Section 12, and obtain sign-off before sprint planning.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97280" y="4187952"/>
            <a:ext cx="256032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417320" y="40416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pilot FI and scope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4334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first FI(s) and product lines for the Phase 1 pilot. Decisions on SSN handling, household opt-in policy, and latency SLO required before implementation kickoff.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Identity Resolution for Payment Products  ·  DRAFT v0.4  ·  February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 Identity Resolution – Payment Products</dc:title>
  <dc:subject>PptxGenJS Presentation</dc:subject>
  <dc:creator>JHBI</dc:creator>
  <cp:lastModifiedBy>JHBI</cp:lastModifiedBy>
  <cp:revision>1</cp:revision>
  <dcterms:created xsi:type="dcterms:W3CDTF">2026-02-23T16:15:03Z</dcterms:created>
  <dcterms:modified xsi:type="dcterms:W3CDTF">2026-02-23T16:15:03Z</dcterms:modified>
</cp:coreProperties>
</file>