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914400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Intelligence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04288"/>
            <a:ext cx="2194560" cy="54864"/>
          </a:xfrm>
          <a:prstGeom prst="rect">
            <a:avLst/>
          </a:prstGeom>
          <a:solidFill>
            <a:srgbClr val="B0800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4231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Data as a Service Architecture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9443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&amp; External Access Design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749040"/>
            <a:ext cx="1463040" cy="320040"/>
          </a:xfrm>
          <a:prstGeom prst="rect">
            <a:avLst>
              <a:gd name="adj" fmla="val 14286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7490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— Draft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48840" y="3749040"/>
            <a:ext cx="1463040" cy="320040"/>
          </a:xfrm>
          <a:prstGeom prst="rect">
            <a:avLst>
              <a:gd name="adj" fmla="val 14286"/>
            </a:avLst>
          </a:prstGeom>
          <a:solidFill>
            <a:srgbClr val="2E75B6"/>
          </a:solidFill>
          <a:ln/>
        </p:spPr>
      </p:sp>
      <p:sp>
        <p:nvSpPr>
          <p:cNvPr id="11" name="Text 9"/>
          <p:cNvSpPr/>
          <p:nvPr/>
        </p:nvSpPr>
        <p:spPr>
          <a:xfrm>
            <a:off x="2148840" y="37490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49040" y="3749040"/>
            <a:ext cx="1463040" cy="320040"/>
          </a:xfrm>
          <a:prstGeom prst="rect">
            <a:avLst>
              <a:gd name="adj" fmla="val 14286"/>
            </a:avLst>
          </a:prstGeom>
          <a:solidFill>
            <a:srgbClr val="7B3030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7490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35040" y="1097280"/>
            <a:ext cx="2834640" cy="822960"/>
          </a:xfrm>
          <a:prstGeom prst="rect">
            <a:avLst/>
          </a:prstGeom>
          <a:solidFill>
            <a:srgbClr val="B08000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035040" y="1143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035040" y="15087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/ Analytics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2148840"/>
            <a:ext cx="2834640" cy="822960"/>
          </a:xfrm>
          <a:prstGeom prst="rect">
            <a:avLst/>
          </a:prstGeom>
          <a:solidFill>
            <a:srgbClr val="595959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35040" y="21945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035040" y="256032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Cleansed / Normalized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35040" y="3200400"/>
            <a:ext cx="2834640" cy="822960"/>
          </a:xfrm>
          <a:prstGeom prst="rect">
            <a:avLst/>
          </a:prstGeom>
          <a:solidFill>
            <a:srgbClr val="C55A11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35040" y="32461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035040" y="36118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/ CDC Ingested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0" y="4846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Associates, Inc.  |  JHBI Product Engineering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777240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77240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" y="822960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Overview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1106424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DaaS vision, objectives, and MVP scope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4320" y="1581912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1581912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" y="1581912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1627632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Project Structure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13232" y="1911096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zone, environments, and project topology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386584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386584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" y="2386584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13232" y="2432304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 (CDC)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713232" y="2715768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Datastream, Pub/Sub, Dataflow, and PCI tokenization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" y="3191256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91256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191256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13232" y="323697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Data Lake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13232" y="3520440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/ Silver / Gold layers in BigQuery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74320" y="3995928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4320" y="3995928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8" name="Text 26"/>
          <p:cNvSpPr/>
          <p:nvPr/>
        </p:nvSpPr>
        <p:spPr>
          <a:xfrm>
            <a:off x="274320" y="3995928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13232" y="4041648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Resolution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13232" y="4325112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Account, Customer, Household — Cloud Spanner MDM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777240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754880" y="777240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3" name="Text 31"/>
          <p:cNvSpPr/>
          <p:nvPr/>
        </p:nvSpPr>
        <p:spPr>
          <a:xfrm>
            <a:off x="4754880" y="777240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193792" y="822960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Architecture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5193792" y="1106424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 analytics: IAM, Analytics Hub, Vertex AI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754880" y="1581912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0" y="1581912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8" name="Text 36"/>
          <p:cNvSpPr/>
          <p:nvPr/>
        </p:nvSpPr>
        <p:spPr>
          <a:xfrm>
            <a:off x="4754880" y="1581912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193792" y="1627632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Architecture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193792" y="1911096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portal, REST APIs, multi-tenant isolation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54880" y="2386584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54880" y="2386584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0" y="2386584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193792" y="2432304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Compliance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193792" y="2715768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DSS, GLBA, SOC 2, NACHA, FFIEC, CCPA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54880" y="3191256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754880" y="3191256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8" name="Text 46"/>
          <p:cNvSpPr/>
          <p:nvPr/>
        </p:nvSpPr>
        <p:spPr>
          <a:xfrm>
            <a:off x="4754880" y="3191256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193792" y="323697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&amp; IaC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5193792" y="3520440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Build, Terraform, Dataform, deployment pipelines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54880" y="3995928"/>
            <a:ext cx="4206240" cy="65836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4754880" y="3995928"/>
            <a:ext cx="384048" cy="65836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3" name="Text 51"/>
          <p:cNvSpPr/>
          <p:nvPr/>
        </p:nvSpPr>
        <p:spPr>
          <a:xfrm>
            <a:off x="4754880" y="3995928"/>
            <a:ext cx="384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193792" y="4041648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&amp; Next Steps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5193792" y="4325112"/>
            <a:ext cx="3712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decisions, open questions, timeline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Overview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— Data as a Service for Financial Institutions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8595360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80467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consolidates payments data from Jack Henry source systems into a unified BigQuery data lake, enabling FIs to access reliable insights through APIs, a portal, and Power BI — while allowing JH to analyze cross-FI patterns internally.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" y="1508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Payment Sources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74320" y="1810512"/>
            <a:ext cx="393192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74320" y="1810512"/>
            <a:ext cx="54864" cy="566928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2" name="Text 10"/>
          <p:cNvSpPr/>
          <p:nvPr/>
        </p:nvSpPr>
        <p:spPr>
          <a:xfrm>
            <a:off x="420624" y="182880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Ensenta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" y="20756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/ RDC Deposits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468880"/>
            <a:ext cx="393192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468880"/>
            <a:ext cx="54864" cy="566928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6" name="Text 14"/>
          <p:cNvSpPr/>
          <p:nvPr/>
        </p:nvSpPr>
        <p:spPr>
          <a:xfrm>
            <a:off x="420624" y="2487168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ACH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0624" y="273405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 Credits &amp; Debits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74320" y="3127248"/>
            <a:ext cx="393192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3127248"/>
            <a:ext cx="54864" cy="566928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0" name="Text 18"/>
          <p:cNvSpPr/>
          <p:nvPr/>
        </p:nvSpPr>
        <p:spPr>
          <a:xfrm>
            <a:off x="420624" y="3145536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PayCenter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20624" y="339242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FedNow / RTP / Zelle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74320" y="3785616"/>
            <a:ext cx="3931920" cy="56692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3785616"/>
            <a:ext cx="54864" cy="566928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4" name="Text 22"/>
          <p:cNvSpPr/>
          <p:nvPr/>
        </p:nvSpPr>
        <p:spPr>
          <a:xfrm>
            <a:off x="420624" y="3803904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 (iPay)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20624" y="40507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Business Bill Pay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0" y="15087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MVP Components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0" y="1810512"/>
            <a:ext cx="2011680" cy="8046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1810512"/>
            <a:ext cx="2011680" cy="164592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45152" y="199339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Medallion (Bronze/Silver/Gold)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0" y="2770632"/>
            <a:ext cx="2011680" cy="8046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0" y="2770632"/>
            <a:ext cx="2011680" cy="16459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0" y="277063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Jobs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45152" y="295351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Dataform ELT + Cloud Composer orchestration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572000" y="3730752"/>
            <a:ext cx="2011680" cy="8046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572000" y="3730752"/>
            <a:ext cx="2011680" cy="164592"/>
          </a:xfrm>
          <a:prstGeom prst="rect">
            <a:avLst/>
          </a:prstGeom>
          <a:solidFill>
            <a:srgbClr val="B08000"/>
          </a:solidFill>
          <a:ln/>
        </p:spPr>
      </p:sp>
      <p:sp>
        <p:nvSpPr>
          <p:cNvPr id="37" name="Text 35"/>
          <p:cNvSpPr/>
          <p:nvPr/>
        </p:nvSpPr>
        <p:spPr>
          <a:xfrm>
            <a:off x="4572000" y="373075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Resolution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645152" y="391363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/ Customer / Household MDM in Spanner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720840" y="1810512"/>
            <a:ext cx="2011680" cy="8046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720840" y="1810512"/>
            <a:ext cx="2011680" cy="16459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1" name="Text 39"/>
          <p:cNvSpPr/>
          <p:nvPr/>
        </p:nvSpPr>
        <p:spPr>
          <a:xfrm>
            <a:off x="6720840" y="181051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Services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93992" y="199339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RESTful APIs for FI programmatic access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720840" y="2770632"/>
            <a:ext cx="2011680" cy="8046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720840" y="2770632"/>
            <a:ext cx="2011680" cy="1645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5" name="Text 43"/>
          <p:cNvSpPr/>
          <p:nvPr/>
        </p:nvSpPr>
        <p:spPr>
          <a:xfrm>
            <a:off x="6720840" y="277063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Portal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793992" y="295351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gateway — catalog, DQ, lineage, AI query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720840" y="3730752"/>
            <a:ext cx="2011680" cy="8046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6720840" y="3730752"/>
            <a:ext cx="2011680" cy="164592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3730752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Layer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793992" y="391363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layer + OOTB dashboards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Project Structure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Zone — Environment &amp; Functional Separation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solidFill>
            <a:srgbClr val="1A1A2E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7724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Organization  →  jhbi-org Folder  →  Environments (prod / staging / dev)  →  Functional Projects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261872"/>
            <a:ext cx="2788920" cy="12618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261872"/>
            <a:ext cx="2788920" cy="32004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126187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Pipeline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" y="1609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jhbi-ingestion-prod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0040" y="185623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Datastream, Pub/Sub, Dataflow, DLP, KMS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154680" y="1261872"/>
            <a:ext cx="2788920" cy="12618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154680" y="1261872"/>
            <a:ext cx="2788920" cy="32004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6" name="Text 14"/>
          <p:cNvSpPr/>
          <p:nvPr/>
        </p:nvSpPr>
        <p:spPr>
          <a:xfrm>
            <a:off x="3154680" y="126187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46120" y="1609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jhbi-datalake-prod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246120" y="185623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(Bronze/Silver/Gold), Dataplex, Composer, Dataform, Spanner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080760" y="1261872"/>
            <a:ext cx="2788920" cy="12618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80760" y="1261872"/>
            <a:ext cx="2788920" cy="32004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1" name="Text 19"/>
          <p:cNvSpPr/>
          <p:nvPr/>
        </p:nvSpPr>
        <p:spPr>
          <a:xfrm>
            <a:off x="6080760" y="126187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&amp; Portal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172200" y="160934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jhbi-services-prod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72200" y="185623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Gateway, Cloud Run, Firebase Hosting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8600" y="2679192"/>
            <a:ext cx="2788920" cy="12618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28600" y="2679192"/>
            <a:ext cx="2788920" cy="32004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" y="2679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Analytics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" y="3026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jhbi-internal-prod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327355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Hub, Vertex AI Workbench, Looker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154680" y="2679192"/>
            <a:ext cx="2788920" cy="12618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154680" y="2679192"/>
            <a:ext cx="2788920" cy="32004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1" name="Text 29"/>
          <p:cNvSpPr/>
          <p:nvPr/>
        </p:nvSpPr>
        <p:spPr>
          <a:xfrm>
            <a:off x="3154680" y="2679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246120" y="3026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jhbi-security-prod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246120" y="327355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KMS (CMEK), Secret Manager, Cloud Armor, SCC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080760" y="2679192"/>
            <a:ext cx="2788920" cy="126187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080760" y="2679192"/>
            <a:ext cx="2788920" cy="32004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6" name="Text 34"/>
          <p:cNvSpPr/>
          <p:nvPr/>
        </p:nvSpPr>
        <p:spPr>
          <a:xfrm>
            <a:off x="6080760" y="2679192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172200" y="3026664"/>
            <a:ext cx="2606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jhbi-devops-prod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172200" y="3273552"/>
            <a:ext cx="2606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Build, Artifact Registry, Terraform state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8600" y="4544568"/>
            <a:ext cx="8686800" cy="29260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40" name="Text 38"/>
          <p:cNvSpPr/>
          <p:nvPr/>
        </p:nvSpPr>
        <p:spPr>
          <a:xfrm>
            <a:off x="228600" y="454456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VPC Host Project (jhbi-network-prod) + VPC Service Controls perimeter wraps ALL jhbi-* projects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 Layer — CDC Pipeline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change capture with PCI tokenization before BigQuery landing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37160" y="804672"/>
            <a:ext cx="1719072" cy="2377440"/>
          </a:xfrm>
          <a:prstGeom prst="rect">
            <a:avLst/>
          </a:prstGeom>
          <a:solidFill>
            <a:srgbClr val="C55A11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" y="84124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DBs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28600" y="1426464"/>
            <a:ext cx="15361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Ensenta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 ACH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PayCenter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01368" y="171907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011680" y="804672"/>
            <a:ext cx="1719072" cy="2377440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011680" y="84124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Datastream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103120" y="1426464"/>
            <a:ext cx="15361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(pglogical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binlog)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75888" y="171907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886200" y="804672"/>
            <a:ext cx="1719072" cy="2377440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86200" y="84124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977640" y="1426464"/>
            <a:ext cx="15361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+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dead-letter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550408" y="171907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60720" y="804672"/>
            <a:ext cx="1719072" cy="2377440"/>
          </a:xfrm>
          <a:prstGeom prst="rect">
            <a:avLst/>
          </a:prstGeom>
          <a:solidFill>
            <a:srgbClr val="6B2D8B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84124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Dataflow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DLP + KMS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852160" y="1426464"/>
            <a:ext cx="15361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token-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ization; FPE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PAN; HMAC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routing #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424928" y="171907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06640" y="804672"/>
            <a:ext cx="1719072" cy="2377440"/>
          </a:xfrm>
          <a:prstGeom prst="rect">
            <a:avLst/>
          </a:prstGeom>
          <a:solidFill>
            <a:srgbClr val="C55A11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406640" y="841248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498080" y="1426464"/>
            <a:ext cx="1536192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fi_id + date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82880" y="3291840"/>
            <a:ext cx="6949440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82880" y="3364992"/>
            <a:ext cx="3291840" cy="292608"/>
          </a:xfrm>
          <a:prstGeom prst="rect">
            <a:avLst/>
          </a:prstGeom>
          <a:solidFill>
            <a:srgbClr val="FDECEA"/>
          </a:solidFill>
          <a:ln/>
        </p:spPr>
      </p:sp>
      <p:sp>
        <p:nvSpPr>
          <p:cNvPr id="28" name="Text 26"/>
          <p:cNvSpPr/>
          <p:nvPr/>
        </p:nvSpPr>
        <p:spPr>
          <a:xfrm>
            <a:off x="182880" y="331012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Scope Boundary — PANs &amp; sensitive data exist ONLY within this zone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82880" y="3712464"/>
            <a:ext cx="28346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3712464"/>
            <a:ext cx="2834640" cy="25603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1" name="Text 29"/>
          <p:cNvSpPr/>
          <p:nvPr/>
        </p:nvSpPr>
        <p:spPr>
          <a:xfrm>
            <a:off x="182880" y="37124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DLP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" y="3986784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FPE-AES tokenization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InfoType detection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(CREDIT_CARD_NUMBER,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IBAN, SSN, routing #)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154680" y="3712464"/>
            <a:ext cx="28346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154680" y="3712464"/>
            <a:ext cx="2834640" cy="25603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5" name="Text 33"/>
          <p:cNvSpPr/>
          <p:nvPr/>
        </p:nvSpPr>
        <p:spPr>
          <a:xfrm>
            <a:off x="3154680" y="37124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KMS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46120" y="3986784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CMEK key rings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Per-class key rings: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/ PII / General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auto-rotation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126480" y="3712464"/>
            <a:ext cx="283464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126480" y="3712464"/>
            <a:ext cx="2834640" cy="25603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9" name="Text 37"/>
          <p:cNvSpPr/>
          <p:nvPr/>
        </p:nvSpPr>
        <p:spPr>
          <a:xfrm>
            <a:off x="6126480" y="371246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217920" y="3986784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lag alerts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Dead-letter depth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 finding counts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dashboards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Data Lake — 4-Layer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multi-tenant Bronze/Silver → Gold Internal (JH) → Gold External (Analytics Hub per FI)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" y="777240"/>
            <a:ext cx="86868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8600" y="777240"/>
            <a:ext cx="1261872" cy="96012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" y="822960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28600" y="1252728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jhbi_bronze_{source}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572768" y="832104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Multi-Tenant  ·  Source-system datasets  ·  No user access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72768" y="106984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Shared datasets per source system (not per FI)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572768" y="12801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fi_id on every row — partitioned by fi_id + date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72768" y="149047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Tokenized JSON payload (schema-on-read)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120640" y="106984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Append-only, immutable — 7yr retention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12801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PCI boundary ends here — DLP/KMS before landing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20640" y="14904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Pipeline service accounts only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0" y="1033272"/>
            <a:ext cx="27432" cy="64008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9" name="Shape 17"/>
          <p:cNvSpPr/>
          <p:nvPr/>
        </p:nvSpPr>
        <p:spPr>
          <a:xfrm>
            <a:off x="228600" y="1901952"/>
            <a:ext cx="86868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28600" y="1901952"/>
            <a:ext cx="1261872" cy="960120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" y="194767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28600" y="2377440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jhbi_silver_payments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572768" y="1956816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Multi-Tenant  ·  BIAN + ISO 20022 schema  ·  JH internal + RLS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572768" y="219456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Unified payment schema (upt_transaction)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572768" y="240487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fi_id tagged, entity IDs resolved from Spanner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572768" y="26151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Dataplex DQ scans — 95%+ score required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20640" y="219456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BigQuery RLS enforces fi_id on internal access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120640" y="2404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Quarantine dataset for DQ-failing records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20640" y="261518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JH data engineers, scientists, compliance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29200" y="2157984"/>
            <a:ext cx="27432" cy="64008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31" name="Shape 29"/>
          <p:cNvSpPr/>
          <p:nvPr/>
        </p:nvSpPr>
        <p:spPr>
          <a:xfrm>
            <a:off x="228600" y="3026664"/>
            <a:ext cx="86868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28600" y="3026664"/>
            <a:ext cx="1261872" cy="960120"/>
          </a:xfrm>
          <a:prstGeom prst="rect">
            <a:avLst/>
          </a:prstGeom>
          <a:solidFill>
            <a:srgbClr val="B08000"/>
          </a:solidFill>
          <a:ln/>
        </p:spPr>
      </p:sp>
      <p:sp>
        <p:nvSpPr>
          <p:cNvPr id="33" name="Text 31"/>
          <p:cNvSpPr/>
          <p:nvPr/>
        </p:nvSpPr>
        <p:spPr>
          <a:xfrm>
            <a:off x="228600" y="3072384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INT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228600" y="3502152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jhbi_gold_internal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1572768" y="3081528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Multi-Tenant  ·  Star schema  ·  JH cross-FI analytics &amp; data science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572768" y="331927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Fact + dim tables, surrogate keys, pre-aggregated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1572768" y="35295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fi_id + RLS — cross-FI authorized views for analysts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572768" y="373989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Vertex AI Workbench, Looker, internal Power BI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5120640" y="33192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 Engine 100GB for sub-second queries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120640" y="352958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Cross-FI aggregate views — no raw per-FI exposure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5120640" y="37398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Source for Analytics Hub Gold External listings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029200" y="3282696"/>
            <a:ext cx="27432" cy="64008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43" name="Shape 41"/>
          <p:cNvSpPr/>
          <p:nvPr/>
        </p:nvSpPr>
        <p:spPr>
          <a:xfrm>
            <a:off x="228600" y="4151376"/>
            <a:ext cx="86868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228600" y="4151376"/>
            <a:ext cx="1261872" cy="96012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5" name="Text 43"/>
          <p:cNvSpPr/>
          <p:nvPr/>
        </p:nvSpPr>
        <p:spPr>
          <a:xfrm>
            <a:off x="228600" y="4197096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EXT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228600" y="4626864"/>
            <a:ext cx="12618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Hub  →  fi-project.jhbi_gold_linked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1572768" y="4206240"/>
            <a:ext cx="7223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via Analytics Hub  ·  FI's own GCP project  ·  Migration path to project-per-FI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572768" y="444398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One Analytics Hub listing per FI — zero dataset proliferation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572768" y="465429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FI subscribes → linked dataset in their own project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572768" y="48646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Same schema as Gold Internal — fi_id rows only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5120640" y="444398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FI queries their own project — no JHBI IAM needed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5120640" y="46542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Power BI, portal, APIs all reference FI's linked dataset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120640" y="486460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Promote to real dataset when project-per-FI required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029200" y="4407408"/>
            <a:ext cx="27432" cy="640080"/>
          </a:xfrm>
          <a:prstGeom prst="rect">
            <a:avLst/>
          </a:prstGeom>
          <a:solidFill>
            <a:srgbClr val="E9EEF3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 Through Layers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$1,500 FedNow payment — how one transaction record evolves from CDC to FI-facing Gold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6888" y="804672"/>
            <a:ext cx="1975104" cy="347472"/>
          </a:xfrm>
          <a:prstGeom prst="rect">
            <a:avLst/>
          </a:prstGeom>
          <a:solidFill>
            <a:srgbClr val="C55A11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" y="804672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6888" y="978408"/>
            <a:ext cx="1975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cdc_events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46888" y="1152144"/>
            <a:ext cx="1975104" cy="18288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" y="1152144"/>
            <a:ext cx="1975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· JSON payload · No user access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246888" y="134416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jhbi_bronze_paycenter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46888" y="1517904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01752" y="1563624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fi_id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4712" y="1563624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acme_bank_001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46888" y="1842516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7" name="Text 15"/>
          <p:cNvSpPr/>
          <p:nvPr/>
        </p:nvSpPr>
        <p:spPr>
          <a:xfrm>
            <a:off x="301752" y="1888236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cdc_op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24712" y="1888236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46888" y="2167128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01752" y="2212848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src_record_id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24712" y="2212848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PC-2026-00123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6888" y="2491740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301752" y="2537460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pmt_rail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24712" y="2537460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FedNow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46888" y="2816352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01752" y="2862072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payload.amount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4712" y="2862072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1500.00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46888" y="3140964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29" name="Text 27"/>
          <p:cNvSpPr/>
          <p:nvPr/>
        </p:nvSpPr>
        <p:spPr>
          <a:xfrm>
            <a:off x="301752" y="3186684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orig_acct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124712" y="3186684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TOK-8472-XXXX ●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246888" y="3465576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01752" y="3511296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payload.status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24712" y="3511296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46888" y="3845052"/>
            <a:ext cx="1975104" cy="548640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35" name="Text 33"/>
          <p:cNvSpPr/>
          <p:nvPr/>
        </p:nvSpPr>
        <p:spPr>
          <a:xfrm>
            <a:off x="301752" y="3890772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JSON, schema-on-read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tokenized (DLP/KMS)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user access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31136" y="283464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2331720" y="804672"/>
            <a:ext cx="1975104" cy="347472"/>
          </a:xfrm>
          <a:prstGeom prst="rect">
            <a:avLst/>
          </a:prstGeom>
          <a:solidFill>
            <a:srgbClr val="595959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2331720" y="804672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331720" y="978408"/>
            <a:ext cx="1975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upt_transaction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331720" y="1152144"/>
            <a:ext cx="1975104" cy="18288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41" name="Text 39"/>
          <p:cNvSpPr/>
          <p:nvPr/>
        </p:nvSpPr>
        <p:spPr>
          <a:xfrm>
            <a:off x="2331720" y="1152144"/>
            <a:ext cx="1975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· BIAN schema · Entity resolved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2331720" y="134416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jhbi_silver_payments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2331720" y="1517904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386584" y="1563624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fi_id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209544" y="1563624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acme_bank_001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331720" y="1842516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47" name="Text 45"/>
          <p:cNvSpPr/>
          <p:nvPr/>
        </p:nvSpPr>
        <p:spPr>
          <a:xfrm>
            <a:off x="2386584" y="1888236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entity_cust_id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209544" y="1888236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CUST-ENT-045678 ★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331720" y="2167128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2386584" y="2212848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entity_acct_id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209544" y="2212848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ACCT-ENT-098765 ★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331720" y="2491740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53" name="Text 51"/>
          <p:cNvSpPr/>
          <p:nvPr/>
        </p:nvSpPr>
        <p:spPr>
          <a:xfrm>
            <a:off x="2386584" y="2537460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payment_rail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3209544" y="2537460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FedNow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331720" y="2816352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/>
          <p:nvPr/>
        </p:nvSpPr>
        <p:spPr>
          <a:xfrm>
            <a:off x="2386584" y="2862072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payment_type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3209544" y="2862072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INST_CREDIT_PUSH ★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331720" y="3140964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59" name="Text 57"/>
          <p:cNvSpPr/>
          <p:nvPr/>
        </p:nvSpPr>
        <p:spPr>
          <a:xfrm>
            <a:off x="2386584" y="3186684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/ ccy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3209544" y="3186684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1500.00 / USD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2331720" y="3465576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Text 60"/>
          <p:cNvSpPr/>
          <p:nvPr/>
        </p:nvSpPr>
        <p:spPr>
          <a:xfrm>
            <a:off x="2386584" y="3511296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settlement_ms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209544" y="3511296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ms ★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331720" y="3845052"/>
            <a:ext cx="1975104" cy="548640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65" name="Text 63"/>
          <p:cNvSpPr/>
          <p:nvPr/>
        </p:nvSpPr>
        <p:spPr>
          <a:xfrm>
            <a:off x="2386584" y="3890772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cols, BIAN schema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IDs resolved (Spanner)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 internal + RLS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315968" y="283464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4416552" y="804672"/>
            <a:ext cx="1975104" cy="347472"/>
          </a:xfrm>
          <a:prstGeom prst="rect">
            <a:avLst/>
          </a:prstGeom>
          <a:solidFill>
            <a:srgbClr val="B08000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68" name="Text 66"/>
          <p:cNvSpPr/>
          <p:nvPr/>
        </p:nvSpPr>
        <p:spPr>
          <a:xfrm>
            <a:off x="4416552" y="804672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INT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416552" y="978408"/>
            <a:ext cx="1975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fact_payment_transactions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416552" y="1152144"/>
            <a:ext cx="1975104" cy="18288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71" name="Text 69"/>
          <p:cNvSpPr/>
          <p:nvPr/>
        </p:nvSpPr>
        <p:spPr>
          <a:xfrm>
            <a:off x="4416552" y="1152144"/>
            <a:ext cx="1975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· Cross-FI analytics · JH only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4416552" y="134416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jhbi_gold_internal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416552" y="1517904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4" name="Text 72"/>
          <p:cNvSpPr/>
          <p:nvPr/>
        </p:nvSpPr>
        <p:spPr>
          <a:xfrm>
            <a:off x="4471416" y="1563624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fi_id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5294376" y="1563624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acme_bank_001 (RLS)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4416552" y="1842516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77" name="Text 75"/>
          <p:cNvSpPr/>
          <p:nvPr/>
        </p:nvSpPr>
        <p:spPr>
          <a:xfrm>
            <a:off x="4471416" y="1888236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transaction_sk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5294376" y="1888236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GLD-SK-00456 ★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4416552" y="2167128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Text 78"/>
          <p:cNvSpPr/>
          <p:nvPr/>
        </p:nvSpPr>
        <p:spPr>
          <a:xfrm>
            <a:off x="4471416" y="2212848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entity_cust_id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5294376" y="2212848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CUST-ENT-045678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416552" y="2491740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83" name="Text 81"/>
          <p:cNvSpPr/>
          <p:nvPr/>
        </p:nvSpPr>
        <p:spPr>
          <a:xfrm>
            <a:off x="4471416" y="2537460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payment_rail</a:t>
            </a:r>
            <a:endParaRPr lang="en-US" sz="800" dirty="0"/>
          </a:p>
        </p:txBody>
      </p:sp>
      <p:sp>
        <p:nvSpPr>
          <p:cNvPr id="84" name="Text 82"/>
          <p:cNvSpPr/>
          <p:nvPr/>
        </p:nvSpPr>
        <p:spPr>
          <a:xfrm>
            <a:off x="5294376" y="2537460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FedNow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416552" y="2816352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/>
          <p:nvPr/>
        </p:nvSpPr>
        <p:spPr>
          <a:xfrm>
            <a:off x="4471416" y="2862072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5294376" y="2862072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1500.00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416552" y="3140964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89" name="Text 87"/>
          <p:cNvSpPr/>
          <p:nvPr/>
        </p:nvSpPr>
        <p:spPr>
          <a:xfrm>
            <a:off x="4471416" y="3186684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is_instant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5294376" y="3186684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★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4416552" y="3465576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2" name="Text 90"/>
          <p:cNvSpPr/>
          <p:nvPr/>
        </p:nvSpPr>
        <p:spPr>
          <a:xfrm>
            <a:off x="4471416" y="3511296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settlement_ms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5294376" y="3511296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ms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4416552" y="3845052"/>
            <a:ext cx="1975104" cy="548640"/>
          </a:xfrm>
          <a:prstGeom prst="rect">
            <a:avLst/>
          </a:prstGeom>
          <a:solidFill>
            <a:srgbClr val="FFF2CC"/>
          </a:solidFill>
          <a:ln/>
        </p:spPr>
      </p:sp>
      <p:sp>
        <p:nvSpPr>
          <p:cNvPr id="95" name="Text 93"/>
          <p:cNvSpPr/>
          <p:nvPr/>
        </p:nvSpPr>
        <p:spPr>
          <a:xfrm>
            <a:off x="4471416" y="3890772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 keys ★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on fi_id claim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Looker, Power BI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400800" y="2834640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7" name="Shape 95"/>
          <p:cNvSpPr/>
          <p:nvPr/>
        </p:nvSpPr>
        <p:spPr>
          <a:xfrm>
            <a:off x="6501384" y="804672"/>
            <a:ext cx="1975104" cy="347472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8" name="Text 96"/>
          <p:cNvSpPr/>
          <p:nvPr/>
        </p:nvSpPr>
        <p:spPr>
          <a:xfrm>
            <a:off x="6501384" y="804672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EXT</a:t>
            </a:r>
            <a:endParaRPr lang="en-US" sz="1100" dirty="0"/>
          </a:p>
        </p:txBody>
      </p:sp>
      <p:sp>
        <p:nvSpPr>
          <p:cNvPr id="99" name="Text 97"/>
          <p:cNvSpPr/>
          <p:nvPr/>
        </p:nvSpPr>
        <p:spPr>
          <a:xfrm>
            <a:off x="6501384" y="978408"/>
            <a:ext cx="197510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fact_payment_transactions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01384" y="1152144"/>
            <a:ext cx="1975104" cy="18288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01" name="Text 99"/>
          <p:cNvSpPr/>
          <p:nvPr/>
        </p:nvSpPr>
        <p:spPr>
          <a:xfrm>
            <a:off x="6501384" y="1152144"/>
            <a:ext cx="19751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Hub linked · FI's own project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6501384" y="1344168"/>
            <a:ext cx="19751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acme-bank-gcp · jhbi_gold_linked</a:t>
            </a:r>
            <a:endParaRPr lang="en-US" sz="750" dirty="0"/>
          </a:p>
        </p:txBody>
      </p:sp>
      <p:sp>
        <p:nvSpPr>
          <p:cNvPr id="103" name="Shape 101"/>
          <p:cNvSpPr/>
          <p:nvPr/>
        </p:nvSpPr>
        <p:spPr>
          <a:xfrm>
            <a:off x="6501384" y="1517904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/>
          <p:nvPr/>
        </p:nvSpPr>
        <p:spPr>
          <a:xfrm>
            <a:off x="6556248" y="1563624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fi_id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7379208" y="1563624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 rows only — RLS)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6501384" y="1842516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07" name="Text 105"/>
          <p:cNvSpPr/>
          <p:nvPr/>
        </p:nvSpPr>
        <p:spPr>
          <a:xfrm>
            <a:off x="6556248" y="1888236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transaction_sk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7379208" y="1888236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GLD-SK-00456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6501384" y="2167128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/>
          <p:nvPr/>
        </p:nvSpPr>
        <p:spPr>
          <a:xfrm>
            <a:off x="6556248" y="2212848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entity_cust_id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7379208" y="2212848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CUST-ENT-045678</a:t>
            </a:r>
            <a:endParaRPr lang="en-US" sz="800" dirty="0"/>
          </a:p>
        </p:txBody>
      </p:sp>
      <p:sp>
        <p:nvSpPr>
          <p:cNvPr id="112" name="Shape 110"/>
          <p:cNvSpPr/>
          <p:nvPr/>
        </p:nvSpPr>
        <p:spPr>
          <a:xfrm>
            <a:off x="6501384" y="2491740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56248" y="2537460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payment_rail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7379208" y="2537460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FedNow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6501384" y="2816352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/>
          <p:nvPr/>
        </p:nvSpPr>
        <p:spPr>
          <a:xfrm>
            <a:off x="6556248" y="2862072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</a:t>
            </a:r>
            <a:endParaRPr lang="en-US" sz="800" dirty="0"/>
          </a:p>
        </p:txBody>
      </p:sp>
      <p:sp>
        <p:nvSpPr>
          <p:cNvPr id="117" name="Text 115"/>
          <p:cNvSpPr/>
          <p:nvPr/>
        </p:nvSpPr>
        <p:spPr>
          <a:xfrm>
            <a:off x="7379208" y="2862072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1500.00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6501384" y="3140964"/>
            <a:ext cx="1975104" cy="32461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19" name="Text 117"/>
          <p:cNvSpPr/>
          <p:nvPr/>
        </p:nvSpPr>
        <p:spPr>
          <a:xfrm>
            <a:off x="6556248" y="3186684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is_instant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7379208" y="3186684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800" dirty="0"/>
          </a:p>
        </p:txBody>
      </p:sp>
      <p:sp>
        <p:nvSpPr>
          <p:cNvPr id="121" name="Shape 119"/>
          <p:cNvSpPr/>
          <p:nvPr/>
        </p:nvSpPr>
        <p:spPr>
          <a:xfrm>
            <a:off x="6501384" y="3465576"/>
            <a:ext cx="1975104" cy="3246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2" name="Text 120"/>
          <p:cNvSpPr/>
          <p:nvPr/>
        </p:nvSpPr>
        <p:spPr>
          <a:xfrm>
            <a:off x="6556248" y="3511296"/>
            <a:ext cx="8229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gcp_project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7379208" y="3511296"/>
            <a:ext cx="1060704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acme-bank-gcp ★</a:t>
            </a:r>
            <a:endParaRPr lang="en-US" sz="800" dirty="0"/>
          </a:p>
        </p:txBody>
      </p:sp>
      <p:sp>
        <p:nvSpPr>
          <p:cNvPr id="124" name="Shape 122"/>
          <p:cNvSpPr/>
          <p:nvPr/>
        </p:nvSpPr>
        <p:spPr>
          <a:xfrm>
            <a:off x="6501384" y="3845052"/>
            <a:ext cx="1975104" cy="54864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125" name="Text 123"/>
          <p:cNvSpPr/>
          <p:nvPr/>
        </p:nvSpPr>
        <p:spPr>
          <a:xfrm>
            <a:off x="6556248" y="3890772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schema to Gold Int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queries their own project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project-per-FI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246888" y="4864608"/>
            <a:ext cx="86868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= New / enriched at this layer    ● = DLP/KMS tokenized — never stored in plaintext    Latency: Bronze &lt; 5 min  →  Silver &lt; 15 min  →  Gold &lt; 30 min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Resolution — Account, Customer, Household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De-duplication &amp; 360° customer view via Cloud Spanner MDM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" y="777240"/>
            <a:ext cx="1920240" cy="914400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82880" y="822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&gt;97%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18288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Purity Score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(Precision)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377440" y="777240"/>
            <a:ext cx="1920240" cy="914400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377440" y="822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37744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(Recall)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0" y="777240"/>
            <a:ext cx="1920240" cy="914400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0" y="822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&gt;99%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57200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66560" y="777240"/>
            <a:ext cx="1920240" cy="914400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66560" y="822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766560" y="13258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2880" y="1828800"/>
            <a:ext cx="16093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82880" y="1828800"/>
            <a:ext cx="1609344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1" name="Text 19"/>
          <p:cNvSpPr/>
          <p:nvPr/>
        </p:nvSpPr>
        <p:spPr>
          <a:xfrm>
            <a:off x="182880" y="1828800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56032" y="223113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/ Bucketing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56032" y="265176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candidate pairs by blocking keys (last-4 acct#, FI routing, name soundex) — avoids O(n²) comparison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691640" y="28346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1929384" y="1828800"/>
            <a:ext cx="16093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929384" y="1828800"/>
            <a:ext cx="1609344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7" name="Text 25"/>
          <p:cNvSpPr/>
          <p:nvPr/>
        </p:nvSpPr>
        <p:spPr>
          <a:xfrm>
            <a:off x="1929384" y="1828800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002536" y="223113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Scoring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002536" y="265176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rules (name+DOB+SSN) + Jaro-Winkler fuzzy name match in BigQuery SQL / BQML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3438144" y="28346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3675888" y="1828800"/>
            <a:ext cx="16093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75888" y="1828800"/>
            <a:ext cx="1609344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3" name="Text 31"/>
          <p:cNvSpPr/>
          <p:nvPr/>
        </p:nvSpPr>
        <p:spPr>
          <a:xfrm>
            <a:off x="3675888" y="1828800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749040" y="223113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Assignment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749040" y="265176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Connected-components clustering → assign entity_id. Canonical records written to Cloud Spanner MDM tables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184648" y="28346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422392" y="1828800"/>
            <a:ext cx="16093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5422392" y="1828800"/>
            <a:ext cx="1609344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9" name="Text 37"/>
          <p:cNvSpPr/>
          <p:nvPr/>
        </p:nvSpPr>
        <p:spPr>
          <a:xfrm>
            <a:off x="5422392" y="1828800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95544" y="223113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Tables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495544" y="265176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M:M resolution: customer↔account, customer↔household bridge tables in jhbi_silver_{fi_id}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6931152" y="283464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7168896" y="1828800"/>
            <a:ext cx="1609344" cy="2331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68896" y="1828800"/>
            <a:ext cx="1609344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5" name="Text 43"/>
          <p:cNvSpPr/>
          <p:nvPr/>
        </p:nvSpPr>
        <p:spPr>
          <a:xfrm>
            <a:off x="7168896" y="1828800"/>
            <a:ext cx="1609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242048" y="2231136"/>
            <a:ext cx="1463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Propagation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7242048" y="2651760"/>
            <a:ext cx="1463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entity IDs back-propagated to Silver + Gold via Dataform incremental models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82880" y="4251960"/>
            <a:ext cx="8686800" cy="594360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49" name="Text 47"/>
          <p:cNvSpPr/>
          <p:nvPr/>
        </p:nvSpPr>
        <p:spPr>
          <a:xfrm>
            <a:off x="320040" y="42793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Spanner MDM Tables: 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2331720" y="427939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HouseholdMDM  |  CustomerMDM  |  AccountMDM  |  MergeAudit  |  jhbi-token-vault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320040" y="4535424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Low-latency point lookups (&lt; 10ms) powering Data Services APIs  •  Full merge/split audit trail  •  Strong consistency via Spanner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Use Architecture — Cross-FI Analytics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JH-only access: query and analyze data across all Financial Institutions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Internal Access?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15568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115568"/>
            <a:ext cx="45720" cy="5943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11430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13807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build, Dataform dev, BigQuery admin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1801368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1801368"/>
            <a:ext cx="45720" cy="5943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18288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Analysts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20665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SQL on Gold + Silver; cross-FI views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487168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487168"/>
            <a:ext cx="45720" cy="5943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5146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Scientists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1480" y="27523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Workbench; ML on aggregate patterns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172968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172968"/>
            <a:ext cx="45720" cy="5943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" y="32004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Team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34381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logs, DQ reports, Dataplex lineage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" y="3858768"/>
            <a:ext cx="374904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858768"/>
            <a:ext cx="45720" cy="5943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6" name="Text 24"/>
          <p:cNvSpPr/>
          <p:nvPr/>
        </p:nvSpPr>
        <p:spPr>
          <a:xfrm>
            <a:off x="411480" y="38862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Teams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11480" y="4123944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 adoption, trend, anomaly analytics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GCP Capabilities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297680" y="1115568"/>
            <a:ext cx="4526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297680" y="1115568"/>
            <a:ext cx="54864" cy="5943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1" name="Text 29"/>
          <p:cNvSpPr/>
          <p:nvPr/>
        </p:nvSpPr>
        <p:spPr>
          <a:xfrm>
            <a:off x="4407408" y="1207008"/>
            <a:ext cx="4361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Direct SQL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07408" y="1481328"/>
            <a:ext cx="4361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 jhbi_gold_internal + authorized cross-FI views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297680" y="1801368"/>
            <a:ext cx="4526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297680" y="1801368"/>
            <a:ext cx="54864" cy="5943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5" name="Text 33"/>
          <p:cNvSpPr/>
          <p:nvPr/>
        </p:nvSpPr>
        <p:spPr>
          <a:xfrm>
            <a:off x="4407408" y="1892808"/>
            <a:ext cx="4361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Hub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407408" y="2167128"/>
            <a:ext cx="4361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dataset marketplace — subscribe to Gold datasets without project IAM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297680" y="2487168"/>
            <a:ext cx="4526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297680" y="2487168"/>
            <a:ext cx="54864" cy="594360"/>
          </a:xfrm>
          <a:prstGeom prst="rect">
            <a:avLst/>
          </a:prstGeom>
          <a:solidFill>
            <a:srgbClr val="6B2D8B"/>
          </a:solidFill>
          <a:ln/>
        </p:spPr>
      </p:sp>
      <p:sp>
        <p:nvSpPr>
          <p:cNvPr id="39" name="Text 37"/>
          <p:cNvSpPr/>
          <p:nvPr/>
        </p:nvSpPr>
        <p:spPr>
          <a:xfrm>
            <a:off x="4407408" y="2578608"/>
            <a:ext cx="4361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Workbench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407408" y="2852928"/>
            <a:ext cx="4361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notebooks with pre-auth BQ client; Gold + Silver access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297680" y="3172968"/>
            <a:ext cx="4526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297680" y="3172968"/>
            <a:ext cx="54864" cy="59436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43" name="Text 41"/>
          <p:cNvSpPr/>
          <p:nvPr/>
        </p:nvSpPr>
        <p:spPr>
          <a:xfrm>
            <a:off x="4407408" y="3264408"/>
            <a:ext cx="4361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Views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407408" y="3538728"/>
            <a:ext cx="4361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 aggregates exposed ONLY via views — no raw table access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297680" y="3858768"/>
            <a:ext cx="45262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4297680" y="3858768"/>
            <a:ext cx="54864" cy="594360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47" name="Text 45"/>
          <p:cNvSpPr/>
          <p:nvPr/>
        </p:nvSpPr>
        <p:spPr>
          <a:xfrm>
            <a:off x="4407408" y="3950208"/>
            <a:ext cx="4361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Looker / Power BI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407408" y="4224528"/>
            <a:ext cx="4361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dashboards; XMLA endpoint for semantic layer access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Use Architecture — Per-FI Access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clients access their own data only — portal, APIs, Power BI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28600" y="80467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Services REST APIs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28600" y="1115568"/>
            <a:ext cx="4160520" cy="2496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28600" y="1115568"/>
            <a:ext cx="4160520" cy="39319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0" name="Shape 8"/>
          <p:cNvSpPr/>
          <p:nvPr/>
        </p:nvSpPr>
        <p:spPr>
          <a:xfrm>
            <a:off x="228600" y="1115568"/>
            <a:ext cx="502920" cy="393192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" y="111556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" y="117043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/households/{householdId}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8600" y="1508760"/>
            <a:ext cx="4160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228600" y="1508760"/>
            <a:ext cx="502920" cy="393192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15" name="Text 13"/>
          <p:cNvSpPr/>
          <p:nvPr/>
        </p:nvSpPr>
        <p:spPr>
          <a:xfrm>
            <a:off x="228600" y="1508760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04672" y="15636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/households/{householdId}/customers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" y="1901952"/>
            <a:ext cx="4160520" cy="39319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8" name="Shape 16"/>
          <p:cNvSpPr/>
          <p:nvPr/>
        </p:nvSpPr>
        <p:spPr>
          <a:xfrm>
            <a:off x="228600" y="1901952"/>
            <a:ext cx="502920" cy="393192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19" name="Text 17"/>
          <p:cNvSpPr/>
          <p:nvPr/>
        </p:nvSpPr>
        <p:spPr>
          <a:xfrm>
            <a:off x="228600" y="1901952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" y="19568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/customers/{customerId}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8600" y="2295144"/>
            <a:ext cx="4160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228600" y="2295144"/>
            <a:ext cx="502920" cy="393192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23" name="Text 21"/>
          <p:cNvSpPr/>
          <p:nvPr/>
        </p:nvSpPr>
        <p:spPr>
          <a:xfrm>
            <a:off x="228600" y="2295144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4672" y="235000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/customers/{customerId}/accounts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28600" y="2688336"/>
            <a:ext cx="4160520" cy="393192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26" name="Shape 24"/>
          <p:cNvSpPr/>
          <p:nvPr/>
        </p:nvSpPr>
        <p:spPr>
          <a:xfrm>
            <a:off x="228600" y="2688336"/>
            <a:ext cx="502920" cy="393192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27" name="Text 25"/>
          <p:cNvSpPr/>
          <p:nvPr/>
        </p:nvSpPr>
        <p:spPr>
          <a:xfrm>
            <a:off x="228600" y="2688336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4672" y="27432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/accounts/{accountId}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8600" y="3081528"/>
            <a:ext cx="4160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228600" y="3081528"/>
            <a:ext cx="502920" cy="393192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31" name="Text 29"/>
          <p:cNvSpPr/>
          <p:nvPr/>
        </p:nvSpPr>
        <p:spPr>
          <a:xfrm>
            <a:off x="228600" y="3081528"/>
            <a:ext cx="502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04672" y="31363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/accounts/{accountId}/transactions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8600" y="3529584"/>
            <a:ext cx="4160520" cy="34747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4" name="Text 32"/>
          <p:cNvSpPr/>
          <p:nvPr/>
        </p:nvSpPr>
        <p:spPr>
          <a:xfrm>
            <a:off x="228600" y="3529584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SLA: 99.5% uptime  |  &lt; 500ms P95  |  Rate limit: 100 req/min per FI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617720" y="804672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Stack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617720" y="1115568"/>
            <a:ext cx="4251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17720" y="1115568"/>
            <a:ext cx="54864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8" name="Text 36"/>
          <p:cNvSpPr/>
          <p:nvPr/>
        </p:nvSpPr>
        <p:spPr>
          <a:xfrm>
            <a:off x="4727448" y="1207008"/>
            <a:ext cx="4087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727448" y="1481328"/>
            <a:ext cx="4087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validation, rate limiting, SSL termination, Cloud Armor WAF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617720" y="1719072"/>
            <a:ext cx="4251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617720" y="1719072"/>
            <a:ext cx="54864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2" name="Text 40"/>
          <p:cNvSpPr/>
          <p:nvPr/>
        </p:nvSpPr>
        <p:spPr>
          <a:xfrm>
            <a:off x="4727448" y="1810512"/>
            <a:ext cx="4087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4727448" y="2084832"/>
            <a:ext cx="4087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Containerized microservices per domain; Workload Identity; auto-scale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17720" y="2322576"/>
            <a:ext cx="4251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617720" y="2322576"/>
            <a:ext cx="54864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6" name="Text 44"/>
          <p:cNvSpPr/>
          <p:nvPr/>
        </p:nvSpPr>
        <p:spPr>
          <a:xfrm>
            <a:off x="4727448" y="2414016"/>
            <a:ext cx="4087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IAP + Firebase Auth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4727448" y="2688336"/>
            <a:ext cx="4087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Identity-Aware Proxy + OIDC; FI user sessions; no VPN required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4617720" y="2926080"/>
            <a:ext cx="4251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617720" y="2926080"/>
            <a:ext cx="54864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0" name="Text 48"/>
          <p:cNvSpPr/>
          <p:nvPr/>
        </p:nvSpPr>
        <p:spPr>
          <a:xfrm>
            <a:off x="4727448" y="3017520"/>
            <a:ext cx="4087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Identity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727448" y="3291840"/>
            <a:ext cx="4087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tenant identity; fi_id claim in JWT; FI admin self-service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617720" y="3529584"/>
            <a:ext cx="4251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Shape 51"/>
          <p:cNvSpPr/>
          <p:nvPr/>
        </p:nvSpPr>
        <p:spPr>
          <a:xfrm>
            <a:off x="4617720" y="3529584"/>
            <a:ext cx="54864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4" name="Text 52"/>
          <p:cNvSpPr/>
          <p:nvPr/>
        </p:nvSpPr>
        <p:spPr>
          <a:xfrm>
            <a:off x="4727448" y="3621024"/>
            <a:ext cx="4087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(Text-to-SQL)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4727448" y="3895344"/>
            <a:ext cx="4087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→ BigQuery SQL with fi_id injection; SELECT-only enforcement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617720" y="4133088"/>
            <a:ext cx="425196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E9EEF3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4617720" y="4133088"/>
            <a:ext cx="54864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8" name="Text 56"/>
          <p:cNvSpPr/>
          <p:nvPr/>
        </p:nvSpPr>
        <p:spPr>
          <a:xfrm>
            <a:off x="4727448" y="4224528"/>
            <a:ext cx="4087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4727448" y="4498848"/>
            <a:ext cx="4087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 on CDN; Dataplex catalog API; DQ scorecards; lineage view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Isolation Strategy — Revised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model scales to 500+ FIs · End state: project-per-FI via Analytics Hub promotion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by Layer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" y="1078992"/>
            <a:ext cx="2029968" cy="1353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56032" y="1078992"/>
            <a:ext cx="2029968" cy="292608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0" name="Text 8"/>
          <p:cNvSpPr/>
          <p:nvPr/>
        </p:nvSpPr>
        <p:spPr>
          <a:xfrm>
            <a:off x="256032" y="107899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29184" y="1389888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jhbi_bronze_{source}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29184" y="1591056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· No user access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9184" y="1792224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fi_id partition/cluster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SAs only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boundary here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31136" y="157276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432304" y="1078992"/>
            <a:ext cx="2029968" cy="1353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432304" y="1078992"/>
            <a:ext cx="202996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17" name="Text 15"/>
          <p:cNvSpPr/>
          <p:nvPr/>
        </p:nvSpPr>
        <p:spPr>
          <a:xfrm>
            <a:off x="2432304" y="107899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05456" y="1389888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jhbi_silver_payments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505456" y="1591056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· BigQuery RLS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05456" y="1792224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fi_id on every row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 = fi_id claim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 internal only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07408" y="157276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608576" y="1078992"/>
            <a:ext cx="2029968" cy="1353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08576" y="1078992"/>
            <a:ext cx="2029968" cy="292608"/>
          </a:xfrm>
          <a:prstGeom prst="rect">
            <a:avLst/>
          </a:prstGeom>
          <a:solidFill>
            <a:srgbClr val="B08000"/>
          </a:solidFill>
          <a:ln/>
        </p:spPr>
      </p:sp>
      <p:sp>
        <p:nvSpPr>
          <p:cNvPr id="24" name="Text 22"/>
          <p:cNvSpPr/>
          <p:nvPr/>
        </p:nvSpPr>
        <p:spPr>
          <a:xfrm>
            <a:off x="4608576" y="107899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INT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81728" y="1389888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jhbi_gold_internal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81728" y="1591056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8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· RLS + Auth Views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681728" y="1792224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 for JH team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views for agg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· Looker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83680" y="1572768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784848" y="1078992"/>
            <a:ext cx="2029968" cy="135331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784848" y="1078992"/>
            <a:ext cx="2029968" cy="29260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1" name="Text 29"/>
          <p:cNvSpPr/>
          <p:nvPr/>
        </p:nvSpPr>
        <p:spPr>
          <a:xfrm>
            <a:off x="6784848" y="1078992"/>
            <a:ext cx="2029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EXT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858000" y="1389888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fi-project · jhbi_gold_linked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858000" y="1591056"/>
            <a:ext cx="18836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Hub Linked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858000" y="1792224"/>
            <a:ext cx="1883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listing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FI's own GCP project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rows only visible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74320" y="2542032"/>
            <a:ext cx="8595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Path to Project-per-FI (Planned End State)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56032" y="2816352"/>
            <a:ext cx="2029968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256032" y="2816352"/>
            <a:ext cx="2029968" cy="384048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8" name="Text 36"/>
          <p:cNvSpPr/>
          <p:nvPr/>
        </p:nvSpPr>
        <p:spPr>
          <a:xfrm>
            <a:off x="256032" y="2816352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47472" y="3218688"/>
            <a:ext cx="1847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Bronze/Silver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Int: jhbi_gold_internal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Ext: Analytics Hub listing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 linked dataset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231136" y="3547872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2432304" y="2816352"/>
            <a:ext cx="2029968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2432304" y="2816352"/>
            <a:ext cx="2029968" cy="384048"/>
          </a:xfrm>
          <a:prstGeom prst="rect">
            <a:avLst/>
          </a:prstGeom>
          <a:solidFill>
            <a:srgbClr val="6B2D8B"/>
          </a:solidFill>
          <a:ln/>
        </p:spPr>
      </p:sp>
      <p:sp>
        <p:nvSpPr>
          <p:cNvPr id="43" name="Text 41"/>
          <p:cNvSpPr/>
          <p:nvPr/>
        </p:nvSpPr>
        <p:spPr>
          <a:xfrm>
            <a:off x="2432304" y="2816352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50–200 FIs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523744" y="3218688"/>
            <a:ext cx="1847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— zero dataset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proliferation. Analytics Hub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per-FI isolation.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onboards new FIs.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4407408" y="3547872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608576" y="2816352"/>
            <a:ext cx="2029968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608576" y="2816352"/>
            <a:ext cx="2029968" cy="384048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48" name="Text 46"/>
          <p:cNvSpPr/>
          <p:nvPr/>
        </p:nvSpPr>
        <p:spPr>
          <a:xfrm>
            <a:off x="4608576" y="2816352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Tier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700016" y="3218688"/>
            <a:ext cx="1847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Analytics Hub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dataset to real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in dedicated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GCP project.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583680" y="3547872"/>
            <a:ext cx="256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784848" y="2816352"/>
            <a:ext cx="2029968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6784848" y="2816352"/>
            <a:ext cx="2029968" cy="384048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3" name="Text 51"/>
          <p:cNvSpPr/>
          <p:nvPr/>
        </p:nvSpPr>
        <p:spPr>
          <a:xfrm>
            <a:off x="6784848" y="2816352"/>
            <a:ext cx="20299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876288" y="3218688"/>
            <a:ext cx="18470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per-FI project.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downstream unchanged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(same table names,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project reference).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256032" y="4636008"/>
            <a:ext cx="8631936" cy="256032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56" name="Text 54"/>
          <p:cNvSpPr/>
          <p:nvPr/>
        </p:nvSpPr>
        <p:spPr>
          <a:xfrm>
            <a:off x="320040" y="4636008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principle: Never hardcode project IDs in application code. Use config-driven BQ_PROJECT_ID so migration is a config change, not a code change.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Architecture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Defense-in-depth: encryption, identity, network, and threat detection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" y="804672"/>
            <a:ext cx="2788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8600" y="804672"/>
            <a:ext cx="2788920" cy="3017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" y="804672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at Rest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" y="1133856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CMEK (Cloud KMS) on ALL data stores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key rings: PCI / PII / General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auto-rotation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54680" y="804672"/>
            <a:ext cx="2788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804672"/>
            <a:ext cx="2788920" cy="3017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3" name="Text 11"/>
          <p:cNvSpPr/>
          <p:nvPr/>
        </p:nvSpPr>
        <p:spPr>
          <a:xfrm>
            <a:off x="3154680" y="804672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in Transit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133856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1.3 on all connections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Google-managed SSL certs (API Gateway)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Service Connect for BigQuery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804672"/>
            <a:ext cx="2788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804672"/>
            <a:ext cx="2788920" cy="3017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804672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Service Controls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1133856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perimeter — all jhbi-* projects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data exfiltration from BQ/GCS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Ingress/egress via authenticated identity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28600" y="2194560"/>
            <a:ext cx="2788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28600" y="2194560"/>
            <a:ext cx="2788920" cy="3017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228600" y="2194560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Armor (WAF)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0040" y="2523744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top-10 on API Gateway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 mitigation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IP allowlisting (registered CIDRs)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54680" y="2194560"/>
            <a:ext cx="2788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154680" y="2194560"/>
            <a:ext cx="2788920" cy="301752"/>
          </a:xfrm>
          <a:prstGeom prst="rect">
            <a:avLst/>
          </a:prstGeom>
          <a:solidFill>
            <a:srgbClr val="6B2D8B"/>
          </a:solidFill>
          <a:ln/>
        </p:spPr>
      </p:sp>
      <p:sp>
        <p:nvSpPr>
          <p:cNvPr id="25" name="Text 23"/>
          <p:cNvSpPr/>
          <p:nvPr/>
        </p:nvSpPr>
        <p:spPr>
          <a:xfrm>
            <a:off x="3154680" y="2194560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+ Workload Identity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246120" y="2523744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individual bindings in prod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Groups only (AD-synced)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Service-to-service via Workload Identity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080760" y="2194560"/>
            <a:ext cx="2788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80760" y="2194560"/>
            <a:ext cx="2788920" cy="301752"/>
          </a:xfrm>
          <a:prstGeom prst="rect">
            <a:avLst/>
          </a:prstGeom>
          <a:solidFill>
            <a:srgbClr val="6B2D8B"/>
          </a:solidFill>
          <a:ln/>
        </p:spPr>
      </p:sp>
      <p:sp>
        <p:nvSpPr>
          <p:cNvPr id="29" name="Text 27"/>
          <p:cNvSpPr/>
          <p:nvPr/>
        </p:nvSpPr>
        <p:spPr>
          <a:xfrm>
            <a:off x="6080760" y="2194560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172200" y="2523744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 strings, API keys, creds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Accessed via bound service accounts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hardcoded secrets in any container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" y="3584448"/>
            <a:ext cx="2788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28600" y="3584448"/>
            <a:ext cx="2788920" cy="301752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33" name="Text 31"/>
          <p:cNvSpPr/>
          <p:nvPr/>
        </p:nvSpPr>
        <p:spPr>
          <a:xfrm>
            <a:off x="228600" y="3584448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Command Center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0040" y="3913632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 Premium — anomaly detection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scanning +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 alerting on findings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154680" y="3584448"/>
            <a:ext cx="2788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154680" y="3584448"/>
            <a:ext cx="2788920" cy="301752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37" name="Text 35"/>
          <p:cNvSpPr/>
          <p:nvPr/>
        </p:nvSpPr>
        <p:spPr>
          <a:xfrm>
            <a:off x="3154680" y="3584448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Audit Logs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3246120" y="3913632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logs: BQ, Spanner, KMS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Exported to BigQuery — 7yr retention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lock — tamper-proof evidence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080760" y="3584448"/>
            <a:ext cx="278892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080760" y="3584448"/>
            <a:ext cx="2788920" cy="301752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41" name="Text 39"/>
          <p:cNvSpPr/>
          <p:nvPr/>
        </p:nvSpPr>
        <p:spPr>
          <a:xfrm>
            <a:off x="6080760" y="3584448"/>
            <a:ext cx="2788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DLP (PII Scanning)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172200" y="3913632"/>
            <a:ext cx="26060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scheduled periodic scans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Auto-tag untagged PII in Dataplex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→ security team alerts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Regulatory Compliance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· GLBA Safeguards · SOC 2 Type II · NACHA · FFIEC · CCPA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" y="804672"/>
            <a:ext cx="2788920" cy="1874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8600" y="804672"/>
            <a:ext cx="2788920" cy="3474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" y="804672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20040" y="11704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Card-funded payment data (PANs)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" y="162763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FPE tokenization at Dataflow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out of PCI scope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CMEK + Cloud DLP + KMS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 7yr retained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154680" y="804672"/>
            <a:ext cx="2788920" cy="1874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804672"/>
            <a:ext cx="278892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4" name="Text 12"/>
          <p:cNvSpPr/>
          <p:nvPr/>
        </p:nvSpPr>
        <p:spPr>
          <a:xfrm>
            <a:off x="3154680" y="804672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 Safeguards Rule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246120" y="11704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Non-Public Personal Information (NPI)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46120" y="162763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data minimization + DLP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masking for external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access audit trail per fi_id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runbooks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80760" y="804672"/>
            <a:ext cx="2788920" cy="1874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804672"/>
            <a:ext cx="2788920" cy="34747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6080760" y="804672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Type II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172200" y="117043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Security / Availability / Processing Integrity / Confidentiality / Privacy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172200" y="162763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least-privilege + MFA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 99.95%+ availability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Dataplex DQ scans (95%+ score)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evidence via Audit Logs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2816352"/>
            <a:ext cx="2788920" cy="1874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816352"/>
            <a:ext cx="2788920" cy="347472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" y="2816352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NACHA Operating Rules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20040" y="318211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ACH transaction data (TPS obligations)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20040" y="363931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RDFI acct# / routing# tokenized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7yr retention (NACHA 6yr)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rate monitoring in Gold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Column-level policies on ACH fields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154680" y="2816352"/>
            <a:ext cx="2788920" cy="1874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154680" y="2816352"/>
            <a:ext cx="2788920" cy="347472"/>
          </a:xfrm>
          <a:prstGeom prst="rect">
            <a:avLst/>
          </a:prstGeom>
          <a:solidFill>
            <a:srgbClr val="6B2D8B"/>
          </a:solidFill>
          <a:ln/>
        </p:spPr>
      </p:sp>
      <p:sp>
        <p:nvSpPr>
          <p:cNvPr id="29" name="Text 27"/>
          <p:cNvSpPr/>
          <p:nvPr/>
        </p:nvSpPr>
        <p:spPr>
          <a:xfrm>
            <a:off x="3154680" y="2816352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FFIEC IT Guidance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246120" y="318211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6B2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IT risk, audit, BCM for FI service providers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246120" y="363931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 Premium for IT risk posture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+ Spanner multi-region DR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FedRAMP-authorized GCP services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1yr hot / 7yr cold audit log retention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80760" y="2816352"/>
            <a:ext cx="2788920" cy="18745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080760" y="2816352"/>
            <a:ext cx="2788920" cy="347472"/>
          </a:xfrm>
          <a:prstGeom prst="rect">
            <a:avLst/>
          </a:prstGeom>
          <a:solidFill>
            <a:srgbClr val="1E5C3A"/>
          </a:solidFill>
          <a:ln/>
        </p:spPr>
      </p:sp>
      <p:sp>
        <p:nvSpPr>
          <p:cNvPr id="34" name="Text 32"/>
          <p:cNvSpPr/>
          <p:nvPr/>
        </p:nvSpPr>
        <p:spPr>
          <a:xfrm>
            <a:off x="6080760" y="2816352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CCPA / State Privacy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172200" y="3182112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E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Consumer privacy (defense-in-depth, GLBA-exempt FIs)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172200" y="363931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Point-deletion via Spanner entity keys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Dataplex data map for processing record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DLP suppresses unnecessary PII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US-only data residency (Org Policy)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Compliance Controls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that satisfy multiple regulatory frameworks simultaneously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" y="804672"/>
            <a:ext cx="868680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" y="804672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532888" y="804672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Implementation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81928" y="80467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Covered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28600" y="1152144"/>
            <a:ext cx="86868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28600" y="1152144"/>
            <a:ext cx="45720" cy="44805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118872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Data Isolation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11887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 datasets + RLS + API fi_id injection + VPC SC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080760" y="1188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GLBA, SOC 2, PCI, FFIEC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28600" y="1600200"/>
            <a:ext cx="8686800" cy="448056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7" name="Shape 15"/>
          <p:cNvSpPr/>
          <p:nvPr/>
        </p:nvSpPr>
        <p:spPr>
          <a:xfrm>
            <a:off x="228600" y="1600200"/>
            <a:ext cx="45720" cy="44805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" y="1636776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Logs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468880" y="1636776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Audit Logs → BQ sink, retention lock, 7yr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080760" y="163677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Req 10, NACHA, SOC 2 CC7, FFIEC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28600" y="2048256"/>
            <a:ext cx="86868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228600" y="2048256"/>
            <a:ext cx="45720" cy="44805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3" name="Text 21"/>
          <p:cNvSpPr/>
          <p:nvPr/>
        </p:nvSpPr>
        <p:spPr>
          <a:xfrm>
            <a:off x="320040" y="208483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at Rest &amp; Transit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46888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CMEK (KMS) on all stores; TLS 1.3; per-class key rings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080760" y="208483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Req 3-4, GLBA, SOC 2, FFIEC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" y="2496312"/>
            <a:ext cx="8686800" cy="448056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27" name="Shape 25"/>
          <p:cNvSpPr/>
          <p:nvPr/>
        </p:nvSpPr>
        <p:spPr>
          <a:xfrm>
            <a:off x="228600" y="2496312"/>
            <a:ext cx="45720" cy="44805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8" name="Text 26"/>
          <p:cNvSpPr/>
          <p:nvPr/>
        </p:nvSpPr>
        <p:spPr>
          <a:xfrm>
            <a:off x="320040" y="2532888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Access Management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468880" y="253288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Groups only; JIT elevation; all access logged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080760" y="25328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CC6, PCI Req 7-8, GLBA, FFIEC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28600" y="2944368"/>
            <a:ext cx="86868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228600" y="2944368"/>
            <a:ext cx="45720" cy="44805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3" name="Text 31"/>
          <p:cNvSpPr/>
          <p:nvPr/>
        </p:nvSpPr>
        <p:spPr>
          <a:xfrm>
            <a:off x="320040" y="2980944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Management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468880" y="2980944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Registry scanning; SCC Premium findings; SAST in CI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080760" y="2980944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Req 6, SOC 2 CC7, FFIEC IT Risk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28600" y="3392424"/>
            <a:ext cx="8686800" cy="448056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37" name="Shape 35"/>
          <p:cNvSpPr/>
          <p:nvPr/>
        </p:nvSpPr>
        <p:spPr>
          <a:xfrm>
            <a:off x="228600" y="3392424"/>
            <a:ext cx="45720" cy="44805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8" name="Text 36"/>
          <p:cNvSpPr/>
          <p:nvPr/>
        </p:nvSpPr>
        <p:spPr>
          <a:xfrm>
            <a:off x="320040" y="3429000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468880" y="34290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 → Cloud Monitoring → PagerDuty; 72hr breach window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080760" y="34290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CC7, GLBA, FFIEC BCM, State laws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28600" y="3840480"/>
            <a:ext cx="8686800" cy="4480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228600" y="3840480"/>
            <a:ext cx="45720" cy="44805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3" name="Text 41"/>
          <p:cNvSpPr/>
          <p:nvPr/>
        </p:nvSpPr>
        <p:spPr>
          <a:xfrm>
            <a:off x="320040" y="3877056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Residency (US-only)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468880" y="3877056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Policy: us-central1 + us-east4 only; no intl transfer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080760" y="387705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GLBA, FFIEC, CCPA; avoids GDPR scope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28600" y="4288536"/>
            <a:ext cx="8686800" cy="448056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47" name="Shape 45"/>
          <p:cNvSpPr/>
          <p:nvPr/>
        </p:nvSpPr>
        <p:spPr>
          <a:xfrm>
            <a:off x="228600" y="4288536"/>
            <a:ext cx="45720" cy="448056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8" name="Text 46"/>
          <p:cNvSpPr/>
          <p:nvPr/>
        </p:nvSpPr>
        <p:spPr>
          <a:xfrm>
            <a:off x="320040" y="4325112"/>
            <a:ext cx="2084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 &amp; PII Discovery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468880" y="432511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DLP scans on ingest + weekly; findings → Dataplex auto-tags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080760" y="4325112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5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GLBA (NPI), SOC 2 Privacy, CCPA, PCI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&amp; Infrastructure as Code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Build · Terraform · Dataform · Artifact Registry · Git Flow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80467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Pipeline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1572768" cy="1554480"/>
          </a:xfrm>
          <a:prstGeom prst="rect">
            <a:avLst/>
          </a:prstGeom>
          <a:solidFill>
            <a:srgbClr val="8496A8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4320" y="117043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Branch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4320" y="169164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792224" y="169164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93392" y="1143000"/>
            <a:ext cx="1572768" cy="1554480"/>
          </a:xfrm>
          <a:prstGeom prst="rect">
            <a:avLst/>
          </a:prstGeom>
          <a:solidFill>
            <a:srgbClr val="2E75B6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93392" y="117043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Environment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993392" y="169164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Auto-deploy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TDM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only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11296" y="169164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712464" y="1143000"/>
            <a:ext cx="1572768" cy="1554480"/>
          </a:xfrm>
          <a:prstGeom prst="rect">
            <a:avLst/>
          </a:prstGeom>
          <a:solidFill>
            <a:srgbClr val="6B2D8B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712464" y="117043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12464" y="169164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integration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tests; Dataform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dry-run; API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30368" y="169164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31536" y="1143000"/>
            <a:ext cx="1572768" cy="1554480"/>
          </a:xfrm>
          <a:prstGeom prst="rect">
            <a:avLst/>
          </a:prstGeom>
          <a:solidFill>
            <a:srgbClr val="C55A11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31536" y="117043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31536" y="169164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plan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review; BQ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dry-run;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log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49440" y="169164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150608" y="1143000"/>
            <a:ext cx="1572768" cy="1554480"/>
          </a:xfrm>
          <a:prstGeom prst="rect">
            <a:avLst/>
          </a:prstGeom>
          <a:solidFill>
            <a:srgbClr val="1F4E79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50608" y="1170432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50608" y="1691640"/>
            <a:ext cx="1572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Blue-green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Dataform run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74320" y="283464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Tooling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28600" y="3154680"/>
            <a:ext cx="1600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28600" y="3154680"/>
            <a:ext cx="1600200" cy="29260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0" name="Text 28"/>
          <p:cNvSpPr/>
          <p:nvPr/>
        </p:nvSpPr>
        <p:spPr>
          <a:xfrm>
            <a:off x="228600" y="31546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Build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20040" y="347472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cloudbuild.yaml per repo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merge triggers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947672" y="3154680"/>
            <a:ext cx="1600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947672" y="3154680"/>
            <a:ext cx="1600200" cy="29260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4" name="Text 32"/>
          <p:cNvSpPr/>
          <p:nvPr/>
        </p:nvSpPr>
        <p:spPr>
          <a:xfrm>
            <a:off x="1947672" y="31546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039112" y="347472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GCP infra as 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GCS state per project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 policy constraints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66744" y="3154680"/>
            <a:ext cx="1600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66744" y="3154680"/>
            <a:ext cx="1600200" cy="29260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38" name="Text 36"/>
          <p:cNvSpPr/>
          <p:nvPr/>
        </p:nvSpPr>
        <p:spPr>
          <a:xfrm>
            <a:off x="3666744" y="31546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Dataform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758184" y="347472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SQLX transforms in Git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→ Silver → Gold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+ assertions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385816" y="3154680"/>
            <a:ext cx="1600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385816" y="3154680"/>
            <a:ext cx="1600200" cy="29260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42" name="Text 40"/>
          <p:cNvSpPr/>
          <p:nvPr/>
        </p:nvSpPr>
        <p:spPr>
          <a:xfrm>
            <a:off x="5385816" y="31546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Registry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477256" y="347472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images; Python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packages; vulnerability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scanning on push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104888" y="3154680"/>
            <a:ext cx="160020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7104888" y="3154680"/>
            <a:ext cx="1600200" cy="292608"/>
          </a:xfrm>
          <a:prstGeom prst="rect">
            <a:avLst/>
          </a:prstGeom>
          <a:solidFill>
            <a:srgbClr val="D6E4F0"/>
          </a:solidFill>
          <a:ln/>
        </p:spPr>
      </p:sp>
      <p:sp>
        <p:nvSpPr>
          <p:cNvPr id="46" name="Text 44"/>
          <p:cNvSpPr/>
          <p:nvPr/>
        </p:nvSpPr>
        <p:spPr>
          <a:xfrm>
            <a:off x="7104888" y="315468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Source Repos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196328" y="3474720"/>
            <a:ext cx="1417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Flow branching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→ prod auto-deploy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→ staging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91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&amp; Next Steps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decisions and actions required before MVP build kickoff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4946904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  |  GCP Data as a Service Architecture  |  Confidential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28600" y="804672"/>
            <a:ext cx="86868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8600" y="804672"/>
            <a:ext cx="384048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7"/>
          <p:cNvSpPr/>
          <p:nvPr/>
        </p:nvSpPr>
        <p:spPr>
          <a:xfrm>
            <a:off x="228600" y="804672"/>
            <a:ext cx="384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67512" y="923544"/>
            <a:ext cx="658368" cy="274320"/>
          </a:xfrm>
          <a:prstGeom prst="rect">
            <a:avLst>
              <a:gd name="adj" fmla="val 13333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92354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17320" y="850392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DB Connectivity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17320" y="10972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Data Eng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17720" y="877824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EPS Ensenta / ACH DB types (Postgres vs MySQL vs Oracle) for Datastream connector selection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8600" y="1408176"/>
            <a:ext cx="8686800" cy="5486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16" name="Shape 14"/>
          <p:cNvSpPr/>
          <p:nvPr/>
        </p:nvSpPr>
        <p:spPr>
          <a:xfrm>
            <a:off x="228600" y="1408176"/>
            <a:ext cx="384048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7" name="Text 15"/>
          <p:cNvSpPr/>
          <p:nvPr/>
        </p:nvSpPr>
        <p:spPr>
          <a:xfrm>
            <a:off x="228600" y="1408176"/>
            <a:ext cx="384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" y="1527048"/>
            <a:ext cx="658368" cy="274320"/>
          </a:xfrm>
          <a:prstGeom prst="rect">
            <a:avLst>
              <a:gd name="adj" fmla="val 13333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1527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417320" y="1453896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Discovery Audit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417320" y="170078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Security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617720" y="1481328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 PCI QSA to review Dataflow tokenization design; confirm BigQuery out-of-scope ruling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8600" y="2011680"/>
            <a:ext cx="86868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28600" y="2011680"/>
            <a:ext cx="384048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25" name="Text 23"/>
          <p:cNvSpPr/>
          <p:nvPr/>
        </p:nvSpPr>
        <p:spPr>
          <a:xfrm>
            <a:off x="228600" y="2011680"/>
            <a:ext cx="384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67512" y="2130552"/>
            <a:ext cx="658368" cy="274320"/>
          </a:xfrm>
          <a:prstGeom prst="rect">
            <a:avLst>
              <a:gd name="adj" fmla="val 13333"/>
            </a:avLst>
          </a:prstGeom>
          <a:solidFill>
            <a:srgbClr val="C55A11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" y="213055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417320" y="2057400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Vault — Spanner vs. Firestore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417320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Architecture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617720" y="208483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Cost/consistency trade-off; Firestore adequate for token vault if point-lookups acceptable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" y="2615184"/>
            <a:ext cx="8686800" cy="5486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32" name="Shape 30"/>
          <p:cNvSpPr/>
          <p:nvPr/>
        </p:nvSpPr>
        <p:spPr>
          <a:xfrm>
            <a:off x="228600" y="2615184"/>
            <a:ext cx="384048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3" name="Text 31"/>
          <p:cNvSpPr/>
          <p:nvPr/>
        </p:nvSpPr>
        <p:spPr>
          <a:xfrm>
            <a:off x="228600" y="2615184"/>
            <a:ext cx="384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67512" y="2734056"/>
            <a:ext cx="658368" cy="274320"/>
          </a:xfrm>
          <a:prstGeom prst="rect">
            <a:avLst>
              <a:gd name="adj" fmla="val 13333"/>
            </a:avLst>
          </a:prstGeom>
          <a:solidFill>
            <a:srgbClr val="C0392B"/>
          </a:solidFill>
          <a:ln/>
        </p:spPr>
      </p:sp>
      <p:sp>
        <p:nvSpPr>
          <p:cNvPr id="35" name="Text 33"/>
          <p:cNvSpPr/>
          <p:nvPr/>
        </p:nvSpPr>
        <p:spPr>
          <a:xfrm>
            <a:off x="667512" y="27340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417320" y="2660904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 Onboarding Automation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417320" y="29077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Platform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17720" y="268833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module for per-FI dataset creation, IAM bindings, Spanner tenant setup, Cloud Identity provisioning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28600" y="3218688"/>
            <a:ext cx="86868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28600" y="3218688"/>
            <a:ext cx="384048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1" name="Text 39"/>
          <p:cNvSpPr/>
          <p:nvPr/>
        </p:nvSpPr>
        <p:spPr>
          <a:xfrm>
            <a:off x="228600" y="3218688"/>
            <a:ext cx="384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67512" y="3337560"/>
            <a:ext cx="658368" cy="274320"/>
          </a:xfrm>
          <a:prstGeom prst="rect">
            <a:avLst>
              <a:gd name="adj" fmla="val 13333"/>
            </a:avLst>
          </a:prstGeom>
          <a:solidFill>
            <a:srgbClr val="C55A11"/>
          </a:solidFill>
          <a:ln/>
        </p:spPr>
      </p:sp>
      <p:sp>
        <p:nvSpPr>
          <p:cNvPr id="43" name="Text 41"/>
          <p:cNvSpPr/>
          <p:nvPr/>
        </p:nvSpPr>
        <p:spPr>
          <a:xfrm>
            <a:off x="667512" y="333756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417320" y="3264408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Connectivity Model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417320" y="35112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Data Eng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617720" y="3291840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DirectQuery vs. Import mode decision impacts BI Engine sizing and Gold schema design for semantic layer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28600" y="3822192"/>
            <a:ext cx="8686800" cy="548640"/>
          </a:xfrm>
          <a:prstGeom prst="rect">
            <a:avLst/>
          </a:prstGeom>
          <a:solidFill>
            <a:srgbClr val="E9EEF3"/>
          </a:solidFill>
          <a:ln/>
        </p:spPr>
      </p:sp>
      <p:sp>
        <p:nvSpPr>
          <p:cNvPr id="48" name="Shape 46"/>
          <p:cNvSpPr/>
          <p:nvPr/>
        </p:nvSpPr>
        <p:spPr>
          <a:xfrm>
            <a:off x="228600" y="3822192"/>
            <a:ext cx="384048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49" name="Text 47"/>
          <p:cNvSpPr/>
          <p:nvPr/>
        </p:nvSpPr>
        <p:spPr>
          <a:xfrm>
            <a:off x="228600" y="3822192"/>
            <a:ext cx="384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667512" y="3941064"/>
            <a:ext cx="658368" cy="274320"/>
          </a:xfrm>
          <a:prstGeom prst="rect">
            <a:avLst>
              <a:gd name="adj" fmla="val 13333"/>
            </a:avLst>
          </a:prstGeom>
          <a:solidFill>
            <a:srgbClr val="1E5C3A"/>
          </a:solidFill>
          <a:ln/>
        </p:spPr>
      </p:sp>
      <p:sp>
        <p:nvSpPr>
          <p:cNvPr id="51" name="Text 49"/>
          <p:cNvSpPr/>
          <p:nvPr/>
        </p:nvSpPr>
        <p:spPr>
          <a:xfrm>
            <a:off x="667512" y="39410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1417320" y="3867912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 / PayRails (5th source)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417320" y="411480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Data Eng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617720" y="3895344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inclusion timeline; identify CDC connector and schema alignment with unified payment model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28600" y="4425696"/>
            <a:ext cx="86868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228600" y="4425696"/>
            <a:ext cx="384048" cy="53035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57" name="Text 55"/>
          <p:cNvSpPr/>
          <p:nvPr/>
        </p:nvSpPr>
        <p:spPr>
          <a:xfrm>
            <a:off x="228600" y="4425696"/>
            <a:ext cx="3840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667512" y="4544568"/>
            <a:ext cx="658368" cy="274320"/>
          </a:xfrm>
          <a:prstGeom prst="rect">
            <a:avLst>
              <a:gd name="adj" fmla="val 13333"/>
            </a:avLst>
          </a:prstGeom>
          <a:solidFill>
            <a:srgbClr val="C55A11"/>
          </a:solidFill>
          <a:ln/>
        </p:spPr>
      </p:sp>
      <p:sp>
        <p:nvSpPr>
          <p:cNvPr id="59" name="Text 57"/>
          <p:cNvSpPr/>
          <p:nvPr/>
        </p:nvSpPr>
        <p:spPr>
          <a:xfrm>
            <a:off x="667512" y="454456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1417320" y="4471416"/>
            <a:ext cx="3108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Region &amp; DR Config</a:t>
            </a:r>
            <a:endParaRPr lang="en-US" sz="1150" dirty="0"/>
          </a:p>
        </p:txBody>
      </p:sp>
      <p:sp>
        <p:nvSpPr>
          <p:cNvPr id="61" name="Text 59"/>
          <p:cNvSpPr/>
          <p:nvPr/>
        </p:nvSpPr>
        <p:spPr>
          <a:xfrm>
            <a:off x="1417320" y="4718304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Infra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617720" y="4498848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us-central1 primary + us-east4 DR; Spanner multi-region nam4 config; BigQuery dataset location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F4E7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65776"/>
            <a:ext cx="9144000" cy="73152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280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GCP Architecture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914400" y="1965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 a Service — Internal &amp; External Design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0" y="2468880"/>
            <a:ext cx="2743200" cy="54864"/>
          </a:xfrm>
          <a:prstGeom prst="rect">
            <a:avLst/>
          </a:prstGeom>
          <a:solidFill>
            <a:srgbClr val="B08000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Architecture Document: JHBI_GCP_Architecture.docx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49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&amp; Associates, Inc.  |  JHBI Product Engineering  |  February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JHBI GCP Data as a Service Architecture</dc:title>
  <dc:subject>PptxGenJS Presentation</dc:subject>
  <dc:creator>JHBI Product Engineering</dc:creator>
  <cp:lastModifiedBy>JHBI Product Engineering</cp:lastModifiedBy>
  <cp:revision>1</cp:revision>
  <dcterms:created xsi:type="dcterms:W3CDTF">2026-02-24T17:32:23Z</dcterms:created>
  <dcterms:modified xsi:type="dcterms:W3CDTF">2026-02-24T17:32:23Z</dcterms:modified>
</cp:coreProperties>
</file>