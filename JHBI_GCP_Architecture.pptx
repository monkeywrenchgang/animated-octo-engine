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278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2194560" cy="54864"/>
          </a:xfrm>
          <a:prstGeom prst="rect">
            <a:avLst/>
          </a:prstGeom>
          <a:solidFill>
            <a:srgbClr val="B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as a Service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&amp; External Access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46304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—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3749040"/>
            <a:ext cx="146304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3749040"/>
            <a:ext cx="1463040" cy="320040"/>
          </a:xfrm>
          <a:prstGeom prst="rect">
            <a:avLst/>
          </a:prstGeom>
          <a:solidFill>
            <a:srgbClr val="7B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834640" cy="822960"/>
          </a:xfrm>
          <a:prstGeom prst="rect">
            <a:avLst/>
          </a:prstGeom>
          <a:solidFill>
            <a:srgbClr val="B08000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087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Analytics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834640" cy="822960"/>
          </a:xfrm>
          <a:prstGeom prst="rect">
            <a:avLst/>
          </a:prstGeom>
          <a:solidFill>
            <a:srgbClr val="59595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35040" y="2560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/ Normalized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200400"/>
            <a:ext cx="2834640" cy="822960"/>
          </a:xfrm>
          <a:prstGeom prst="rect">
            <a:avLst/>
          </a:prstGeom>
          <a:solidFill>
            <a:srgbClr val="C55A1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3504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CDC Ingested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Associates, Inc.  |  JHBI Product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82296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11064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DaaS vision, objectives, and MVP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581912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58191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16276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Project Structure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191109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zone, environments, and project topology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8658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86584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3865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2432304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(CDC)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271576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Datastream, Pub/Sub, Dataflow, and PCI tokenization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9125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191256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19125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323697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Lake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" y="352044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layers in BigQuery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9592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995928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99592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404164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3232" y="432511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Customer, Household — Cloud Spanner MDM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77724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777240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77724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93792" y="82296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Architecture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93792" y="11064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analytics: IAM, Analytics Hub, Vertex AI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581912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1581912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158191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93792" y="16276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Architecture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193792" y="191109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portal, REST APIs, multi-tenant isolation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38658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2386584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23865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93792" y="2432304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193792" y="271576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DSS, GLBA, SOC 2, NACHA, FFIEC, CCPA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191256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54880" y="3191256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0" y="319125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93792" y="323697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IaC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193792" y="352044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Build, Terraform, Dataform, deployment pipelines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995928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54880" y="3995928"/>
            <a:ext cx="384048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399592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93792" y="404164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Next Steps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193792" y="432511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decisions, open questions, timeline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— Data as a Service for Financial Institutions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consolidates payments data from Jack Henry source systems into a unified BigQuery data lake, enabling FIs to access reliable insights through APIs, a portal, and Power BI — while allowing JH to analyze cross-FI patterns internally.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Payment 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4864" cy="56692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18288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Ensenta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" y="2075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 RDC Deposits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54864" cy="56692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24871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" y="2734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Credits &amp; Debits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54864" cy="56692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1455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PayCenter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 / RTP / Zelle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785616"/>
            <a:ext cx="54864" cy="56692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" y="38039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 (iPay)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" y="40507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Business Bill Pay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MVP Components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1810512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1810512"/>
            <a:ext cx="2011680" cy="1645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0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5152" y="19933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Medallion (Bronze/Silver/Gold)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770632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2770632"/>
            <a:ext cx="2011680" cy="164592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27706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Jobs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45152" y="295351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Dataform ELT + Cloud Composer orchestration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730752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3730752"/>
            <a:ext cx="2011680" cy="164592"/>
          </a:xfrm>
          <a:prstGeom prst="rect">
            <a:avLst/>
          </a:prstGeom>
          <a:solidFill>
            <a:srgbClr val="B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0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45152" y="3913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Customer / Household MDM in Spanner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20840" y="1810512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20840" y="1810512"/>
            <a:ext cx="2011680" cy="16459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20840" y="18105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93992" y="19933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for FI programmatic access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20840" y="2770632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720840" y="2770632"/>
            <a:ext cx="201168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20840" y="27706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93992" y="295351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gateway — catalog, DQ, lineage, AI query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20840" y="3730752"/>
            <a:ext cx="2011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20840" y="3730752"/>
            <a:ext cx="2011680" cy="1645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20840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Layer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93992" y="3913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+ OOTB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Project Structure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— Environment &amp; Functional Separation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Organization  →  jhbi-org Folder  →  Environments (prod / staging / dev)  →  Functional Projects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261872"/>
            <a:ext cx="2788920" cy="320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261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jhbi-ingestion-prod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8562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Datastream, Pub/Sub, Dataflow, DLP, KMS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261872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261872"/>
            <a:ext cx="2788920" cy="320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1261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jhbi-datalake-prod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8562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(Bronze/Silver/Gold), Dataplex, Composer, Dataform, Spanner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261872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1261872"/>
            <a:ext cx="2788920" cy="320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2618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Portal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jhbi-services-prod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18562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Cloud Run, Firebase Hosting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679192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2679192"/>
            <a:ext cx="2788920" cy="320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26791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026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jhbi-internal-prod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27355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Hub, Vertex AI Workbench, Looker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2679192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2679192"/>
            <a:ext cx="2788920" cy="320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54680" y="26791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3026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jhbi-security-prod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27355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 (CMEK), Secret Manager, Cloud Armor, SCC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2679192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80760" y="2679192"/>
            <a:ext cx="2788920" cy="3200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80760" y="26791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026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jhbi-devops-prod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27355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Build, Artifact Registry, Terraform state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4544568"/>
            <a:ext cx="8686800" cy="29260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8600" y="45445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VPC Host Project (jhbi-network-prod) + VPC Service Controls perimeter wraps ALL jhbi-* projects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 — CDC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change capture with PCI tokenization before BigQuery landing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1719072" cy="2377440"/>
          </a:xfrm>
          <a:prstGeom prst="rect">
            <a:avLst/>
          </a:prstGeom>
          <a:solidFill>
            <a:srgbClr val="C55A1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8412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8600" y="1426464"/>
            <a:ext cx="15361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Ensenta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PayCenter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17190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804672"/>
            <a:ext cx="1719072" cy="2377440"/>
          </a:xfrm>
          <a:prstGeom prst="rect">
            <a:avLst/>
          </a:prstGeom>
          <a:solidFill>
            <a:srgbClr val="2E75B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8412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03120" y="1426464"/>
            <a:ext cx="15361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(pglogical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binlog)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75888" y="17190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86200" y="804672"/>
            <a:ext cx="1719072" cy="2377440"/>
          </a:xfrm>
          <a:prstGeom prst="rect">
            <a:avLst/>
          </a:prstGeom>
          <a:solidFill>
            <a:srgbClr val="2E75B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86200" y="8412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77640" y="1426464"/>
            <a:ext cx="15361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50408" y="17190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804672"/>
            <a:ext cx="1719072" cy="2377440"/>
          </a:xfrm>
          <a:prstGeom prst="rect">
            <a:avLst/>
          </a:prstGeom>
          <a:solidFill>
            <a:srgbClr val="6B2D8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8412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DLP + KMS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52160" y="1426464"/>
            <a:ext cx="15361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token-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ization; FPE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PAN; HMAC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routing #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24928" y="17190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06640" y="804672"/>
            <a:ext cx="1719072" cy="2377440"/>
          </a:xfrm>
          <a:prstGeom prst="rect">
            <a:avLst/>
          </a:prstGeom>
          <a:solidFill>
            <a:srgbClr val="C55A1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8412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0" y="1426464"/>
            <a:ext cx="153619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fi_id +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3291840"/>
            <a:ext cx="694944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364992"/>
            <a:ext cx="3291840" cy="292608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2880" y="33101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Scope Boundary — PANs &amp; sensitive data exist ONLY within this zone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712464"/>
            <a:ext cx="2834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3712464"/>
            <a:ext cx="2834640" cy="2560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2880" y="3712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39867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FPE-AES tokenization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InfoType detection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(CREDIT_CARD_NUMBER,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IBAN, SSN, routing #)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54680" y="3712464"/>
            <a:ext cx="2834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54680" y="3712464"/>
            <a:ext cx="2834640" cy="2560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54680" y="3712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46120" y="39867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 key rings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key rings: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/ PII / General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auto-rotation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712464"/>
            <a:ext cx="28346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480" y="3712464"/>
            <a:ext cx="2834640" cy="2560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26480" y="3712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98678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lag alerts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depth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finding counts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Lake — 4-Layer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multi-tenant Bronze/Silver → Gold Internal (JH) → Gold External (Analytics Hub per FI)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1261872" cy="96012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229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125272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jhbi_bronze_{source}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72768" y="8321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Multi-Tenant  ·  Source-system datasets  ·  No user access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10698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 datasets per source system (not per FI)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72768" y="1280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fi_id on every row — partitioned by fi_id + date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72768" y="1490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Tokenized JSON payload (schema-on-read)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1069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Append-only, immutable — 7yr retention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1280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PCI boundary ends here — DLP/KMS before landing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0" y="1490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Pipeline service accounts only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1033272"/>
            <a:ext cx="27432" cy="6400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1901952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1901952"/>
            <a:ext cx="1261872" cy="960120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194767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8600" y="23774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jhbi_silver_payments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72768" y="195681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Multi-Tenant  ·  BIAN + ISO 20022 schema  ·  JH internal + RLS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21945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Unified payment schema (upt_transaction)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72768" y="2404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fi_id tagged, entity IDs resolved from Spanner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72768" y="2615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Dataplex DQ scans — 95%+ score required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20640" y="2194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BigQuery RLS enforces fi_id on internal access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Quarantine dataset for DQ-failing records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0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JH data engineers, scientists, compliance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2157984"/>
            <a:ext cx="27432" cy="6400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8600" y="3026664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3026664"/>
            <a:ext cx="1261872" cy="960120"/>
          </a:xfrm>
          <a:prstGeom prst="rect">
            <a:avLst/>
          </a:prstGeom>
          <a:solidFill>
            <a:srgbClr val="B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307238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28600" y="350215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jhbi_gold_internal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72768" y="30815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Multi-Tenant  ·  Star schema  ·  JH cross-FI analytics &amp; data science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72768" y="3319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Fact + dim tables, surrogate keys, pre-aggregated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572768" y="3529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fi_id + RLS — cross-FI authorized views for analysts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572768" y="3739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Vertex AI Workbench, Looker, internal Power BI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20640" y="3319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 Engine 100GB for sub-second queries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20640" y="3529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Cross-FI aggregate views — no raw per-FI exposure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20640" y="3739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Source for Analytics Hub Gold External listings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0" y="3282696"/>
            <a:ext cx="27432" cy="6400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28600" y="4151376"/>
            <a:ext cx="8686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28600" y="4151376"/>
            <a:ext cx="1261872" cy="9601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8600" y="419709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EXT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28600" y="462686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  →  fi-project.jhbi_gold_linked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572768" y="420624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via Analytics Hub  ·  FI's own GCP project  ·  Migration path to project-per-FI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72768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One Analytics Hub listing per FI — zero dataset proliferation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572768" y="4654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 subscribes → linked dataset in their own project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572768" y="4864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Same schema as Gold Internal — fi_id rows only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20640" y="4443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 queries their own project — no JHBI IAM needed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20640" y="4654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Power BI, portal, APIs all reference FI's linked dataset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20640" y="4864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Promote to real dataset when project-per-FI required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0" y="4407408"/>
            <a:ext cx="27432" cy="6400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Through Layers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$1,500 FedNow payment — how one transaction record evolves from CDC to FI-facing Gold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6888" y="804672"/>
            <a:ext cx="1975104" cy="347472"/>
          </a:xfrm>
          <a:prstGeom prst="rect">
            <a:avLst/>
          </a:prstGeom>
          <a:solidFill>
            <a:srgbClr val="C55A1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" y="804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978408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cdc_events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" y="1152144"/>
            <a:ext cx="1975104" cy="1828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" y="115214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JSON payload · No user access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6888" y="134416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jhbi_bronze_paycenter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6888" y="1517904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" y="156362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4712" y="156362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acme_bank_001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" y="1842516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" y="188823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cdc_op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4712" y="188823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6888" y="2167128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1752" y="2212848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src_record_id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" y="2212848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PC-2026-00123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" y="2491740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1752" y="25374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pmt_rail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4712" y="2537460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6888" y="2816352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1752" y="2862072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payload.amount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4712" y="2862072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1500.00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6888" y="3140964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1752" y="318668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orig_acct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4712" y="318668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TOK-8472-XXXX ●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" y="3465576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351129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payload.status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4712" y="351129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6888" y="3845052"/>
            <a:ext cx="1975104" cy="548640"/>
          </a:xfrm>
          <a:prstGeom prst="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01752" y="389077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schema-on-read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tokenized (DLP/KMS)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user access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31136" y="28346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331720" y="804672"/>
            <a:ext cx="1975104" cy="347472"/>
          </a:xfrm>
          <a:prstGeom prst="rect">
            <a:avLst/>
          </a:prstGeom>
          <a:solidFill>
            <a:srgbClr val="59595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31720" y="804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978408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upt_transaction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31720" y="1152144"/>
            <a:ext cx="1975104" cy="1828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31720" y="115214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· BIAN schema · Entity resolved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31720" y="134416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jhbi_silver_payments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331720" y="1517904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386584" y="156362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9544" y="156362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acme_bank_001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331720" y="1842516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86584" y="188823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entity_cust_id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9544" y="188823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CUST-ENT-045678 ★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331720" y="2167128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386584" y="2212848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entity_acct_id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09544" y="2212848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ACCT-ENT-098765 ★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331720" y="2491740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386584" y="25374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payment_rail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09544" y="2537460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331720" y="2816352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386584" y="2862072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9544" y="2862072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INST_CREDIT_PUSH ★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331720" y="3140964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86584" y="318668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/ ccy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209544" y="318668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1500.00 / USD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331720" y="3465576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386584" y="351129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settlement_ms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209544" y="351129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ms ★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331720" y="3845052"/>
            <a:ext cx="1975104" cy="548640"/>
          </a:xfrm>
          <a:prstGeom prst="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386584" y="389077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cols, BIAN schema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IDs resolved (Spanner)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internal + RLS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15968" y="28346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4416552" y="804672"/>
            <a:ext cx="1975104" cy="347472"/>
          </a:xfrm>
          <a:prstGeom prst="rect">
            <a:avLst/>
          </a:prstGeom>
          <a:solidFill>
            <a:srgbClr val="B08000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416552" y="804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416552" y="978408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fact_payment_transactions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416552" y="1152144"/>
            <a:ext cx="1975104" cy="1828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416552" y="115214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Cross-FI analytics · JH only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416552" y="134416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jhbi_gold_internal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416552" y="1517904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471416" y="156362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294376" y="156362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acme_bank_001 (RLS)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416552" y="1842516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471416" y="188823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transaction_sk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294376" y="188823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GLD-SK-00456 ★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416552" y="2167128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471416" y="2212848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entity_cust_id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294376" y="2212848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CUST-ENT-045678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416552" y="2491740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471416" y="25374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payment_rail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294376" y="2537460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416552" y="2816352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471416" y="2862072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294376" y="2862072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1500.00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416552" y="3140964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471416" y="318668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is_instant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294376" y="318668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416552" y="3465576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471416" y="351129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settlement_ms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294376" y="351129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416552" y="3845052"/>
            <a:ext cx="1975104" cy="548640"/>
          </a:xfrm>
          <a:prstGeom prst="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471416" y="389077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 ★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 fi_id claim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AI, Looker, Power BI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400800" y="28346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6501384" y="804672"/>
            <a:ext cx="1975104" cy="347472"/>
          </a:xfrm>
          <a:prstGeom prst="rect">
            <a:avLst/>
          </a:prstGeom>
          <a:solidFill>
            <a:srgbClr val="2E75B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501384" y="804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EXT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6501384" y="978408"/>
            <a:ext cx="1975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fact_payment_transactions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01384" y="1152144"/>
            <a:ext cx="1975104" cy="18288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501384" y="115214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 linked · FI's own project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501384" y="134416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acme-bank-gcp · jhbi_gold_linked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501384" y="1517904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556248" y="156362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379208" y="156362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 rows only — RLS)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501384" y="1842516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556248" y="188823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transaction_sk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379208" y="188823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GLD-SK-00456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501384" y="2167128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556248" y="2212848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entity_cust_id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379208" y="2212848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CUST-ENT-045678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501384" y="2491740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556248" y="2537460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payment_rail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7379208" y="2537460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6501384" y="2816352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6556248" y="2862072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379208" y="2862072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1500.00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501384" y="3140964"/>
            <a:ext cx="1975104" cy="32461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556248" y="3186684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is_instant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7379208" y="3186684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501384" y="3465576"/>
            <a:ext cx="1975104" cy="3246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556248" y="3511296"/>
            <a:ext cx="822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gcp_project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379208" y="3511296"/>
            <a:ext cx="10607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acme-bank-gcp ★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501384" y="3845052"/>
            <a:ext cx="1975104" cy="54864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6556248" y="3890772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schema to Gold Int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queries their own project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project-per-FI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246888" y="4558284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New / enriched at this layer    ● = DLP/KMS tokenized — never stored in plaintext    Latency: Bronze &lt; 5 min  →  Silver &lt; 15 min  →  Gold &lt; 30 min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— Account, Customer, Household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 &amp; 360° customer view via Cloud Spanner MDM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1920240" cy="91440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&gt;97%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(Precision)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777240"/>
            <a:ext cx="1920240" cy="91440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3774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1920240" cy="91440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777240"/>
            <a:ext cx="1920240" cy="91440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665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1828800"/>
            <a:ext cx="1609344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" y="1828800"/>
            <a:ext cx="1609344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" y="18288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22311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/ Bucketing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" y="26517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candidate pairs by blocking keys (last-4 acct#, FI routing, name soundex) — avoids O(n²) comparison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91640" y="28346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929384" y="1828800"/>
            <a:ext cx="1609344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29384" y="1828800"/>
            <a:ext cx="1609344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29384" y="18288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02536" y="22311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Scoring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02536" y="26517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(name+DOB+SSN) + Jaro-Winkler fuzzy name match in BigQuery SQL / BQML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38144" y="28346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675888" y="1828800"/>
            <a:ext cx="1609344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75888" y="1828800"/>
            <a:ext cx="1609344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75888" y="18288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22311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Assignment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49040" y="26517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Connected-components clustering → assign entity_id. Canonical records written to Cloud Spanner MDM tables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84648" y="28346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22392" y="1828800"/>
            <a:ext cx="1609344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22392" y="1828800"/>
            <a:ext cx="1609344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22392" y="18288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95544" y="22311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95544" y="26517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M:M resolution: customer↔account, customer↔household bridge tables in jhbi_silver_{fi_id}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31152" y="28346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168896" y="1828800"/>
            <a:ext cx="1609344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168896" y="1828800"/>
            <a:ext cx="1609344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68896" y="18288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42048" y="22311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Propagation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42048" y="265176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entity IDs back-propagated to Silver + Gold via Dataform incremental models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4251960"/>
            <a:ext cx="8686800" cy="59436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279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Spanner MDM Tables: 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31720" y="4279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HouseholdMDM  |  CustomerMDM  |  AccountMDM  |  MergeAudit  |  jhbi-token-vault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" y="45354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point lookups (&lt; 10ms) powering Data Services APIs  •  Full merge/split audit trail  •  Strong consistency via Spanner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Architecture — Cross-FI Analytics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JH-only access: query and analyze data across all Financial Institutions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Internal Access?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572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143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380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build, Dataform dev, BigQuery 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4572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828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0665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SQL on Gold + Silver; cross-FI views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572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752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Workbench; ML on aggregate patterns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72968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4572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438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DQ reports, Dataplex lineage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58768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858768"/>
            <a:ext cx="45720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886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1239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adoption, trend, anomaly analytics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GCP Capabilities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1115568"/>
            <a:ext cx="4526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97680" y="1115568"/>
            <a:ext cx="54864" cy="5943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07408" y="120700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Direct SQL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07408" y="1481328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jhbi_gold_internal + authorized cross-FI views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1801368"/>
            <a:ext cx="4526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297680" y="1801368"/>
            <a:ext cx="54864" cy="594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07408" y="189280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07408" y="2167128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dataset marketplace — subscribe to Gold datasets without project IAM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2487168"/>
            <a:ext cx="4526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97680" y="2487168"/>
            <a:ext cx="54864" cy="594360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07408" y="257860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Workbench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407408" y="2852928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notebooks with pre-auth BQ client; Gold + Silver access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3172968"/>
            <a:ext cx="4526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97680" y="3172968"/>
            <a:ext cx="54864" cy="59436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07408" y="326440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Views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07408" y="3538728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aggregates exposed ONLY via views — no raw table access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0" y="3858768"/>
            <a:ext cx="4526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297680" y="3858768"/>
            <a:ext cx="54864" cy="594360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07408" y="395020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/ Power BI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407408" y="4224528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dashboards; XMLA endpoint for semantic layer access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Use Architecture — Per-FI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clients access their own data only — portal, APIs, Power BI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804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 REST APIs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4963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115568"/>
            <a:ext cx="4160520" cy="39319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502920" cy="3931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11556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/households/{householdId}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508760"/>
            <a:ext cx="41605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1508760"/>
            <a:ext cx="502920" cy="3931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150876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1563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/households/{householdId}/customers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901952"/>
            <a:ext cx="4160520" cy="39319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1901952"/>
            <a:ext cx="502920" cy="3931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190195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1956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/customers/{customerId}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295144"/>
            <a:ext cx="41605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2295144"/>
            <a:ext cx="502920" cy="3931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229514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/customers/{customerId}/accounts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688336"/>
            <a:ext cx="4160520" cy="393192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2688336"/>
            <a:ext cx="502920" cy="3931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8600" y="268833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/accounts/{accountId}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081528"/>
            <a:ext cx="41605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081528"/>
            <a:ext cx="502920" cy="39319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08152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136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/accounts/{accountId}/transactions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529584"/>
            <a:ext cx="4160520" cy="34747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" y="35295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99.5% uptime  |  &lt; 500ms P95  |  Rate limit: 100 req/min per FI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804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Stack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1115568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17720" y="1115568"/>
            <a:ext cx="54864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27448" y="1207008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27448" y="1481328"/>
            <a:ext cx="4087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validation, rate limiting, SSL termination, Cloud Armor WAF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1719072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1719072"/>
            <a:ext cx="54864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27448" y="1810512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27448" y="2084832"/>
            <a:ext cx="4087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microservices per domain; Workload Identity; auto-scale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2322576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17720" y="2322576"/>
            <a:ext cx="54864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27448" y="2414016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IAP + Firebase Auth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27448" y="2688336"/>
            <a:ext cx="4087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 Proxy + OIDC; FI user sessions; no VPN required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2926080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17720" y="2926080"/>
            <a:ext cx="54864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27448" y="301752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Identity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27448" y="3291840"/>
            <a:ext cx="4087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tenant identity; fi_id claim in JWT; FI admin self-service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3529584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617720" y="3529584"/>
            <a:ext cx="54864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27448" y="3621024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(Text-to-SQL)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727448" y="3895344"/>
            <a:ext cx="4087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BigQuery SQL with fi_id injection; SELECT-only enforcement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17720" y="4133088"/>
            <a:ext cx="4251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617720" y="4133088"/>
            <a:ext cx="54864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27448" y="4224528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727448" y="4498848"/>
            <a:ext cx="4087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on CDN; Dataplex catalog API; DQ scorecards; lineage 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Strategy — Revised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model scales to 500+ FIs · End state: project-per-FI via Analytics Hub promotion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by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2029968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78992"/>
            <a:ext cx="2029968" cy="29260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0789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" y="13898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jhbi_bronze_{source}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" y="15910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· No user access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1792224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 partition/cluster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SAs only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boundary here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31136" y="15727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32304" y="1078992"/>
            <a:ext cx="2029968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32304" y="1078992"/>
            <a:ext cx="2029968" cy="292608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32304" y="10789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05456" y="13898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jhbi_silver_payments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05456" y="15910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· BigQuery RLS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05456" y="1792224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 on every row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= fi_id claim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internal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07408" y="15727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08576" y="1078992"/>
            <a:ext cx="2029968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08576" y="1078992"/>
            <a:ext cx="2029968" cy="292608"/>
          </a:xfrm>
          <a:prstGeom prst="rect">
            <a:avLst/>
          </a:prstGeom>
          <a:solidFill>
            <a:srgbClr val="B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08576" y="10789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81728" y="13898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jhbi_gold_internal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81728" y="15910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· RLS + Auth Views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1728" y="1792224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for JH team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views for agg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· Looker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15727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84848" y="1078992"/>
            <a:ext cx="2029968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84848" y="1078992"/>
            <a:ext cx="2029968" cy="2926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84848" y="10789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EXT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0" y="13898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fi-project · jhbi_gold_linked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15910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Hub Linked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1792224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listing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FI's own GCP project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rows only visible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254203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to Project-per-FI (Planned End State)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" y="2816352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6032" y="2816352"/>
            <a:ext cx="2029968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" y="28163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321868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Bronze/Silver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Int: jhbi_gold_internal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Ext: Analytics Hub listing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 linked dataset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31136" y="35478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432304" y="2816352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432304" y="2816352"/>
            <a:ext cx="2029968" cy="384048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432304" y="28163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 FIs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23744" y="321868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— zero dataset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proliferation. Analytics Hub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per-FI isolation.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onboards new FIs.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07408" y="35478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608576" y="2816352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08576" y="2816352"/>
            <a:ext cx="2029968" cy="38404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08576" y="28163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Tier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00016" y="321868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Analytics Hub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dataset to real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 dedicated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GCP project.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0" y="354787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84848" y="2816352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84848" y="2816352"/>
            <a:ext cx="2029968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784848" y="28163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76288" y="3218688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per-FI project.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downstream unchanged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table names,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project reference).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" y="4636008"/>
            <a:ext cx="8631936" cy="256032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46360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Never hardcode project IDs in application code. Use config-driven BQ_PROJECT_ID so migration is a config change, not a code change.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encryption, identity, network, and threat detection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88920" cy="3017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133856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 (Cloud KMS) on ALL data stores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 rings: PCI / PII / General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auto-rotation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804672"/>
            <a:ext cx="2788920" cy="3017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80467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133856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on all connections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Google-managed SSL certs (API Gateway)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Service Connect for BigQuery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804672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788920" cy="3017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80467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Service Controls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133856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perimeter — all jhbi-* projects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exfiltration from BQ/GCS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Ingress/egress via authenticated identity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194560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194560"/>
            <a:ext cx="2788920" cy="3017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19456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Armor (WAF)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523744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top-10 on API Gateway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mitigation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IP allowlisting (registered CIDRs)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2194560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2194560"/>
            <a:ext cx="2788920" cy="301752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219456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Workload Identity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2523744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bindings in prod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Groups only (AD-synced)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Service-to-service via Workload Identity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2194560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0760" y="2194560"/>
            <a:ext cx="2788920" cy="301752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0760" y="219456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523744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 strings, API keys, creds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bound service accounts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secrets in any container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584448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3584448"/>
            <a:ext cx="2788920" cy="30175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35844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Command Center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3913632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Premium — anomaly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+ compliance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alerting on findings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54680" y="3584448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54680" y="3584448"/>
            <a:ext cx="2788920" cy="30175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54680" y="35844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46120" y="3913632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logs: BQ, Spanner, KMS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BigQuery — 7yr retention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lock — tamper-proof evidence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3584448"/>
            <a:ext cx="2788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3584448"/>
            <a:ext cx="2788920" cy="30175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80760" y="35844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 (PII Scanning)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913632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scheduled periodic scans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 untagged PII in Dataplex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security team alerts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Regulatory Compliance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· GLBA Safeguards · SOC 2 Type II · NACHA · FFIEC · CCPA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8892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" y="1170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Card-funded payment data (PANs)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6276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 tokenization at Dataflow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out of PCI scope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 + Cloud DLP + KMS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7yr retained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80467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804672"/>
            <a:ext cx="278892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8046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 Safeguards Rule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1170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Non-Public Personal Information (NPI)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16276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data minimization + DLP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masking for external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access audit trail per fi_id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runbooks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80467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804672"/>
            <a:ext cx="2788920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8046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1170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Security / Availability / Processing Integrity / Confidentiality / Privacy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2200" y="16276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 + MFA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99.95%+ availability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Dataplex DQ scans (95%+ score)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evidence via Audit Logs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1635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2788920" cy="34747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28163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NACHA Operating Rules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ACH transaction data (TPS obligations)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RDFI acct# / routing# tokenized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7yr retention (NACHA 6yr)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monitoring in Gold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policies on ACH fields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281635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54680" y="2816352"/>
            <a:ext cx="2788920" cy="347472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54680" y="28163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IT Guidance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46120" y="3182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IT risk, audit, BCM for FI service providers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Premium for IT risk posture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+ Spanner multi-region DR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FedRAMP-authorized GCP services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1yr hot / 7yr cold audit log retention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2816352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0760" y="2816352"/>
            <a:ext cx="2788920" cy="347472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80760" y="28163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/ State Privacy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72200" y="31821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Consumer privacy (defense-in-depth, GLBA-exempt FIs)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6393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Point-deletion via Spanner entity keys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Dataplex data map for processing 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DLP suppresses unnecessary PII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US-only data residency (Org Policy)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Compliance Controls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that satisfy multiple regulatory frameworks simultaneously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868680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804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2888" y="8046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Implementation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81928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Covered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152144"/>
            <a:ext cx="8686800" cy="4480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1152144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188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 Isolation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1887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datasets + RLS + API fi_id injection + VPC SC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0760" y="1188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GLBA, SOC 2, PCI, FFIEC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600200"/>
            <a:ext cx="8686800" cy="448056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1600200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16367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16367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 → BQ sink, retention lock, 7yr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0760" y="163677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Req 10, NACHA, SOC 2 CC7, FFIEC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048256"/>
            <a:ext cx="8686800" cy="4480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2048256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08483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&amp; Transit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 (KMS) on all stores; TLS 1.3; per-class key rings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760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Req 3-4, GLBA, SOC 2, FFIEC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496312"/>
            <a:ext cx="8686800" cy="448056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" y="2496312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25328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2532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Groups only; JIT elevation; all access logged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532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CC6, PCI Req 7-8, GLBA, FFIEC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2944368"/>
            <a:ext cx="8686800" cy="4480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2944368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29809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29809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 scanning; SCC Premium findings; SAST in CI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80760" y="29809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Req 6, SOC 2 CC7, FFIEC IT Risk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3392424"/>
            <a:ext cx="8686800" cy="448056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" y="3392424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68880" y="3429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→ Cloud Monitoring → PagerDuty; 72hr breach window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8076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CC7, GLBA, FFIEC BCM, State laws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3840480"/>
            <a:ext cx="8686800" cy="4480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28600" y="3840480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38770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(US-only)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38770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Policy: us-central1 + us-east4 only; no intl transfer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80760" y="38770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GLBA, FFIEC, CCPA; avoids GDPR scope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4288536"/>
            <a:ext cx="8686800" cy="448056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28600" y="4288536"/>
            <a:ext cx="45720" cy="44805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43251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&amp; PII Discovery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468880" y="43251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scans on ingest + weekly; findings → Dataplex auto-tags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80760" y="43251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 (NPI), SOC 2 Privacy, CCPA, PCI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Infrastructure as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· Terraform · Dataform · Artifact Registry · Git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572768" cy="1554480"/>
          </a:xfrm>
          <a:prstGeom prst="rect">
            <a:avLst/>
          </a:prstGeom>
          <a:solidFill>
            <a:srgbClr val="8496A8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92224" y="1691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93392" y="1143000"/>
            <a:ext cx="1572768" cy="1554480"/>
          </a:xfrm>
          <a:prstGeom prst="rect">
            <a:avLst/>
          </a:prstGeom>
          <a:solidFill>
            <a:srgbClr val="2E75B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3392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93392" y="16916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TDM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11296" y="1691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12464" y="1143000"/>
            <a:ext cx="1572768" cy="1554480"/>
          </a:xfrm>
          <a:prstGeom prst="rect">
            <a:avLst/>
          </a:prstGeom>
          <a:solidFill>
            <a:srgbClr val="6B2D8B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2464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16916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tests; Dataform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dry-run;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0368" y="1691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31536" y="1143000"/>
            <a:ext cx="1572768" cy="1554480"/>
          </a:xfrm>
          <a:prstGeom prst="rect">
            <a:avLst/>
          </a:prstGeom>
          <a:solidFill>
            <a:srgbClr val="C55A11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31536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31536" y="16916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review; BQ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691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50608" y="1143000"/>
            <a:ext cx="1572768" cy="155448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50608" y="11704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0608" y="16916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Dataform run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3154680"/>
            <a:ext cx="1600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3154680"/>
            <a:ext cx="1600200" cy="29260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4747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cloudbuild.yaml per repo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 triggers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47672" y="3154680"/>
            <a:ext cx="1600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47672" y="3154680"/>
            <a:ext cx="1600200" cy="29260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47672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39112" y="34747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GCP infra as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state per project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policy constraints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66744" y="3154680"/>
            <a:ext cx="1600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66744" y="3154680"/>
            <a:ext cx="1600200" cy="29260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66744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58184" y="34747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SQLX transforms in 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+ assertions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85816" y="3154680"/>
            <a:ext cx="1600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85816" y="3154680"/>
            <a:ext cx="1600200" cy="29260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85816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77256" y="34747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images; Python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packages; vulnerability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on push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04888" y="3154680"/>
            <a:ext cx="160020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04888" y="3154680"/>
            <a:ext cx="1600200" cy="29260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04888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Source Repos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96328" y="34747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branching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prod auto-deploy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→ staging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D19326-4F89-DC0C-67ED-3D43B377B53D}"/>
              </a:ext>
            </a:extLst>
          </p:cNvPr>
          <p:cNvSpPr/>
          <p:nvPr/>
        </p:nvSpPr>
        <p:spPr>
          <a:xfrm>
            <a:off x="532563" y="944545"/>
            <a:ext cx="1024932" cy="34867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</a:t>
            </a:r>
          </a:p>
          <a:p>
            <a:pPr algn="ctr"/>
            <a:r>
              <a:rPr lang="en-US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0E7AC1-574D-2F16-9AF5-C927D5C52AED}"/>
              </a:ext>
            </a:extLst>
          </p:cNvPr>
          <p:cNvSpPr/>
          <p:nvPr/>
        </p:nvSpPr>
        <p:spPr>
          <a:xfrm>
            <a:off x="2064183" y="944545"/>
            <a:ext cx="1024932" cy="348677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&lt;bronze&gt;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E9A31-BADA-B41E-3425-2ABEF6AC06B3}"/>
              </a:ext>
            </a:extLst>
          </p:cNvPr>
          <p:cNvSpPr/>
          <p:nvPr/>
        </p:nvSpPr>
        <p:spPr>
          <a:xfrm>
            <a:off x="3382443" y="944545"/>
            <a:ext cx="1024932" cy="348677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Unified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&lt;sliver&gt;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9733B-9797-4F46-90A9-FD95D22EED0D}"/>
              </a:ext>
            </a:extLst>
          </p:cNvPr>
          <p:cNvSpPr/>
          <p:nvPr/>
        </p:nvSpPr>
        <p:spPr>
          <a:xfrm>
            <a:off x="4736627" y="944545"/>
            <a:ext cx="1024932" cy="348677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Ready </a:t>
            </a:r>
          </a:p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&lt;Gold&gt;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3A2DF-568B-20F5-CB34-BE57C1A627AB}"/>
              </a:ext>
            </a:extLst>
          </p:cNvPr>
          <p:cNvSpPr/>
          <p:nvPr/>
        </p:nvSpPr>
        <p:spPr>
          <a:xfrm>
            <a:off x="6233160" y="944545"/>
            <a:ext cx="1524000" cy="876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FI_1</a:t>
            </a:r>
          </a:p>
          <a:p>
            <a:pPr algn="ctr"/>
            <a:r>
              <a:rPr lang="en-US" dirty="0"/>
              <a:t>External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BF352-5096-2D45-CDE1-6BA8FB455161}"/>
              </a:ext>
            </a:extLst>
          </p:cNvPr>
          <p:cNvSpPr/>
          <p:nvPr/>
        </p:nvSpPr>
        <p:spPr>
          <a:xfrm>
            <a:off x="6233160" y="1912285"/>
            <a:ext cx="1524000" cy="876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FI_2</a:t>
            </a:r>
          </a:p>
          <a:p>
            <a:pPr algn="ctr"/>
            <a:r>
              <a:rPr lang="en-US" dirty="0"/>
              <a:t>External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5D1D5-891A-50BD-7848-B0112948C2B1}"/>
              </a:ext>
            </a:extLst>
          </p:cNvPr>
          <p:cNvSpPr/>
          <p:nvPr/>
        </p:nvSpPr>
        <p:spPr>
          <a:xfrm>
            <a:off x="6233160" y="3539113"/>
            <a:ext cx="1524000" cy="876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FI_N</a:t>
            </a:r>
          </a:p>
          <a:p>
            <a:pPr algn="ctr"/>
            <a:r>
              <a:rPr lang="en-US" dirty="0"/>
              <a:t>External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9B42A1-AB0B-F7E4-0DC2-7B5A5631C938}"/>
              </a:ext>
            </a:extLst>
          </p:cNvPr>
          <p:cNvSpPr/>
          <p:nvPr/>
        </p:nvSpPr>
        <p:spPr>
          <a:xfrm>
            <a:off x="6233160" y="2933700"/>
            <a:ext cx="141732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2ADC20-407E-30D8-EC54-8B72C9A78B35}"/>
              </a:ext>
            </a:extLst>
          </p:cNvPr>
          <p:cNvSpPr/>
          <p:nvPr/>
        </p:nvSpPr>
        <p:spPr>
          <a:xfrm>
            <a:off x="1958340" y="769620"/>
            <a:ext cx="3970020" cy="393954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81B1C-5F2B-4338-1403-C97C10FC5CFA}"/>
              </a:ext>
            </a:extLst>
          </p:cNvPr>
          <p:cNvSpPr txBox="1"/>
          <p:nvPr/>
        </p:nvSpPr>
        <p:spPr>
          <a:xfrm>
            <a:off x="2283823" y="157531"/>
            <a:ext cx="242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Big Query</a:t>
            </a:r>
          </a:p>
          <a:p>
            <a:pPr algn="ctr"/>
            <a:r>
              <a:rPr lang="en-US" dirty="0"/>
              <a:t>1 – Big Project?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895B12-9CA1-8365-7411-F7E3BAD974D3}"/>
              </a:ext>
            </a:extLst>
          </p:cNvPr>
          <p:cNvSpPr txBox="1"/>
          <p:nvPr/>
        </p:nvSpPr>
        <p:spPr>
          <a:xfrm>
            <a:off x="5761559" y="317746"/>
            <a:ext cx="242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Analytics Hub</a:t>
            </a:r>
          </a:p>
          <a:p>
            <a:pPr algn="ctr"/>
            <a:r>
              <a:rPr lang="en-US" dirty="0"/>
              <a:t>Project per Tenant?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468F1-FA5F-688A-5C81-514B62A27F93}"/>
              </a:ext>
            </a:extLst>
          </p:cNvPr>
          <p:cNvSpPr txBox="1"/>
          <p:nvPr/>
        </p:nvSpPr>
        <p:spPr>
          <a:xfrm>
            <a:off x="342649" y="519338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 Systems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6258B51-129A-C99C-3E8F-8980744167B2}"/>
              </a:ext>
            </a:extLst>
          </p:cNvPr>
          <p:cNvSpPr/>
          <p:nvPr/>
        </p:nvSpPr>
        <p:spPr>
          <a:xfrm>
            <a:off x="1623060" y="2468880"/>
            <a:ext cx="335280" cy="4648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AAA9D85-4321-8068-F262-5910CAA1EF39}"/>
              </a:ext>
            </a:extLst>
          </p:cNvPr>
          <p:cNvSpPr/>
          <p:nvPr/>
        </p:nvSpPr>
        <p:spPr>
          <a:xfrm>
            <a:off x="5844121" y="2350602"/>
            <a:ext cx="335280" cy="4648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70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and actions required before MVP build kickoff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Data as a Service Architecture  |  Confidential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8686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923544"/>
            <a:ext cx="658368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9235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85039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 Connectivity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17320" y="1097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 Eng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8778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EPS Ensenta / ACH DB types (Postgres vs MySQL vs Oracle) for Datastream connector selection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408176"/>
            <a:ext cx="8686800" cy="5486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1408176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14081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1527048"/>
            <a:ext cx="658368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1527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14538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Discovery Audit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17320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Security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4813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PCI QSA to review Dataflow tokenization design; confirm BigQuery out-of-scope ruling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011680"/>
            <a:ext cx="8686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2011680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201168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" y="2130552"/>
            <a:ext cx="658368" cy="27432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21305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205740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Vault — Spanner vs. Firestore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417320" y="2304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20848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Cost/consistency trade-off; Firestore adequate for token vault if point-lookups acceptable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2615184"/>
            <a:ext cx="8686800" cy="5486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2615184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261518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7512" y="2734056"/>
            <a:ext cx="658368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27340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17320" y="266090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Onboarding Automation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417320" y="2907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17720" y="26883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 for per-FI dataset creation, IAM bindings, Spanner tenant setup, Cloud Identity provisioning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218688"/>
            <a:ext cx="8686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3218688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8600" y="321868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7512" y="3337560"/>
            <a:ext cx="658368" cy="27432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7512" y="3337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17320" y="32644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Connectivity Model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417320" y="3511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 Eng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17720" y="32918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 vs. Import mode decision impacts BI Engine sizing and Gold schema design for semantic layer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3822192"/>
            <a:ext cx="8686800" cy="548640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28600" y="3822192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28600" y="38221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67512" y="3941064"/>
            <a:ext cx="658368" cy="274320"/>
          </a:xfrm>
          <a:prstGeom prst="rect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7512" y="3941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417320" y="38679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/ PayRails (5th source)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417320" y="4114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Data Eng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17720" y="38953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inclusion timeline; identify CDC connector and schema alignment with unified payment model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" y="4425696"/>
            <a:ext cx="8686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28600" y="4425696"/>
            <a:ext cx="384048" cy="5303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28600" y="442569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67512" y="4544568"/>
            <a:ext cx="658368" cy="27432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7512" y="4544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417320" y="447141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Region &amp; DR Config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417320" y="4718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Infra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617720" y="449884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us-central1 primary + us-east4 DR; Spanner multi-region nam4 config; BigQuery dataset location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GCP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 Service — Internal &amp; External Design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54864"/>
          </a:xfrm>
          <a:prstGeom prst="rect">
            <a:avLst/>
          </a:prstGeom>
          <a:solidFill>
            <a:srgbClr val="B0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Document: JHBI_GCP_Architecture.docx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Associates, Inc.  |  JHBI Product Engineering  | 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3267</Words>
  <Application>Microsoft Macintosh PowerPoint</Application>
  <PresentationFormat>On-screen Show (16:9)</PresentationFormat>
  <Paragraphs>669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GCP Data as a Service Architecture</dc:title>
  <dc:subject>PptxGenJS Presentation</dc:subject>
  <dc:creator>JHBI Product Engineering</dc:creator>
  <cp:lastModifiedBy>Adam Ames</cp:lastModifiedBy>
  <cp:revision>2</cp:revision>
  <dcterms:created xsi:type="dcterms:W3CDTF">2026-02-24T17:32:23Z</dcterms:created>
  <dcterms:modified xsi:type="dcterms:W3CDTF">2026-02-24T19:42:26Z</dcterms:modified>
</cp:coreProperties>
</file>