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200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931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Data as a Service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2148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Project Topology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Tenancy &amp; Cost Attribution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 ·  Challenges  ·  Migration Path  ·  Recommendations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493008"/>
            <a:ext cx="6400800" cy="27432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3730752"/>
            <a:ext cx="7315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 |   Confidential   |   February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509760" y="1371600"/>
            <a:ext cx="2286000" cy="1097280"/>
          </a:xfrm>
          <a:prstGeom prst="rect">
            <a:avLst/>
          </a:prstGeom>
          <a:solidFill>
            <a:srgbClr val="C55A11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509760" y="153619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509760" y="19385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Gold + RLS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509760" y="2743200"/>
            <a:ext cx="2286000" cy="1097280"/>
          </a:xfrm>
          <a:prstGeom prst="rect">
            <a:avLst/>
          </a:prstGeom>
          <a:solidFill>
            <a:srgbClr val="2E75B6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509760" y="290779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509760" y="33101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Platinum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509760" y="4114800"/>
            <a:ext cx="2286000" cy="1097280"/>
          </a:xfrm>
          <a:prstGeom prst="rect">
            <a:avLst/>
          </a:prstGeom>
          <a:solidFill>
            <a:srgbClr val="1E7A4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509760" y="427939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509760" y="46817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Projects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D07B43-DB14-50BF-BDA8-414B1D4F48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333" b="409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452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— 6 GCP Projects, but Gold is the Sticking Point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are well separated by function — the problem is Gold mixes JH-internal analytics with FI-facing (Platinum) consumption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77240"/>
            <a:ext cx="2578608" cy="1664208"/>
          </a:xfrm>
          <a:prstGeom prst="rect">
            <a:avLst/>
          </a:prstGeom>
          <a:solidFill>
            <a:srgbClr val="F8F9FA"/>
          </a:solidFill>
          <a:ln w="10160">
            <a:solidFill>
              <a:srgbClr val="8B1A1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8600" y="777240"/>
            <a:ext cx="2578608" cy="31089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1752" y="813816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jhbi-pci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1161288"/>
            <a:ext cx="243230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DLP/KMS tokenization · Format-preserving encryption · PAN / routing number masking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71800" y="777240"/>
            <a:ext cx="2578608" cy="1664208"/>
          </a:xfrm>
          <a:prstGeom prst="rect">
            <a:avLst/>
          </a:prstGeom>
          <a:solidFill>
            <a:srgbClr val="F8F9FA"/>
          </a:solidFill>
          <a:ln w="10160">
            <a:solidFill>
              <a:srgbClr val="C55A1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971800" y="777240"/>
            <a:ext cx="2578608" cy="310896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044952" y="813816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jhbi-bronze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1161288"/>
            <a:ext cx="243230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CDC · Pub/Sub · Dataflow · Raw BQ datasets per source system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8600" y="2587752"/>
            <a:ext cx="2578608" cy="1664208"/>
          </a:xfrm>
          <a:prstGeom prst="rect">
            <a:avLst/>
          </a:prstGeom>
          <a:solidFill>
            <a:srgbClr val="F8F9FA"/>
          </a:solidFill>
          <a:ln w="10160">
            <a:solidFill>
              <a:srgbClr val="595959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28600" y="2587752"/>
            <a:ext cx="2578608" cy="310896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1752" y="262432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jhbi-silver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0040" y="2971800"/>
            <a:ext cx="243230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payments schema · Spanner MDM · Dataform Bronze→Silver transforms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71800" y="2587752"/>
            <a:ext cx="2578608" cy="1664208"/>
          </a:xfrm>
          <a:prstGeom prst="rect">
            <a:avLst/>
          </a:prstGeom>
          <a:solidFill>
            <a:srgbClr val="F8F9FA"/>
          </a:solidFill>
          <a:ln w="10160">
            <a:solidFill>
              <a:srgbClr val="5B4A8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971800" y="2587752"/>
            <a:ext cx="2578608" cy="310896"/>
          </a:xfrm>
          <a:prstGeom prst="rect">
            <a:avLst/>
          </a:prstGeom>
          <a:solidFill>
            <a:srgbClr val="5B4A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044952" y="262432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jhbi-compute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2971800"/>
            <a:ext cx="243230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Composer (Airflow) · Dataform orchestration · Cloud Run API + Portal backend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28600" y="4398264"/>
            <a:ext cx="2578608" cy="1664208"/>
          </a:xfrm>
          <a:prstGeom prst="rect">
            <a:avLst/>
          </a:prstGeom>
          <a:solidFill>
            <a:srgbClr val="F8F9FA"/>
          </a:solidFill>
          <a:ln w="10160">
            <a:solidFill>
              <a:srgbClr val="2E75B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28600" y="4398264"/>
            <a:ext cx="2578608" cy="310896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01752" y="443484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jhbi-data science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0040" y="4782312"/>
            <a:ext cx="243230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Workbench · Looker · Model training · JH internal analytics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971800" y="4398264"/>
            <a:ext cx="2578608" cy="1664208"/>
          </a:xfrm>
          <a:prstGeom prst="rect">
            <a:avLst/>
          </a:prstGeom>
          <a:solidFill>
            <a:srgbClr val="FDECEA"/>
          </a:solidFill>
          <a:ln w="254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C0392B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971800" y="4398264"/>
            <a:ext cx="2578608" cy="310896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044952" y="443484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jhbi-gold ⚠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063240" y="4782312"/>
            <a:ext cx="243230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Internal (JH) + Platinum (FI-facing) — MIXED in one project today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852160" y="777240"/>
            <a:ext cx="6126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Gold is the Problem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52160" y="1188720"/>
            <a:ext cx="6126480" cy="1627632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852160" y="1188720"/>
            <a:ext cx="54864" cy="162763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907024" y="1188720"/>
            <a:ext cx="475488" cy="162763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07024" y="1773936"/>
            <a:ext cx="4754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492240" y="1298448"/>
            <a:ext cx="5340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attribution broken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92240" y="1609344"/>
            <a:ext cx="5340096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queries run inside the gold project. All BigQuery compute — JH analyst queries AND every FI customer's portal/API/direct-BQ query — land in one billing line. No native way to see which FI is driving cost.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52160" y="2962656"/>
            <a:ext cx="6126480" cy="1627632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852160" y="2962656"/>
            <a:ext cx="54864" cy="162763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907024" y="2962656"/>
            <a:ext cx="475488" cy="162763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907024" y="3547872"/>
            <a:ext cx="4754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492240" y="3072384"/>
            <a:ext cx="5340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isolation risk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92240" y="3383280"/>
            <a:ext cx="5340096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JH-internal analytics tables and FI-facing (Platinum) consumption tables share the same project and IAM namespace. A misconfigured dataset binding or SA permission could expose one FI's data to another, or expose cross-FI analytics to an FI user.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852160" y="4736592"/>
            <a:ext cx="6126480" cy="1627632"/>
          </a:xfrm>
          <a:prstGeom prst="rect">
            <a:avLst/>
          </a:prstGeom>
          <a:solidFill>
            <a:srgbClr val="FFFFFF"/>
          </a:solidFill>
          <a:ln w="10160">
            <a:solidFill>
              <a:srgbClr val="C55A1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52160" y="4736592"/>
            <a:ext cx="54864" cy="162763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07024" y="4736592"/>
            <a:ext cx="475488" cy="162763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907024" y="5321808"/>
            <a:ext cx="4754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6492240" y="4846320"/>
            <a:ext cx="5340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access model unclear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492240" y="5157216"/>
            <a:ext cx="5340096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 need both portal/API access AND direct BigQuery SA connections (Power BI, Tableau). Serving both from a mixed-use gold project means JH internal resources are in the same blast radius as FI-facing credentials.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28600" y="6236208"/>
            <a:ext cx="117317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split Gold into Internal (JH-only) and External (FI-facing), then choose the right isolation model for External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 — Four Layers Mapped to Current GCP Projects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Bronze/Silver/Compute/PCI projects are well-structured — the split needed is inside Gold: Internal vs External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804672"/>
            <a:ext cx="11731752" cy="1243584"/>
          </a:xfrm>
          <a:prstGeom prst="rect">
            <a:avLst/>
          </a:prstGeom>
          <a:solidFill>
            <a:srgbClr val="FFF0E6"/>
          </a:solidFill>
          <a:ln w="889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1463040" cy="1243584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8600" y="96926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" y="1335024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jhbi_bronze_{source}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28600" y="1773936"/>
            <a:ext cx="1463040" cy="237744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" y="178308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jhbi-pci  →  jhbi-bronze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828800" y="914400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Shared datasets per source system (EPS, PayCenter, BillPay)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28800" y="125272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fi_id on every row — partitioned by fi_id + date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828800" y="1591056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Raw CDC events, JSON payload — schema-on-read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903720" y="914400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PCI project tokenizes PANs/routing nums (DLP/KMS) before landing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03720" y="125272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Datastream CDC in bronze project — pipeline SAs only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903720" y="1591056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Append-only, immutable — 7yr retention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0" y="896112"/>
            <a:ext cx="18288" cy="106070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8600" y="2157984"/>
            <a:ext cx="11731752" cy="1243584"/>
          </a:xfrm>
          <a:prstGeom prst="rect">
            <a:avLst/>
          </a:prstGeom>
          <a:solidFill>
            <a:srgbClr val="E9EEF3"/>
          </a:solidFill>
          <a:ln w="8890">
            <a:solidFill>
              <a:srgbClr val="5959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2157984"/>
            <a:ext cx="1463040" cy="1243584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" y="2322576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8600" y="2688336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jhbi_silver_payments  ·  upt_transaction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8600" y="3127248"/>
            <a:ext cx="1463040" cy="237744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46888" y="3136392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jhbi-silver  +  jhbi-compute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828800" y="2267712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Unified schema across all payment rails and all FIs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828800" y="2606040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fi_id tagged, entity IDs resolved from Spanner MDM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28800" y="294436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rail_ext JSON — FedNow UETR, ACH SEC code, Wire IMAD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03720" y="2267712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Clustered by fi_id, payment_rail, payment_type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903720" y="2606040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Compute project runs Dataform Bronze→Silver transforms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03720" y="294436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JH engineers, compliance teams — BigQuery RLS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0" y="2249424"/>
            <a:ext cx="18288" cy="106070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28600" y="3511296"/>
            <a:ext cx="11731752" cy="1243584"/>
          </a:xfrm>
          <a:prstGeom prst="rect">
            <a:avLst/>
          </a:prstGeom>
          <a:solidFill>
            <a:srgbClr val="FFF8E1"/>
          </a:solidFill>
          <a:ln w="8890">
            <a:solidFill>
              <a:srgbClr val="B08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28600" y="3511296"/>
            <a:ext cx="1463040" cy="1243584"/>
          </a:xfrm>
          <a:prstGeom prst="rect">
            <a:avLst/>
          </a:prstGeom>
          <a:solidFill>
            <a:srgbClr val="B08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28600" y="367588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INT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28600" y="404164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jhbi_gold_internal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480560"/>
            <a:ext cx="1463040" cy="237744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46888" y="4489704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jhbi-gold  (needs separation)  +  jhbi-data-science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828800" y="3621024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Star schema — fact_payments_unified + per-rail tables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828800" y="3959352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fi_id + RLS — authorized views for cross-FI aggregates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828800" y="4297680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JH data science, Looker, Vertex AI Workbench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903720" y="3621024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Currently mixed with Platinum in the same project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903720" y="3959352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 raw per-FI row exposure to JH individuals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903720" y="4297680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Source for Platinum — Dataform writes downstream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858000" y="3602736"/>
            <a:ext cx="18288" cy="1060704"/>
          </a:xfrm>
          <a:prstGeom prst="rect">
            <a:avLst/>
          </a:prstGeom>
          <a:solidFill>
            <a:srgbClr val="B08000"/>
          </a:solidFill>
          <a:ln w="12700">
            <a:solidFill>
              <a:srgbClr val="B08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28600" y="4864608"/>
            <a:ext cx="11731752" cy="1243584"/>
          </a:xfrm>
          <a:prstGeom prst="rect">
            <a:avLst/>
          </a:prstGeom>
          <a:solidFill>
            <a:srgbClr val="FDECEA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228600" y="4864608"/>
            <a:ext cx="1463040" cy="1243584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28600" y="50292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PLATINUM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28600" y="539496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currently in jhbi-gold — needs its own home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228600" y="5833872"/>
            <a:ext cx="1463040" cy="237744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46888" y="5843016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OPTIONS: stay in gold (A)  |  new project (B)  |  per-FI projects (C)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828800" y="4974336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FI-facing tables — unified + per-rail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1828800" y="5312664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Portal (Cloud Run in compute project) + REST API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828800" y="5650992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Direct BigQuery SA connections (Power BI, Tableau, Looker)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903720" y="4974336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TODAY: mixed with JH-internal tables — cost + isolation problem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903720" y="5312664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OPTION A: separate dataset + RLS within gold project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903720" y="5650992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OPTION B/C: dedicated project — see next slides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858000" y="4956048"/>
            <a:ext cx="18288" cy="10607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Options for Platinum — Where Does FI Data Live?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projects (bronze, silver, pci, compute, data science) stay the same — the decision is only about Platinum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01168" y="749808"/>
            <a:ext cx="3840480" cy="658368"/>
          </a:xfrm>
          <a:prstGeom prst="rect">
            <a:avLst/>
          </a:prstGeom>
          <a:solidFill>
            <a:srgbClr val="C55A11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1168" y="74980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" y="10789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Gold + RLS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1168" y="1408176"/>
            <a:ext cx="3840480" cy="256032"/>
          </a:xfrm>
          <a:prstGeom prst="rect">
            <a:avLst/>
          </a:prstGeom>
          <a:solidFill>
            <a:srgbClr val="FFF0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1408176"/>
            <a:ext cx="3712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Fastest path · keep existing project structure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1168" y="1664208"/>
            <a:ext cx="38404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" y="1737360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jhbi_gold_internal and jhbi_platinum as separate BQ datasets within the existing gold project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9184" y="2176272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BigQuery RLS to platinum: fi_id = SESSION_USER()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9184" y="2615184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Per-FI service account (in gold project) for direct BQ access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9184" y="3054096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fi_id job labels + GCP Billing Export for cost attribution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01168" y="3584448"/>
            <a:ext cx="3840480" cy="219456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01168" y="358444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01168" y="3803904"/>
            <a:ext cx="3840480" cy="1051560"/>
          </a:xfrm>
          <a:prstGeom prst="rect">
            <a:avLst/>
          </a:prstGeom>
          <a:solidFill>
            <a:srgbClr val="E8F5EC"/>
          </a:solidFill>
          <a:ln w="6350">
            <a:solidFill>
              <a:srgbClr val="BB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92608" y="385876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Zero new projects — reuses existing gold project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92608" y="417880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Fastest to implement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92608" y="449884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 SA credentials simple to provision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01168" y="4928616"/>
            <a:ext cx="3840480" cy="219456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01168" y="492861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" y="5148072"/>
            <a:ext cx="3840480" cy="1371600"/>
          </a:xfrm>
          <a:prstGeom prst="rect">
            <a:avLst/>
          </a:prstGeom>
          <a:solidFill>
            <a:srgbClr val="FDECEA"/>
          </a:solidFill>
          <a:ln w="6350">
            <a:solidFill>
              <a:srgbClr val="CC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92608" y="520293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Cost attribution still requires labels (fragile)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92608" y="552297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per-FI budget alerts — gold project is still shared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92608" y="584301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JH internal + FI external still share IAM namespace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92608" y="616305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One FI's heavy queries can impact all FIs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97096" y="749808"/>
            <a:ext cx="3840480" cy="658368"/>
          </a:xfrm>
          <a:prstGeom prst="rect">
            <a:avLst/>
          </a:prstGeom>
          <a:solidFill>
            <a:srgbClr val="2E75B6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197096" y="74980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97096" y="10789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Platinum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97096" y="1408176"/>
            <a:ext cx="3840480" cy="256032"/>
          </a:xfrm>
          <a:prstGeom prst="rect">
            <a:avLst/>
          </a:prstGeom>
          <a:solidFill>
            <a:srgbClr val="EAF2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270248" y="1408176"/>
            <a:ext cx="3712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Clean separation · SOC 2 · 20+ FIs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97096" y="1664208"/>
            <a:ext cx="38404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325112" y="1737360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jhbi-platinum project holds all FI-facing BQ datasets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325112" y="2176272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jhbi-gold project becomes JH-internal only (data science project absorbs it)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25112" y="2615184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Per-FI SA still lives in jhbi-platinum project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325112" y="3054096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Labels still needed for per-FI cost attribution within the project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97096" y="3584448"/>
            <a:ext cx="3840480" cy="219456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197096" y="358444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97096" y="3803904"/>
            <a:ext cx="3840480" cy="1371600"/>
          </a:xfrm>
          <a:prstGeom prst="rect">
            <a:avLst/>
          </a:prstGeom>
          <a:solidFill>
            <a:srgbClr val="E8F5EC"/>
          </a:solidFill>
          <a:ln w="6350">
            <a:solidFill>
              <a:srgbClr val="BB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288536" y="385876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JH-internal and Platinum are in separate GCP projects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288536" y="417880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Per-project budget alerts (FI serving vs JH analytics separate)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288536" y="449884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Smaller IAM blast radius — FI SAs can't touch JH-internal tables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288536" y="481888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Compliance: FI data access logs scoped to platinum project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197096" y="5248656"/>
            <a:ext cx="3840480" cy="219456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197096" y="524865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97096" y="5468112"/>
            <a:ext cx="3840480" cy="1051560"/>
          </a:xfrm>
          <a:prstGeom prst="rect">
            <a:avLst/>
          </a:prstGeom>
          <a:solidFill>
            <a:srgbClr val="FDECEA"/>
          </a:solidFill>
          <a:ln w="6350">
            <a:solidFill>
              <a:srgbClr val="CC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288536" y="552297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Labels still needed for per-FI costs within platinum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288536" y="584301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One FI's heavy queries still impacts all others in shared project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288536" y="616305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New project to manage (low effort — Terraform)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193024" y="749808"/>
            <a:ext cx="3840480" cy="658368"/>
          </a:xfrm>
          <a:prstGeom prst="rect">
            <a:avLst/>
          </a:prstGeom>
          <a:solidFill>
            <a:srgbClr val="1E7A4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8193024" y="74980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193024" y="10789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Projects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193024" y="1408176"/>
            <a:ext cx="3840480" cy="256032"/>
          </a:xfrm>
          <a:prstGeom prst="rect">
            <a:avLst/>
          </a:prstGeom>
          <a:solidFill>
            <a:srgbClr val="E8F5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8266176" y="1408176"/>
            <a:ext cx="3712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Enterprise FIs · data residency · native cost isolation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193024" y="1664208"/>
            <a:ext cx="384048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8321040" y="1737360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FI gets a JHBI-owned project: jhbi-fi-{name}-prod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321040" y="2176272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contains: Platinum BQ dataset + per-FI SA + budget alert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321040" y="2615184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config table (fi_routing) maps fi_id → project + dataset at query time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8321040" y="3054096"/>
            <a:ext cx="36393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Standard/portal FIs stay on shared platinum (Option B); power/enterprise FIs get Option C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8193024" y="3584448"/>
            <a:ext cx="3840480" cy="219456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8193024" y="358444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8193024" y="3803904"/>
            <a:ext cx="3840480" cy="1371600"/>
          </a:xfrm>
          <a:prstGeom prst="rect">
            <a:avLst/>
          </a:prstGeom>
          <a:solidFill>
            <a:srgbClr val="E8F5EC"/>
          </a:solidFill>
          <a:ln w="6350">
            <a:solidFill>
              <a:srgbClr val="BB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8284464" y="385876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Native per-FI cost — no labels needed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284464" y="417880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Hard budget alert per FI — spikes are isolated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284464" y="449884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Smallest IAM blast radius — each FI in own project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8284464" y="481888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Cleanest compliance: audit logs fully scoped per FI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8193024" y="5248656"/>
            <a:ext cx="3840480" cy="219456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8193024" y="524865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193024" y="5468112"/>
            <a:ext cx="3840480" cy="1051560"/>
          </a:xfrm>
          <a:prstGeom prst="rect">
            <a:avLst/>
          </a:prstGeom>
          <a:solidFill>
            <a:srgbClr val="FDECEA"/>
          </a:solidFill>
          <a:ln w="6350">
            <a:solidFill>
              <a:srgbClr val="CCBB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8284464" y="552297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Terraform automation required for onboarding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8284464" y="584301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More projects to monitor (use GCP org folder)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284464" y="6163056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Gradual migration — not a day-one requirement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Comparison Matrix — Platinum Tenancy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options for where FI-facing data lives; all other projects (bronze, silver, pci, compute, data science) unchanged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9808"/>
            <a:ext cx="2743200" cy="347472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" y="7498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749808"/>
            <a:ext cx="2743200" cy="34747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063240" y="7498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Shared Gold + RLS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97880" y="749808"/>
            <a:ext cx="2743200" cy="347472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97880" y="7498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Dedicated Platinum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32520" y="749808"/>
            <a:ext cx="3657600" cy="347472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732520" y="7498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Per-FI Projects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8600" y="1097280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1143000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cost attribution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063240" y="109728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54680" y="1143000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only (fragile)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897880" y="109728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89320" y="1143000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only (fragile)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732520" y="109728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823960" y="114300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— GCP project billing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1618488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1664208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budget alerts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63240" y="1618488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154680" y="1664208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897880" y="1618488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89320" y="1664208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Function-level only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732520" y="1618488"/>
            <a:ext cx="36576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823960" y="166420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 — per FI project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28600" y="2139696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20040" y="2185416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isolation per FI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063240" y="2139696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154680" y="2185416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897880" y="2139696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989320" y="2185416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732520" y="2139696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823960" y="218541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Quotas per project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8600" y="2660904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0040" y="2706624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blast radius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063240" y="2660904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154680" y="2706624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897880" y="2660904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989320" y="2706624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Per-function project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732520" y="2660904"/>
            <a:ext cx="36576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8823960" y="270662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FI project (minimal)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8600" y="3182112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20040" y="3227832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audit scope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063240" y="3182112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154680" y="3227832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all-tenant logs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3182112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989320" y="3227832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Per-function logs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732520" y="3182112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8823960" y="322783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FI project logs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28600" y="3703320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20040" y="3749040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needs GCP account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063240" y="3703320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3154680" y="3749040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897880" y="3703320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5989320" y="3749040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732520" y="3703320"/>
            <a:ext cx="36576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8823960" y="374904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 — JHBI manages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228600" y="4224528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320040" y="4270248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complexity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3063240" y="422452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154680" y="4270248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897880" y="422452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989320" y="4270248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732520" y="4224528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8823960" y="42702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Medium-High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28600" y="4745736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320040" y="4791456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automation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3063240" y="4745736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3154680" y="4791456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OK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897880" y="4745736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5989320" y="4791456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8732520" y="4745736"/>
            <a:ext cx="36576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8823960" y="479145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module required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228600" y="5266944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320040" y="5312664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effort from today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3063240" y="5266944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3154680" y="5312664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(current state)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5897880" y="5266944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5989320" y="5312664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config change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8732520" y="5266944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8823960" y="5312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TF per FI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228600" y="5788152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320040" y="5833872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code changes needed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3063240" y="5788152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3154680" y="5833872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None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5897880" y="5788152"/>
            <a:ext cx="27432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989320" y="5833872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None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732520" y="5788152"/>
            <a:ext cx="3657600" cy="502920"/>
          </a:xfrm>
          <a:prstGeom prst="rect">
            <a:avLst/>
          </a:prstGeom>
          <a:solidFill>
            <a:srgbClr val="E9EEF3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8823960" y="583387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None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Attribution — How It Works Per Option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cost types require different attribution mechanisms; Option C eliminates the hardest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9808"/>
            <a:ext cx="3822192" cy="502920"/>
          </a:xfrm>
          <a:prstGeom prst="rect">
            <a:avLst/>
          </a:prstGeom>
          <a:solidFill>
            <a:srgbClr val="2E75B6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" y="76809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Cost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" y="1042416"/>
            <a:ext cx="38221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query execution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8600" y="1344168"/>
            <a:ext cx="3822192" cy="25603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8600" y="1344168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1600200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8328" y="1673352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fi_id job label required on every BQ job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38328" y="2075688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Enforced via shared query-execution module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8328" y="247802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GCP Billing Export → GROUP BY fi_id label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3026664"/>
            <a:ext cx="3822192" cy="256032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8600" y="3026664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" y="3282696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38328" y="3355848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as Option A within each project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8328" y="375818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Function project gives cost-by-layer visibility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" y="4160520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fi_id label still needed for per-FI detail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4709160"/>
            <a:ext cx="3822192" cy="256032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28600" y="4709160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4965192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8328" y="503834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FI project has its own billing line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8328" y="5440680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label filtering required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38328" y="5843016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GCP Billing Export → GROUP BY project.id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24528" y="749808"/>
            <a:ext cx="3822192" cy="502920"/>
          </a:xfrm>
          <a:prstGeom prst="rect">
            <a:avLst/>
          </a:prstGeom>
          <a:solidFill>
            <a:srgbClr val="B0800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24528" y="76809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Cost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224528" y="1042416"/>
            <a:ext cx="38221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managed storage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224528" y="1344168"/>
            <a:ext cx="3822192" cy="25603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24528" y="1344168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24528" y="1600200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334256" y="1673352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native per-FI storage attribution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334256" y="2075688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monthly row-count proxy query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334256" y="247802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Prorate total storage by fi_id row share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224528" y="3026664"/>
            <a:ext cx="3822192" cy="256032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224528" y="3026664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24528" y="3282696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334256" y="3355848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as Option 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334256" y="375818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Slightly cleaner — datalake storage in own project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334256" y="4160520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fi_id row-count proxy still needed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224528" y="4709160"/>
            <a:ext cx="3822192" cy="256032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224528" y="4709160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224528" y="4965192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334256" y="503834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Platinum dataset is per FI project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334256" y="5440680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 cost is natively attributed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334256" y="5843016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INFORMATION_SCHEMA shows per-FI bytes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8220456" y="749808"/>
            <a:ext cx="3822192" cy="502920"/>
          </a:xfrm>
          <a:prstGeom prst="rect">
            <a:avLst/>
          </a:prstGeom>
          <a:solidFill>
            <a:srgbClr val="C55A11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8220456" y="76809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Serving Cost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220456" y="1042416"/>
            <a:ext cx="38221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Run, API Gateway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220456" y="1344168"/>
            <a:ext cx="3822192" cy="25603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220456" y="1344168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0456" y="1600200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8330184" y="1673352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 every API call to metering table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330184" y="2075688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fi_id + endpoint + rows_returned + bytes_billed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330184" y="247802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Serves billing + SLA monitoring + rate limiting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220456" y="3026664"/>
            <a:ext cx="3822192" cy="256032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8220456" y="3026664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8220456" y="3282696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8330184" y="3355848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Serving project separates API cost from datalake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8330184" y="375818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Metering table still needed for per-FI API detail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330184" y="4160520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Cleaner total picture — API vs data costs visible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220456" y="4709160"/>
            <a:ext cx="3822192" cy="256032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8220456" y="4709160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8220456" y="4965192"/>
            <a:ext cx="3822192" cy="1335024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8330184" y="5038344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metering approach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330184" y="5440680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Serving can be in shared project or per-FI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8330184" y="5843016"/>
            <a:ext cx="3639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Metering table gives finest granularity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228600" y="6309360"/>
            <a:ext cx="11731752" cy="0"/>
          </a:xfrm>
          <a:prstGeom prst="rect">
            <a:avLst/>
          </a:prstGeom>
          <a:solidFill>
            <a:srgbClr val="EAF2FA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Path — Starting from Your Existing 6-Project Structure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Incremental. No application code changes at any stage. FIs experience zero downtime. Existing projects unchanged.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3493008"/>
            <a:ext cx="11731752" cy="6400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20240" y="3337560"/>
            <a:ext cx="347472" cy="347472"/>
          </a:xfrm>
          <a:prstGeom prst="ellipse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20240" y="33375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777240"/>
            <a:ext cx="3840480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C55A1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777240"/>
            <a:ext cx="3840480" cy="45720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" y="795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Immediate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105156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A: Split Gold Datasets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2336" y="1316736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config-driven BQ_PROJECT_ID + DATASET_ID — never hardcoded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336" y="1700784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jhbi_gold_internal and jhbi_platinum as separate BQ datasets in existing gold project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02336" y="2084832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BigQuery RLS to platinum dataset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02336" y="2468880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Provision per-FI SA in gold project for direct BQ access (Power BI, Tableau)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336" y="2852928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 GCP Billing Export — start building cost history now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767328"/>
            <a:ext cx="3840480" cy="548640"/>
          </a:xfrm>
          <a:prstGeom prst="rect">
            <a:avLst/>
          </a:prstGeom>
          <a:solidFill>
            <a:srgbClr val="FFF0E6"/>
          </a:solidFill>
          <a:ln w="635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3794760"/>
            <a:ext cx="36941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First FI needing direct BQ access or cost reporting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87952" y="3310128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806440" y="333756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06440" y="33375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60520" y="777240"/>
            <a:ext cx="3840480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2E75B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60520" y="777240"/>
            <a:ext cx="3840480" cy="4572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160520" y="795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3–6 Months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60520" y="105156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B: Dedicated Platinum Project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288536" y="1316736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jhbi-platinum project via Terraform (low effort)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288536" y="1700784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Move platinum dataset to new project — update DATASET_PROJECT config var, no code change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88536" y="2084832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jhbi-gold project becomes JH-internal only; data science project absorbs 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88536" y="2468880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project gets its own budget alert — FI serving vs JH analytics now visibly separate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88536" y="2852928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FIs experience zero change — same API endpoint and SA credentials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160520" y="3767328"/>
            <a:ext cx="3840480" cy="548640"/>
          </a:xfrm>
          <a:prstGeom prst="rect">
            <a:avLst/>
          </a:prstGeom>
          <a:solidFill>
            <a:srgbClr val="EAF2FA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251960" y="3794760"/>
            <a:ext cx="36941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SOC 2 prep, &gt;20 FIs, or JH/FI blast radius concerns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074152" y="3310128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9692640" y="3337560"/>
            <a:ext cx="347472" cy="347472"/>
          </a:xfrm>
          <a:prstGeom prst="ellipse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692640" y="33375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46720" y="777240"/>
            <a:ext cx="3840480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1E7A4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046720" y="777240"/>
            <a:ext cx="3840480" cy="457200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046720" y="795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On Demand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046720" y="105156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C: Per-FI Projects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174736" y="1316736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module/jhbi-fi-tenant: provisions project, Platinum BQ dataset, SA, budget alert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174736" y="1700784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fi_routing config table in BQ maps fi_id → project + dataset — API resolves at token validation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174736" y="2084832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terraform apply -var fi_id=acme_bank onboards FI in minutes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174736" y="2468880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Standard FIs stay on shared platinum (Option B) — promoted individually to C when needed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174736" y="2852928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Offboard: terraform destroy on FI workspace — clean, auditable, complete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046720" y="3767328"/>
            <a:ext cx="3840480" cy="548640"/>
          </a:xfrm>
          <a:prstGeom prst="rect">
            <a:avLst/>
          </a:prstGeom>
          <a:solidFill>
            <a:srgbClr val="E8F5EC"/>
          </a:solidFill>
          <a:ln w="6350">
            <a:solidFill>
              <a:srgbClr val="1E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8138160" y="3794760"/>
            <a:ext cx="36941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Enterprise contract, data residency clause, or volume tier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28600" y="4480560"/>
            <a:ext cx="11731752" cy="960120"/>
          </a:xfrm>
          <a:prstGeom prst="rect">
            <a:avLst/>
          </a:prstGeom>
          <a:solidFill>
            <a:srgbClr val="EAF2FA"/>
          </a:solidFill>
          <a:ln w="1016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228600" y="4480560"/>
            <a:ext cx="73152" cy="96012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11480" y="45262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11480" y="4791456"/>
            <a:ext cx="11338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hardcode GCP project IDs, dataset names, or fi_id values in application code. Use config-driven references (BQ_PROJECT_ID, DATASET_ID, fi_id from JWT). The move from Option A → B → C is a Terraform and configuration change — zero application code changes at any stage.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Isolation — Three Independent Layers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applies across all topology options. Option C adds infrastructure-layer isolation on top.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77240"/>
            <a:ext cx="11731752" cy="1737360"/>
          </a:xfrm>
          <a:prstGeom prst="rect">
            <a:avLst/>
          </a:prstGeom>
          <a:solidFill>
            <a:srgbClr val="FFF0E6"/>
          </a:solidFill>
          <a:ln w="10160">
            <a:solidFill>
              <a:srgbClr val="C55A1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8600" y="777240"/>
            <a:ext cx="2377440" cy="173736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96012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Application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134416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fi_id Injection from OAuth JWT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18541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Applies: All Options — A, B, C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788920" y="960120"/>
            <a:ext cx="89611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JHBI API extracts fi_id from the validated OAuth token and binds it as a parameterized query value before any SQL execution. The FI never writes or sends SQL. A missing fi_id in the token causes the request to be rejected before it reaches BigQuery.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642616"/>
            <a:ext cx="11731752" cy="1737360"/>
          </a:xfrm>
          <a:prstGeom prst="rect">
            <a:avLst/>
          </a:prstGeom>
          <a:solidFill>
            <a:srgbClr val="EAF2FA"/>
          </a:solidFill>
          <a:ln w="10160">
            <a:solidFill>
              <a:srgbClr val="2E75B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28600" y="2642616"/>
            <a:ext cx="2377440" cy="173736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282549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Database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" y="3209544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Row-Level Security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405079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Applies: Options A &amp; B (shared datasets)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788920" y="2825496"/>
            <a:ext cx="89611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Access Policy on every shared table enforces fi_id = SESSION_USER(). BigQuery evaluates this policy before running any user-supplied query logic — it cannot be bypassed by a clever JOIN, subquery, or UNION. This is the backstop that protects against application layer bugs.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4507992"/>
            <a:ext cx="11731752" cy="1737360"/>
          </a:xfrm>
          <a:prstGeom prst="rect">
            <a:avLst/>
          </a:prstGeom>
          <a:solidFill>
            <a:srgbClr val="E8F5EC"/>
          </a:solidFill>
          <a:ln w="10160">
            <a:solidFill>
              <a:srgbClr val="1E7A4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8600" y="4507992"/>
            <a:ext cx="2377440" cy="1737360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469087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Infrastructure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040" y="5074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GCP Project + IAM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0040" y="591616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Applies: Option C only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88920" y="4690872"/>
            <a:ext cx="89611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Option C, each FI's Platinum data lives in a dedicated GCP project owned by JHBI. A permission misconfiguration in one FI's project cannot affect any other FI's project — there is no shared IAM namespace. Audit logs are scoped to the individual project.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28600" y="6400800"/>
            <a:ext cx="11731752" cy="45720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28600" y="6400800"/>
            <a:ext cx="11731752" cy="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algn="l"/>
          </a:lstStyle>
          <a:p>
            <a:pPr marL="0" indent="0" algn="ctr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Defence-in-depth: Options A and B use Layers 1+2. Option C uses Layers 1+2+3. Moving to Option C improves compliance posture but does not change the core security model.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Access Tiers — No GCP Account Required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manages all GCP infrastructure. FIs connect via portal, API, or SA credentials provisioned by JHBI.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9808"/>
            <a:ext cx="1280160" cy="32004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" y="749808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508760" y="749808"/>
            <a:ext cx="2560320" cy="32004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508760" y="74980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Method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69080" y="749808"/>
            <a:ext cx="2743200" cy="32004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069080" y="7498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Setup Required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12280" y="749808"/>
            <a:ext cx="2834640" cy="32004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12280" y="74980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46920" y="749808"/>
            <a:ext cx="2542032" cy="32004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46920" y="749808"/>
            <a:ext cx="2542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Attribution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" y="1069848"/>
            <a:ext cx="1280160" cy="1243584"/>
          </a:xfrm>
          <a:prstGeom prst="rect">
            <a:avLst/>
          </a:prstGeom>
          <a:solidFill>
            <a:srgbClr val="5959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28600" y="150876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08760" y="1069848"/>
            <a:ext cx="2560320" cy="1243584"/>
          </a:xfrm>
          <a:prstGeom prst="rect">
            <a:avLst/>
          </a:prstGeom>
          <a:solidFill>
            <a:srgbClr val="E9EEF3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600200" y="1179576"/>
            <a:ext cx="241401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Portal only (browser)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1069848"/>
            <a:ext cx="2743200" cy="1243584"/>
          </a:xfrm>
          <a:prstGeom prst="rect">
            <a:avLst/>
          </a:prstGeom>
          <a:solidFill>
            <a:srgbClr val="E9EEF3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60520" y="1179576"/>
            <a:ext cx="25968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credentials — email/password or IdP federation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12280" y="1069848"/>
            <a:ext cx="2834640" cy="1243584"/>
          </a:xfrm>
          <a:prstGeom prst="rect">
            <a:avLst/>
          </a:prstGeom>
          <a:solidFill>
            <a:srgbClr val="E9EEF3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03720" y="1179576"/>
            <a:ext cx="268833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GCP exposure whatsoever. All queries run server-side. fi_id enforced from JWT.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646920" y="1069848"/>
            <a:ext cx="2542032" cy="1243584"/>
          </a:xfrm>
          <a:prstGeom prst="rect">
            <a:avLst/>
          </a:prstGeom>
          <a:solidFill>
            <a:srgbClr val="E9EEF3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738360" y="1179576"/>
            <a:ext cx="239572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Per-seat subscription; API metering not needed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2386584"/>
            <a:ext cx="1280160" cy="1243584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28600" y="282549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08760" y="2386584"/>
            <a:ext cx="2560320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600200" y="2496312"/>
            <a:ext cx="241401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+ REST API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069080" y="2386584"/>
            <a:ext cx="2743200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160520" y="2496312"/>
            <a:ext cx="25968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(OAuth 2.0 client credentials)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812280" y="2386584"/>
            <a:ext cx="2834640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903720" y="2496312"/>
            <a:ext cx="268833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pulls data into their own systems. fi_id enforced at token issuance. No GCP setup.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646920" y="2386584"/>
            <a:ext cx="2542032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738360" y="2496312"/>
            <a:ext cx="239572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 metering: fi_id + endpoint + rows + bytes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3703320"/>
            <a:ext cx="1280160" cy="1243584"/>
          </a:xfrm>
          <a:prstGeom prst="rect">
            <a:avLst/>
          </a:prstGeom>
          <a:solidFill>
            <a:srgbClr val="B08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28600" y="4142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User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3703320"/>
            <a:ext cx="2560320" cy="1243584"/>
          </a:xfrm>
          <a:prstGeom prst="rect">
            <a:avLst/>
          </a:prstGeom>
          <a:solidFill>
            <a:srgbClr val="FFF8E1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600200" y="3813048"/>
            <a:ext cx="241401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+ API + Direct BigQuery SA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069080" y="3703320"/>
            <a:ext cx="2743200" cy="1243584"/>
          </a:xfrm>
          <a:prstGeom prst="rect">
            <a:avLst/>
          </a:prstGeom>
          <a:solidFill>
            <a:srgbClr val="FFF8E1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160520" y="3813048"/>
            <a:ext cx="25968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JHBI-provisioned SA key; no GCP console access needed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812280" y="3703320"/>
            <a:ext cx="2834640" cy="1243584"/>
          </a:xfrm>
          <a:prstGeom prst="rect">
            <a:avLst/>
          </a:prstGeom>
          <a:solidFill>
            <a:srgbClr val="FFF8E1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903720" y="3813048"/>
            <a:ext cx="268833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/ Tableau / Looker connect directly. SA scoped to Platinum + RLS for their fi_id only.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646920" y="3703320"/>
            <a:ext cx="2542032" cy="1243584"/>
          </a:xfrm>
          <a:prstGeom prst="rect">
            <a:avLst/>
          </a:prstGeom>
          <a:solidFill>
            <a:srgbClr val="FFF8E1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738360" y="3813048"/>
            <a:ext cx="239572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SA-level job attribution + metering table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8600" y="5020056"/>
            <a:ext cx="1280160" cy="1243584"/>
          </a:xfrm>
          <a:prstGeom prst="rect">
            <a:avLst/>
          </a:prstGeom>
          <a:solidFill>
            <a:srgbClr val="1E7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28600" y="545896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5020056"/>
            <a:ext cx="2560320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600200" y="5129784"/>
            <a:ext cx="241401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+ dedicated BQ dataset or GCS export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069080" y="5020056"/>
            <a:ext cx="2743200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160520" y="5129784"/>
            <a:ext cx="25968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JHBI creates dedicated project for FI; or SFTP delivery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812280" y="5020056"/>
            <a:ext cx="2834640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903720" y="5129784"/>
            <a:ext cx="268833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contract requires data residency or dedicated isolation. Promoted via Terraform from shared model.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646920" y="5020056"/>
            <a:ext cx="2542032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9738360" y="5129784"/>
            <a:ext cx="239572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per-FI project billing; no labels needed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28600" y="6400800"/>
            <a:ext cx="1173175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Enterprise tier is the only tier where a dedicated GCP project may be provisioned. JHBI owns and manages it — the FI never interacts with GCP directly.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4864"/>
            <a:ext cx="11430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&amp; Decision Framework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3657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simple, build the migration path in from day one, promote FIs to dedicated projects as business requires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6556248"/>
            <a:ext cx="12188952" cy="201168"/>
          </a:xfrm>
          <a:prstGeom prst="rect">
            <a:avLst/>
          </a:prstGeom>
          <a:solidFill>
            <a:srgbClr val="E9EE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656539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Tenancy &amp; Cost Attribution  |  Confidential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9808"/>
            <a:ext cx="3822192" cy="566928"/>
          </a:xfrm>
          <a:prstGeom prst="rect">
            <a:avLst/>
          </a:prstGeom>
          <a:solidFill>
            <a:srgbClr val="C55A11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" y="749808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" y="1024128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A: Single Project + Label Discipline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316736"/>
            <a:ext cx="3822192" cy="2743200"/>
          </a:xfrm>
          <a:prstGeom prst="rect">
            <a:avLst/>
          </a:prstGeom>
          <a:solidFill>
            <a:srgbClr val="FFFFFF"/>
          </a:solidFill>
          <a:ln w="762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6616" y="1389888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Config-driven BQ_PROJECT_ID — never hardcoded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6616" y="1901952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query module: mandatory fi_id labels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6616" y="2414016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GCP Billing Export to BigQuery enabled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6616" y="2926080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fi_id partition + cluster on all tables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" y="3438144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Terraform all datasets + IAM from day 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4059936"/>
            <a:ext cx="3822192" cy="548640"/>
          </a:xfrm>
          <a:prstGeom prst="rect">
            <a:avLst/>
          </a:prstGeom>
          <a:solidFill>
            <a:srgbClr val="FFF0E6"/>
          </a:solidFill>
          <a:ln w="635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4078224"/>
            <a:ext cx="367588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Trigger: First FI, or cost attribution request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05656" y="2487168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224528" y="749808"/>
            <a:ext cx="3822192" cy="566928"/>
          </a:xfrm>
          <a:prstGeom prst="rect">
            <a:avLst/>
          </a:prstGeom>
          <a:solidFill>
            <a:srgbClr val="2E75B6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24528" y="749808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24528" y="1024128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B: Functional Project Separation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24528" y="1316736"/>
            <a:ext cx="3822192" cy="2743200"/>
          </a:xfrm>
          <a:prstGeom prst="rect">
            <a:avLst/>
          </a:prstGeom>
          <a:solidFill>
            <a:srgbClr val="FFFFFF"/>
          </a:solidFill>
          <a:ln w="762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52544" y="1389888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ingestion / datalake / serving / devops projects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52544" y="1901952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Update BQ_PROJECT_ID config — no code changes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52544" y="2414016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Per-project budget alerts + quotas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52544" y="2926080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Parallel run during cutover; zero FI downtime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52544" y="3438144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SOC 2 audit evidence improves significantly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24528" y="4059936"/>
            <a:ext cx="3822192" cy="548640"/>
          </a:xfrm>
          <a:prstGeom prst="rect">
            <a:avLst/>
          </a:prstGeom>
          <a:solidFill>
            <a:srgbClr val="EAF2FA"/>
          </a:solidFill>
          <a:ln w="63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315968" y="4078224"/>
            <a:ext cx="367588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Trigger: SOC 2 prep, &gt;20 FIs, or cost opacity pain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101584" y="2487168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220456" y="749808"/>
            <a:ext cx="3822192" cy="566928"/>
          </a:xfrm>
          <a:prstGeom prst="rect">
            <a:avLst/>
          </a:prstGeom>
          <a:solidFill>
            <a:srgbClr val="1E7A4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220456" y="749808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E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0456" y="1024128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C: Per-FI Projects (JHBI-managed)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0456" y="1316736"/>
            <a:ext cx="3822192" cy="2743200"/>
          </a:xfrm>
          <a:prstGeom prst="rect">
            <a:avLst/>
          </a:prstGeom>
          <a:solidFill>
            <a:srgbClr val="FFFFFF"/>
          </a:solidFill>
          <a:ln w="7620">
            <a:solidFill>
              <a:srgbClr val="1E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348472" y="1389888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module/jhbi-fi-tenant Terraform module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348472" y="1901952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fi_routing config table in BQ — project per fi_id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48472" y="2414016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terraform apply -var fi_id=X onboards in minutes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48472" y="2926080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Native per-FI billing — no labels required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48472" y="3438144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Offboard cleanly: terraform destroy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20456" y="4059936"/>
            <a:ext cx="3822192" cy="548640"/>
          </a:xfrm>
          <a:prstGeom prst="rect">
            <a:avLst/>
          </a:prstGeom>
          <a:solidFill>
            <a:srgbClr val="E8F5EC"/>
          </a:solidFill>
          <a:ln w="6350">
            <a:solidFill>
              <a:srgbClr val="1E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8311896" y="4078224"/>
            <a:ext cx="367588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Trigger: Enterprise contract, data residency, or volume tier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28600" y="4773168"/>
            <a:ext cx="11731752" cy="1371600"/>
          </a:xfrm>
          <a:prstGeom prst="rect">
            <a:avLst/>
          </a:prstGeom>
          <a:solidFill>
            <a:srgbClr val="EAF2FA"/>
          </a:solidFill>
          <a:ln w="1016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28600" y="4773168"/>
            <a:ext cx="91440" cy="13716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82803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Migration-Safe Design Rule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" y="5157216"/>
            <a:ext cx="114300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BQ_PROJECT_ID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 </a:t>
            </a:r>
            <a:r>
              <a:rPr lang="en-US" sz="105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DATASET_ID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must be config variables, not string literals, everywhere in the codebase. All BQ jobs must flow through a single shared execution module that applies the </a:t>
            </a:r>
            <a:r>
              <a:rPr lang="en-US" sz="105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fi_id label</a:t>
            </a: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With these two rules in place, the path from Option A to Option C is a Terraform apply and a config table update — not a re-engineering event.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2910</Words>
  <Application>Microsoft Macintosh PowerPoint</Application>
  <PresentationFormat>Widescreen</PresentationFormat>
  <Paragraphs>339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Adam Ames</cp:lastModifiedBy>
  <cp:revision>2</cp:revision>
  <dcterms:created xsi:type="dcterms:W3CDTF">2026-02-24T19:41:49Z</dcterms:created>
  <dcterms:modified xsi:type="dcterms:W3CDTF">2026-02-24T19:48:07Z</dcterms:modified>
</cp:coreProperties>
</file>