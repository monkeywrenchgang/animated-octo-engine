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14630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Data as a Service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02920" y="21488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GCP Project Topology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Tenancy &amp; Cost Attribution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 ·  Challenges  ·  Migration Path  ·  Recommendations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3493008"/>
            <a:ext cx="6400800" cy="274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3730752"/>
            <a:ext cx="73152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 |   Confidential   |   February 2026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9509760" y="1371600"/>
            <a:ext cx="2286000" cy="1097280"/>
          </a:xfrm>
          <a:prstGeom prst="rect">
            <a:avLst>
              <a:gd name="adj" fmla="val 6667"/>
            </a:avLst>
          </a:prstGeom>
          <a:solidFill>
            <a:srgbClr val="C55A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509760" y="1536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0" y="19385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509760" y="2743200"/>
            <a:ext cx="2286000" cy="1097280"/>
          </a:xfrm>
          <a:prstGeom prst="rect">
            <a:avLst>
              <a:gd name="adj" fmla="val 6667"/>
            </a:avLst>
          </a:prstGeom>
          <a:solidFill>
            <a:srgbClr val="2E75B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09760" y="29077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509760" y="33101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Split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509760" y="4114800"/>
            <a:ext cx="2286000" cy="1097280"/>
          </a:xfrm>
          <a:prstGeom prst="rect">
            <a:avLst>
              <a:gd name="adj" fmla="val 6667"/>
            </a:avLst>
          </a:prstGeom>
          <a:solidFill>
            <a:srgbClr val="1E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509760" y="42793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509760" y="4681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Projects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Challenge — Everything in One GCP Project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Single-project architecture creates compounding problems as FI count grows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74320" y="777240"/>
            <a:ext cx="4114800" cy="5303520"/>
          </a:xfrm>
          <a:prstGeom prst="rect">
            <a:avLst/>
          </a:prstGeom>
          <a:solidFill>
            <a:srgbClr val="FFFFFF"/>
          </a:solidFill>
          <a:ln w="8890">
            <a:solidFill>
              <a:srgbClr val="E9EE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777240"/>
            <a:ext cx="41148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046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jhbi-prod  (single project)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1298448"/>
            <a:ext cx="3950208" cy="310896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13350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BigQuery: Bronze + Silver + Gold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7472" y="1664208"/>
            <a:ext cx="395020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17007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Datastream  (all FIs)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7472" y="2029968"/>
            <a:ext cx="3950208" cy="310896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5" name="Text 13"/>
          <p:cNvSpPr/>
          <p:nvPr/>
        </p:nvSpPr>
        <p:spPr>
          <a:xfrm>
            <a:off x="384048" y="20665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Cloud Run API + Portal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2395728"/>
            <a:ext cx="395020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84048" y="24323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Cloud Composer / Dataform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61488"/>
            <a:ext cx="3950208" cy="310896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279806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Spanner MDM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" y="3127248"/>
            <a:ext cx="395020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384048" y="31638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CI/CD + Secret Manager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7472" y="3493008"/>
            <a:ext cx="3950208" cy="310896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23" name="Text 21"/>
          <p:cNvSpPr/>
          <p:nvPr/>
        </p:nvSpPr>
        <p:spPr>
          <a:xfrm>
            <a:off x="384048" y="352958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 IAM — shared namespace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7472" y="3858768"/>
            <a:ext cx="3950208" cy="31089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8953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All billing — one line item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777240"/>
            <a:ext cx="7132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777240"/>
            <a:ext cx="54864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9744" y="777240"/>
            <a:ext cx="457200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9" name="Text 27"/>
          <p:cNvSpPr/>
          <p:nvPr/>
        </p:nvSpPr>
        <p:spPr>
          <a:xfrm>
            <a:off x="4809744" y="10515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376672" y="868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opacity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376672" y="1161288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 compute + storage blends into one billing line. Labels help but aren't enforced.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1819656"/>
            <a:ext cx="7132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754880" y="1819656"/>
            <a:ext cx="54864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Shape 32"/>
          <p:cNvSpPr/>
          <p:nvPr/>
        </p:nvSpPr>
        <p:spPr>
          <a:xfrm>
            <a:off x="4809744" y="1819656"/>
            <a:ext cx="457200" cy="9601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5" name="Text 33"/>
          <p:cNvSpPr/>
          <p:nvPr/>
        </p:nvSpPr>
        <p:spPr>
          <a:xfrm>
            <a:off x="4809744" y="209397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376672" y="1911096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spend controls per FI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76672" y="2203704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 running expensive queries can consume capacity for all others. No per-FI budget alerts.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862072"/>
            <a:ext cx="7132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862072"/>
            <a:ext cx="54864" cy="96012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0" name="Shape 38"/>
          <p:cNvSpPr/>
          <p:nvPr/>
        </p:nvSpPr>
        <p:spPr>
          <a:xfrm>
            <a:off x="4809744" y="2862072"/>
            <a:ext cx="457200" cy="96012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1" name="Text 39"/>
          <p:cNvSpPr/>
          <p:nvPr/>
        </p:nvSpPr>
        <p:spPr>
          <a:xfrm>
            <a:off x="4809744" y="313639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5376672" y="295351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IAM blast radius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76672" y="324612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misconfigured binding in the shared namespace can expose cross-FI data.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904488"/>
            <a:ext cx="7132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54880" y="3904488"/>
            <a:ext cx="54864" cy="96012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6" name="Shape 44"/>
          <p:cNvSpPr/>
          <p:nvPr/>
        </p:nvSpPr>
        <p:spPr>
          <a:xfrm>
            <a:off x="4809744" y="3904488"/>
            <a:ext cx="457200" cy="96012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47" name="Text 45"/>
          <p:cNvSpPr/>
          <p:nvPr/>
        </p:nvSpPr>
        <p:spPr>
          <a:xfrm>
            <a:off x="4809744" y="417880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376672" y="399592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friction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376672" y="4288536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'Show access to FI-X data' requires filtering all-tenant logs. Enterprise FI security reviews stall.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4946904"/>
            <a:ext cx="713232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4946904"/>
            <a:ext cx="54864" cy="960120"/>
          </a:xfrm>
          <a:prstGeom prst="rect">
            <a:avLst/>
          </a:prstGeom>
          <a:solidFill>
            <a:srgbClr val="B08000"/>
          </a:solidFill>
          <a:ln/>
        </p:spPr>
      </p:sp>
      <p:sp>
        <p:nvSpPr>
          <p:cNvPr id="52" name="Shape 50"/>
          <p:cNvSpPr/>
          <p:nvPr/>
        </p:nvSpPr>
        <p:spPr>
          <a:xfrm>
            <a:off x="4809744" y="4946904"/>
            <a:ext cx="457200" cy="960120"/>
          </a:xfrm>
          <a:prstGeom prst="rect">
            <a:avLst/>
          </a:prstGeom>
          <a:solidFill>
            <a:srgbClr val="B08000"/>
          </a:solidFill>
          <a:ln/>
        </p:spPr>
      </p:sp>
      <p:sp>
        <p:nvSpPr>
          <p:cNvPr id="53" name="Text 51"/>
          <p:cNvSpPr/>
          <p:nvPr/>
        </p:nvSpPr>
        <p:spPr>
          <a:xfrm>
            <a:off x="4809744" y="52212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376672" y="5038344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8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coupling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5376672" y="5330952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quota exhaustion or deployment rollback affects all FIs simultaneously.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Architecture — Four-Layer Medallion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applies regardless of GCP project topology — topology choice affects where layers live, not what they contain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804672"/>
            <a:ext cx="11731752" cy="1243584"/>
          </a:xfrm>
          <a:prstGeom prst="rect">
            <a:avLst/>
          </a:prstGeom>
          <a:solidFill>
            <a:srgbClr val="FFF0E6"/>
          </a:solidFill>
          <a:ln w="8890">
            <a:solidFill>
              <a:srgbClr val="C55A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804672"/>
            <a:ext cx="1463040" cy="124358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024128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" y="144475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jhbi_bronze_{source}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828800" y="9326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 datasets per source system (EPS, PayCenter, BillPay)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1261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fi_id on every row — partitioned by fi_id + date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828800" y="159105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Raw CDC events, JSON payload — schema-on-read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903720" y="93268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Pipeline service accounts only — no user access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903720" y="126187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Append-only, immutable — 7yr retention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903720" y="159105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PCI boundary: DLP/KMS tokenization before landing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58000" y="896112"/>
            <a:ext cx="18288" cy="1060704"/>
          </a:xfrm>
          <a:prstGeom prst="rect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2157984"/>
            <a:ext cx="11731752" cy="1243584"/>
          </a:xfrm>
          <a:prstGeom prst="rect">
            <a:avLst/>
          </a:prstGeom>
          <a:solidFill>
            <a:srgbClr val="E9EEF3"/>
          </a:solidFill>
          <a:ln w="8890">
            <a:solidFill>
              <a:srgbClr val="59595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2157984"/>
            <a:ext cx="1463040" cy="1243584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237744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28600" y="279806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jhbi_silver_payments  ·  upt_transaction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828800" y="22860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Unified schema across all payment rails and all FIs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828800" y="26151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fi_id tagged, entity IDs resolved from Spanner MDM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828800" y="29443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rail_ext JSON — FedNow UETR, ACH SEC code, Wire IMAD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03720" y="22860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Clustered by fi_id, payment_rail, payment_type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903720" y="261518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BigQuery RLS: fi_id = SESSION_USER()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903720" y="294436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JH engineers, compliance teams, Dataform jobs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858000" y="2249424"/>
            <a:ext cx="18288" cy="1060704"/>
          </a:xfrm>
          <a:prstGeom prst="rect">
            <a:avLst/>
          </a:prstGeom>
          <a:solidFill>
            <a:srgbClr val="595959"/>
          </a:solidFill>
          <a:ln w="12700">
            <a:solidFill>
              <a:srgbClr val="59595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3511296"/>
            <a:ext cx="11731752" cy="1243584"/>
          </a:xfrm>
          <a:prstGeom prst="rect">
            <a:avLst/>
          </a:prstGeom>
          <a:solidFill>
            <a:srgbClr val="FFF8E1"/>
          </a:solidFill>
          <a:ln w="8890">
            <a:solidFill>
              <a:srgbClr val="B080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" y="3511296"/>
            <a:ext cx="1463040" cy="1243584"/>
          </a:xfrm>
          <a:prstGeom prst="rect">
            <a:avLst/>
          </a:prstGeom>
          <a:solidFill>
            <a:srgbClr val="B08000"/>
          </a:solidFill>
          <a:ln/>
        </p:spPr>
      </p:sp>
      <p:sp>
        <p:nvSpPr>
          <p:cNvPr id="31" name="Text 29"/>
          <p:cNvSpPr/>
          <p:nvPr/>
        </p:nvSpPr>
        <p:spPr>
          <a:xfrm>
            <a:off x="228600" y="373075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INT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28600" y="4151376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jhbi_gold_internal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828800" y="36393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Star schema — fact_payments_unified + per-rail tables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828800" y="39684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fi_id + RLS — authorized views for cross-FI aggregates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828800" y="4297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JH data science, Looker, Vertex AI Workbench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6903720" y="363931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No raw per-FI row exposure to individual analysts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903720" y="3968496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BI Engine cache for sub-second dashboard queries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903720" y="429768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Source for Gold External — Dataform writes downstream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58000" y="3602736"/>
            <a:ext cx="18288" cy="1060704"/>
          </a:xfrm>
          <a:prstGeom prst="rect">
            <a:avLst/>
          </a:prstGeom>
          <a:solidFill>
            <a:srgbClr val="B08000"/>
          </a:solidFill>
          <a:ln w="12700">
            <a:solidFill>
              <a:srgbClr val="B0800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28600" y="4864608"/>
            <a:ext cx="11731752" cy="1243584"/>
          </a:xfrm>
          <a:prstGeom prst="rect">
            <a:avLst/>
          </a:prstGeom>
          <a:solidFill>
            <a:srgbClr val="EAF2FA"/>
          </a:solidFill>
          <a:ln w="8890">
            <a:solidFill>
              <a:srgbClr val="2E75B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4864608"/>
            <a:ext cx="1463040" cy="12435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2" name="Text 40"/>
          <p:cNvSpPr/>
          <p:nvPr/>
        </p:nvSpPr>
        <p:spPr>
          <a:xfrm>
            <a:off x="228600" y="5084064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EXT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228600" y="550468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jhbi_gold_external  OR  jhbi_fi_{name}  (per project)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1828800" y="49926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FI-facing tables — unified + per-rail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1828800" y="53218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API fi_id injection + BQ RLS as backstop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828800" y="5650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Portal, REST API, direct BQ SA (JHBI-managed)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903720" y="4992624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Shared dataset (Options A/B) OR dedicated per-FI project (Option C)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903720" y="5321808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 never needs their own GCP project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903720" y="5650992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Analytics Hub possible for enterprise FIs who want their own project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858000" y="4956048"/>
            <a:ext cx="18288" cy="1060704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Project Topology Options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are not mutually exclusive — start with A or B today, promote FIs to C on demand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01168" y="749808"/>
            <a:ext cx="3840480" cy="658368"/>
          </a:xfrm>
          <a:prstGeom prst="rect">
            <a:avLst/>
          </a:prstGeom>
          <a:solidFill>
            <a:srgbClr val="C55A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01168" y="7498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1168" y="1408176"/>
            <a:ext cx="3840480" cy="256032"/>
          </a:xfrm>
          <a:prstGeom prst="rect">
            <a:avLst/>
          </a:prstGeom>
          <a:solidFill>
            <a:srgbClr val="FFF0E6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408176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MVP · &lt; 20 FIs · pre-revenue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01168" y="1664208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" y="1737360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GCP project for all workloads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9184" y="2176272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Cost attribution via fi_id job labels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9184" y="2615184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Labels enforced by shared query module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9184" y="3054096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Simple to operate; no Terraform complexity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1168" y="3584448"/>
            <a:ext cx="3840480" cy="219456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18" name="Text 16"/>
          <p:cNvSpPr/>
          <p:nvPr/>
        </p:nvSpPr>
        <p:spPr>
          <a:xfrm>
            <a:off x="201168" y="3584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" y="3803904"/>
            <a:ext cx="3840480" cy="731520"/>
          </a:xfrm>
          <a:prstGeom prst="rect">
            <a:avLst/>
          </a:prstGeom>
          <a:solidFill>
            <a:srgbClr val="E8F5EC"/>
          </a:solidFill>
          <a:ln w="6350">
            <a:solidFill>
              <a:srgbClr val="BBCCB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" y="385876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Fastest to implement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92608" y="417880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Lowest operational overhead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4608576"/>
            <a:ext cx="3840480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" y="460857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" y="4828032"/>
            <a:ext cx="3840480" cy="1371600"/>
          </a:xfrm>
          <a:prstGeom prst="rect">
            <a:avLst/>
          </a:prstGeom>
          <a:solidFill>
            <a:srgbClr val="FDECEA"/>
          </a:solidFill>
          <a:ln w="6350">
            <a:solidFill>
              <a:srgbClr val="CCBBB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2608" y="488289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Labels fragile — easy to miss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92608" y="520293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per-FI budget controls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292608" y="552297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Wide IAM blast radius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92608" y="584301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Compliance evidence harder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97096" y="749808"/>
            <a:ext cx="3840480" cy="658368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197096" y="7498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197096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Split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197096" y="1408176"/>
            <a:ext cx="3840480" cy="256032"/>
          </a:xfrm>
          <a:prstGeom prst="rect">
            <a:avLst/>
          </a:prstGeom>
          <a:solidFill>
            <a:srgbClr val="EAF2FA"/>
          </a:solidFill>
          <a:ln/>
        </p:spPr>
      </p:sp>
      <p:sp>
        <p:nvSpPr>
          <p:cNvPr id="33" name="Text 31"/>
          <p:cNvSpPr/>
          <p:nvPr/>
        </p:nvSpPr>
        <p:spPr>
          <a:xfrm>
            <a:off x="4270248" y="1408176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20–100 FIs · post-revenue · SOC 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197096" y="1664208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25112" y="1737360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jhbi-ingestion, datalake, serving, devops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25112" y="2176272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Per-function budget alerts + quotas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325112" y="2615184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Labels still needed per FI within each project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325112" y="3054096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Migrate via config variable change only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197096" y="3584448"/>
            <a:ext cx="3840480" cy="219456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40" name="Text 38"/>
          <p:cNvSpPr/>
          <p:nvPr/>
        </p:nvSpPr>
        <p:spPr>
          <a:xfrm>
            <a:off x="4197096" y="3584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97096" y="3803904"/>
            <a:ext cx="3840480" cy="1051560"/>
          </a:xfrm>
          <a:prstGeom prst="rect">
            <a:avLst/>
          </a:prstGeom>
          <a:solidFill>
            <a:srgbClr val="E8F5EC"/>
          </a:solidFill>
          <a:ln w="6350">
            <a:solidFill>
              <a:srgbClr val="BBCC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88536" y="385876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Native cost by function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288536" y="417880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Smaller blast radius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4288536" y="449884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Compliance scoping improves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197096" y="4928616"/>
            <a:ext cx="3840480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46" name="Text 44"/>
          <p:cNvSpPr/>
          <p:nvPr/>
        </p:nvSpPr>
        <p:spPr>
          <a:xfrm>
            <a:off x="4197096" y="492861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197096" y="5148072"/>
            <a:ext cx="3840480" cy="1051560"/>
          </a:xfrm>
          <a:prstGeom prst="rect">
            <a:avLst/>
          </a:prstGeom>
          <a:solidFill>
            <a:srgbClr val="FDECEA"/>
          </a:solidFill>
          <a:ln w="6350">
            <a:solidFill>
              <a:srgbClr val="CCBB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288536" y="520293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Labels still needed for per-FI costs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288536" y="552297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Cross-project queries add latency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4288536" y="584301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More Terraform to manage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193024" y="749808"/>
            <a:ext cx="3840480" cy="658368"/>
          </a:xfrm>
          <a:prstGeom prst="rect">
            <a:avLst/>
          </a:prstGeom>
          <a:solidFill>
            <a:srgbClr val="1E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193024" y="74980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193024" y="107899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Projects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8193024" y="1408176"/>
            <a:ext cx="3840480" cy="256032"/>
          </a:xfrm>
          <a:prstGeom prst="rect">
            <a:avLst/>
          </a:prstGeom>
          <a:solidFill>
            <a:srgbClr val="E8F5EC"/>
          </a:solidFill>
          <a:ln/>
        </p:spPr>
      </p:sp>
      <p:sp>
        <p:nvSpPr>
          <p:cNvPr id="55" name="Text 53"/>
          <p:cNvSpPr/>
          <p:nvPr/>
        </p:nvSpPr>
        <p:spPr>
          <a:xfrm>
            <a:off x="8266176" y="1408176"/>
            <a:ext cx="3712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Enterprise FIs · data residency · scale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8193024" y="1664208"/>
            <a:ext cx="384048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321040" y="1737360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module per FI — provisions project, BQ dataset, SA, budget alert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8321040" y="2176272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 has NO GCP account — JHBI owns all projects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8321040" y="2615184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config table routes queries to correct project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8321040" y="3054096"/>
            <a:ext cx="363931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Offboarding: terraform destroy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193024" y="3584448"/>
            <a:ext cx="3840480" cy="219456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62" name="Text 60"/>
          <p:cNvSpPr/>
          <p:nvPr/>
        </p:nvSpPr>
        <p:spPr>
          <a:xfrm>
            <a:off x="8193024" y="35844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93024" y="3803904"/>
            <a:ext cx="3840480" cy="1371600"/>
          </a:xfrm>
          <a:prstGeom prst="rect">
            <a:avLst/>
          </a:prstGeom>
          <a:solidFill>
            <a:srgbClr val="E8F5EC"/>
          </a:solidFill>
          <a:ln w="6350">
            <a:solidFill>
              <a:srgbClr val="BBCCBB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84464" y="385876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Native per-FI cost — no labels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8284464" y="417880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Hard budget alerts per FI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284464" y="449884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Smallest IAM blast radius</a:t>
            </a:r>
            <a:endParaRPr lang="en-US" sz="950" dirty="0"/>
          </a:p>
        </p:txBody>
      </p:sp>
      <p:sp>
        <p:nvSpPr>
          <p:cNvPr id="67" name="Text 65"/>
          <p:cNvSpPr/>
          <p:nvPr/>
        </p:nvSpPr>
        <p:spPr>
          <a:xfrm>
            <a:off x="8284464" y="4818888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Cleanest compliance posture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8193024" y="5248656"/>
            <a:ext cx="3840480" cy="219456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69" name="Text 67"/>
          <p:cNvSpPr/>
          <p:nvPr/>
        </p:nvSpPr>
        <p:spPr>
          <a:xfrm>
            <a:off x="8193024" y="524865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193024" y="5468112"/>
            <a:ext cx="3840480" cy="1051560"/>
          </a:xfrm>
          <a:prstGeom prst="rect">
            <a:avLst/>
          </a:prstGeom>
          <a:solidFill>
            <a:srgbClr val="FDECEA"/>
          </a:solidFill>
          <a:ln w="6350">
            <a:solidFill>
              <a:srgbClr val="CCBBB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84464" y="552297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Terraform automation required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8284464" y="584301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GCP org project limits (raiseable)</a:t>
            </a:r>
            <a:endParaRPr lang="en-US" sz="950" dirty="0"/>
          </a:p>
        </p:txBody>
      </p:sp>
      <p:sp>
        <p:nvSpPr>
          <p:cNvPr id="73" name="Text 71"/>
          <p:cNvSpPr/>
          <p:nvPr/>
        </p:nvSpPr>
        <p:spPr>
          <a:xfrm>
            <a:off x="8284464" y="6163056"/>
            <a:ext cx="36941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More projects to monitor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Comparison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each option against key operational, cost, and compliance requirements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2743200" cy="347472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49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63240" y="749808"/>
            <a:ext cx="2743200" cy="34747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0" name="Text 8"/>
          <p:cNvSpPr/>
          <p:nvPr/>
        </p:nvSpPr>
        <p:spPr>
          <a:xfrm>
            <a:off x="3063240" y="749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897880" y="749808"/>
            <a:ext cx="2743200" cy="34747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2" name="Text 10"/>
          <p:cNvSpPr/>
          <p:nvPr/>
        </p:nvSpPr>
        <p:spPr>
          <a:xfrm>
            <a:off x="5897880" y="74980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32520" y="749808"/>
            <a:ext cx="3657600" cy="347472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749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8600" y="1097280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11430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cost attribution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063240" y="10972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1430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only (fragile)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897880" y="10972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14300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only (fragile)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8732520" y="1097280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23960" y="114300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— GCP project billing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28600" y="1618488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" y="166420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budget alerts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063240" y="1618488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154680" y="166420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897880" y="1618488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89320" y="166420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Function-level only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8732520" y="1618488"/>
            <a:ext cx="36576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23960" y="166420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Yes — per FI project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28600" y="2139696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218541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isolation per FI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063240" y="2139696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54680" y="218541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897880" y="2139696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89320" y="218541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8732520" y="2139696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218541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Quotas per project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228600" y="2660904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70662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blast radius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063240" y="2660904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54680" y="270662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project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5897880" y="2660904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89320" y="270662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Per-function project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732520" y="2660904"/>
            <a:ext cx="36576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823960" y="270662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 project (minimal)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3182112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22783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audit scope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063240" y="318211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154680" y="322783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all-tenant logs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897880" y="3182112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989320" y="322783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Per-function logs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8732520" y="3182112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23960" y="322783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FI project logs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28600" y="3703320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20040" y="374904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needs GCP account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063240" y="3703320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54680" y="374904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897880" y="3703320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989320" y="3749040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8732520" y="3703320"/>
            <a:ext cx="36576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823960" y="3749040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— JHBI manages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228600" y="4224528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20040" y="427024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complexity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063240" y="422452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154680" y="427024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5897880" y="4224528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989320" y="4270248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8732520" y="4224528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823960" y="4270248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Medium-High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228600" y="4745736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320040" y="479145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automation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3063240" y="4745736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154680" y="479145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OK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897880" y="4745736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989320" y="4791456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Scripted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8732520" y="4745736"/>
            <a:ext cx="36576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823960" y="4791456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module required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228600" y="5266944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20040" y="531266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effort from today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3063240" y="5266944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154680" y="531266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(current state)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5897880" y="5266944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989320" y="5312664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— config change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8732520" y="5266944"/>
            <a:ext cx="36576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823960" y="5312664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— TF per FI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228600" y="5788152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20040" y="583387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code changes needed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3063240" y="5788152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154680" y="583387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None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5897880" y="5788152"/>
            <a:ext cx="27432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989320" y="5833872"/>
            <a:ext cx="25786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None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8732520" y="5788152"/>
            <a:ext cx="3657600" cy="502920"/>
          </a:xfrm>
          <a:prstGeom prst="rect">
            <a:avLst/>
          </a:prstGeom>
          <a:solidFill>
            <a:srgbClr val="E9EEF3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8823960" y="5833872"/>
            <a:ext cx="349300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None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 — How It Works Per Option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cost types require different attribution mechanisms; Option C eliminates the hardest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3822192" cy="502920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76809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Cost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" y="104241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query execution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344168"/>
            <a:ext cx="3822192" cy="25603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134416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600200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" y="1673352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fi_id job label required on every BQ job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38328" y="2075688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Enforced via shared query-execution module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8328" y="247802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GCP Billing Export → GROUP BY fi_id label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" y="3026664"/>
            <a:ext cx="3822192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302666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28600" y="3282696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" y="3355848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as Option A within each project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38328" y="375818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Function project gives cost-by-layer visibility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38328" y="416052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fi_id label still needed for per-FI detail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4709160"/>
            <a:ext cx="3822192" cy="256032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23" name="Text 21"/>
          <p:cNvSpPr/>
          <p:nvPr/>
        </p:nvSpPr>
        <p:spPr>
          <a:xfrm>
            <a:off x="228600" y="47091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4965192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503834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FI project has its own billing line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38328" y="544068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label filtering required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38328" y="5843016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GCP Billing Export → GROUP BY project.id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224528" y="749808"/>
            <a:ext cx="3822192" cy="502920"/>
          </a:xfrm>
          <a:prstGeom prst="rect">
            <a:avLst/>
          </a:prstGeom>
          <a:solidFill>
            <a:srgbClr val="B08000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224528" y="76809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Cost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224528" y="104241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managed storage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24528" y="1344168"/>
            <a:ext cx="3822192" cy="25603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32" name="Text 30"/>
          <p:cNvSpPr/>
          <p:nvPr/>
        </p:nvSpPr>
        <p:spPr>
          <a:xfrm>
            <a:off x="4224528" y="134416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224528" y="1600200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34256" y="1673352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native per-FI storage attribution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334256" y="2075688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Run monthly row-count proxy query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334256" y="247802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Prorate total storage by fi_id row share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224528" y="3026664"/>
            <a:ext cx="3822192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38" name="Text 36"/>
          <p:cNvSpPr/>
          <p:nvPr/>
        </p:nvSpPr>
        <p:spPr>
          <a:xfrm>
            <a:off x="4224528" y="302666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24528" y="3282696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34256" y="3355848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as Option A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334256" y="375818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Slightly cleaner — datalake storage in own project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334256" y="416052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fi_id row-count proxy still needed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224528" y="4709160"/>
            <a:ext cx="3822192" cy="256032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44" name="Text 42"/>
          <p:cNvSpPr/>
          <p:nvPr/>
        </p:nvSpPr>
        <p:spPr>
          <a:xfrm>
            <a:off x="4224528" y="47091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224528" y="4965192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34256" y="503834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Gold External dataset is per FI project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334256" y="544068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Storage cost is natively attributed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334256" y="5843016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INFORMATION_SCHEMA shows per-FI bytes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8220456" y="749808"/>
            <a:ext cx="3822192" cy="502920"/>
          </a:xfrm>
          <a:prstGeom prst="rect">
            <a:avLst/>
          </a:prstGeom>
          <a:solidFill>
            <a:srgbClr val="C55A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8220456" y="768096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/ Serving Cost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0456" y="1042416"/>
            <a:ext cx="38221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Run, API Gateway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220456" y="1344168"/>
            <a:ext cx="3822192" cy="256032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53" name="Text 51"/>
          <p:cNvSpPr/>
          <p:nvPr/>
        </p:nvSpPr>
        <p:spPr>
          <a:xfrm>
            <a:off x="8220456" y="1344168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8220456" y="1600200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30184" y="1673352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every API call to metering table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8330184" y="2075688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fi_id + endpoint + rows_returned + bytes_billed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330184" y="247802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Serves billing + SLA monitoring + rate limiting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8220456" y="3026664"/>
            <a:ext cx="3822192" cy="256032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9" name="Text 57"/>
          <p:cNvSpPr/>
          <p:nvPr/>
        </p:nvSpPr>
        <p:spPr>
          <a:xfrm>
            <a:off x="8220456" y="3026664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8220456" y="3282696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330184" y="3355848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Serving project separates API cost from datalake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8330184" y="375818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Metering table still needed for per-FI API detail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8330184" y="416052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Cleaner total picture — API vs data costs visible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8220456" y="4709160"/>
            <a:ext cx="3822192" cy="256032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65" name="Text 63"/>
          <p:cNvSpPr/>
          <p:nvPr/>
        </p:nvSpPr>
        <p:spPr>
          <a:xfrm>
            <a:off x="8220456" y="4709160"/>
            <a:ext cx="382219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220456" y="4965192"/>
            <a:ext cx="3822192" cy="1335024"/>
          </a:xfrm>
          <a:prstGeom prst="rect">
            <a:avLst/>
          </a:prstGeom>
          <a:solidFill>
            <a:srgbClr val="FFFFFF"/>
          </a:solidFill>
          <a:ln w="6350">
            <a:solidFill>
              <a:srgbClr val="E9EEF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330184" y="5038344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Same metering approach</a:t>
            </a:r>
            <a:endParaRPr lang="en-US" sz="950" dirty="0"/>
          </a:p>
        </p:txBody>
      </p:sp>
      <p:sp>
        <p:nvSpPr>
          <p:cNvPr id="68" name="Text 66"/>
          <p:cNvSpPr/>
          <p:nvPr/>
        </p:nvSpPr>
        <p:spPr>
          <a:xfrm>
            <a:off x="8330184" y="5440680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Serving can be in shared project or per-FI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330184" y="5843016"/>
            <a:ext cx="3639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Metering table gives finest granularity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228600" y="6309360"/>
            <a:ext cx="11731752" cy="0"/>
          </a:xfrm>
          <a:prstGeom prst="rect">
            <a:avLst/>
          </a:prstGeom>
          <a:solidFill>
            <a:srgbClr val="EAF2FA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 Path — Single Project to Per-FI Projects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Incremental. No application code changes at any stage. FIs experience zero downtime.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3493008"/>
            <a:ext cx="11731752" cy="6400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8" name="Shape 6"/>
          <p:cNvSpPr/>
          <p:nvPr/>
        </p:nvSpPr>
        <p:spPr>
          <a:xfrm>
            <a:off x="1920240" y="3337560"/>
            <a:ext cx="347472" cy="347472"/>
          </a:xfrm>
          <a:prstGeom prst="ellipse">
            <a:avLst/>
          </a:prstGeom>
          <a:solidFill>
            <a:srgbClr val="C55A11"/>
          </a:solidFill>
          <a:ln/>
        </p:spPr>
      </p:sp>
      <p:sp>
        <p:nvSpPr>
          <p:cNvPr id="9" name="Text 7"/>
          <p:cNvSpPr/>
          <p:nvPr/>
        </p:nvSpPr>
        <p:spPr>
          <a:xfrm>
            <a:off x="192024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777240"/>
            <a:ext cx="384048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C55A1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777240"/>
            <a:ext cx="3840480" cy="45720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795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Now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10515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Single Project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02336" y="1316736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Config-driven BQ_PROJECT_ID throughout codebase — never hardcoded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02336" y="170078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query-execution module with mandatory fi_id label injection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02336" y="208483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Enable GCP Billing Export to BigQuery immediately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2336" y="246888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fi_id partition + cluster on all tables from day 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02336" y="285292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all datasets, IAM, and service accounts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3767328"/>
            <a:ext cx="3840480" cy="548640"/>
          </a:xfrm>
          <a:prstGeom prst="rect">
            <a:avLst/>
          </a:prstGeom>
          <a:solidFill>
            <a:srgbClr val="FFF0E6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794760"/>
            <a:ext cx="36941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First paying FI, or cost attribution needed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87952" y="3310128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806440" y="3337560"/>
            <a:ext cx="347472" cy="347472"/>
          </a:xfrm>
          <a:prstGeom prst="ellipse">
            <a:avLst/>
          </a:prstGeom>
          <a:solidFill>
            <a:srgbClr val="2E75B6"/>
          </a:solidFill>
          <a:ln/>
        </p:spPr>
      </p:sp>
      <p:sp>
        <p:nvSpPr>
          <p:cNvPr id="23" name="Text 21"/>
          <p:cNvSpPr/>
          <p:nvPr/>
        </p:nvSpPr>
        <p:spPr>
          <a:xfrm>
            <a:off x="580644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160520" y="777240"/>
            <a:ext cx="384048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60520" y="777240"/>
            <a:ext cx="3840480" cy="4572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6" name="Text 24"/>
          <p:cNvSpPr/>
          <p:nvPr/>
        </p:nvSpPr>
        <p:spPr>
          <a:xfrm>
            <a:off x="4160520" y="795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3–6 Months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0520" y="10515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Functional Split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288536" y="1316736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Create jhbi-ingestion, datalake, serving, devops projects via Terraform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288536" y="170078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BQ_PROJECT_ID config variable — no SQL changes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288536" y="208483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project gets its own budget alert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288536" y="246888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Migrate FIs one at a time; old and new projects run in parallel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288536" y="285292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FIs experience zero change — same API endpoint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160520" y="3767328"/>
            <a:ext cx="3840480" cy="548640"/>
          </a:xfrm>
          <a:prstGeom prst="rect">
            <a:avLst/>
          </a:prstGeom>
          <a:solidFill>
            <a:srgbClr val="EAF2FA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3794760"/>
            <a:ext cx="36941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SOC 2 audit, or &gt;20 FIs, or cost opacity pain point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074152" y="3310128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692640" y="3337560"/>
            <a:ext cx="347472" cy="347472"/>
          </a:xfrm>
          <a:prstGeom prst="ellipse">
            <a:avLst/>
          </a:prstGeom>
          <a:solidFill>
            <a:srgbClr val="1E7A4A"/>
          </a:solidFill>
          <a:ln/>
        </p:spPr>
      </p:sp>
      <p:sp>
        <p:nvSpPr>
          <p:cNvPr id="37" name="Text 35"/>
          <p:cNvSpPr/>
          <p:nvPr/>
        </p:nvSpPr>
        <p:spPr>
          <a:xfrm>
            <a:off x="9692640" y="333756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8046720" y="777240"/>
            <a:ext cx="3840480" cy="2468880"/>
          </a:xfrm>
          <a:prstGeom prst="rect">
            <a:avLst/>
          </a:prstGeom>
          <a:solidFill>
            <a:srgbClr val="FFFFFF"/>
          </a:solidFill>
          <a:ln w="10160">
            <a:solidFill>
              <a:srgbClr val="1E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46720" y="777240"/>
            <a:ext cx="3840480" cy="457200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40" name="Text 38"/>
          <p:cNvSpPr/>
          <p:nvPr/>
        </p:nvSpPr>
        <p:spPr>
          <a:xfrm>
            <a:off x="8046720" y="79552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On Demand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46720" y="1051560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Per-FI Projects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174736" y="1316736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 module/jhbi-fi-tenant Terraform module: project + BQ + SA + budget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8174736" y="1700784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fi_routing config table in BigQuery maps fi_id → project + dataset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74736" y="2084832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API resolves routing at token validation — no code changes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8174736" y="2468880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apply -var fi_id=acme_bank onboards FI in minutes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8174736" y="2852928"/>
            <a:ext cx="362102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Existing FIs unaffected — promoted individually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8046720" y="3767328"/>
            <a:ext cx="3840480" cy="548640"/>
          </a:xfrm>
          <a:prstGeom prst="rect">
            <a:avLst/>
          </a:prstGeom>
          <a:solidFill>
            <a:srgbClr val="E8F5EC"/>
          </a:solidFill>
          <a:ln w="6350">
            <a:solidFill>
              <a:srgbClr val="1E7A4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138160" y="3794760"/>
            <a:ext cx="3694176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Enterprise FI contract, data residency clause, or volume tier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28600" y="4480560"/>
            <a:ext cx="11731752" cy="960120"/>
          </a:xfrm>
          <a:prstGeom prst="rect">
            <a:avLst/>
          </a:prstGeom>
          <a:solidFill>
            <a:srgbClr val="EAF2FA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28600" y="4480560"/>
            <a:ext cx="73152" cy="96012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4526280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1480" y="4791456"/>
            <a:ext cx="113385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hardcode GCP project IDs, dataset names, or fi_id values in application code. Use config-driven references (BQ_PROJECT_ID, DATASET_ID, fi_id from JWT). The move from Option A → B → C is a Terraform and configuration change — zero application code changes at any stage.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Isolation — Three Independent Layers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applies across all topology options. Option C adds infrastructure-layer isolation on top.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77240"/>
            <a:ext cx="11731752" cy="1737360"/>
          </a:xfrm>
          <a:prstGeom prst="rect">
            <a:avLst/>
          </a:prstGeom>
          <a:solidFill>
            <a:srgbClr val="FFF0E6"/>
          </a:solidFill>
          <a:ln w="10160">
            <a:solidFill>
              <a:srgbClr val="C55A11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28600" y="777240"/>
            <a:ext cx="2377440" cy="173736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96012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 — Application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1344168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 Injection from OAuth JWT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18541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Applies: All Options — A, B, 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788920" y="960120"/>
            <a:ext cx="89611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JHBI API extracts fi_id from the validated OAuth token and binds it as a parameterized query value before any SQL execution. The FI never writes or sends SQL. A missing fi_id in the token causes the request to be rejected before it reaches BigQuery.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28600" y="2642616"/>
            <a:ext cx="11731752" cy="1737360"/>
          </a:xfrm>
          <a:prstGeom prst="rect">
            <a:avLst/>
          </a:prstGeom>
          <a:solidFill>
            <a:srgbClr val="EAF2FA"/>
          </a:solidFill>
          <a:ln w="10160">
            <a:solidFill>
              <a:srgbClr val="2E75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28600" y="2642616"/>
            <a:ext cx="2377440" cy="173736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282549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 — Database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" y="3209544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BigQuery Row-Level Security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" y="40507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Applies: Options A &amp; B (shared datasets)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88920" y="2825496"/>
            <a:ext cx="89611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Row Access Policy on every shared table enforces fi_id = SESSION_USER(). BigQuery evaluates this policy before running any user-supplied query logic — it cannot be bypassed by a clever JOIN, subquery, or UNION. This is the backstop that protects against application layer bugs.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" y="4507992"/>
            <a:ext cx="11731752" cy="1737360"/>
          </a:xfrm>
          <a:prstGeom prst="rect">
            <a:avLst/>
          </a:prstGeom>
          <a:solidFill>
            <a:srgbClr val="E8F5EC"/>
          </a:solidFill>
          <a:ln w="10160">
            <a:solidFill>
              <a:srgbClr val="1E7A4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28600" y="4507992"/>
            <a:ext cx="2377440" cy="1737360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46908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3 — Infrastructure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507492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Per-FI GCP Project + IAM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591616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D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Applies: Option C only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788920" y="4690872"/>
            <a:ext cx="89611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Option C, each FI's Gold External data lives in a dedicated GCP project owned by JHBI. A permission misconfiguration in one FI's project cannot affect any other FI's project — there is no shared IAM namespace. Audit logs are scoped to the individual project.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28600" y="6400800"/>
            <a:ext cx="11731752" cy="45720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6400800"/>
            <a:ext cx="11731752" cy="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algn="l"/>
          </a:lstStyle>
          <a:p>
            <a:pPr algn="ctr" indent="0" marL="0">
              <a:buNone/>
            </a:pPr>
            <a:r>
              <a:rPr lang="en-US" sz="9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Defence-in-depth: Options A and B use Layers 1+2. Option C uses Layers 1+2+3. Moving to Option C improves compliance posture but does not change the core security model.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Access Tiers — No GCP Account Required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manages all GCP infrastructure. FIs connect via portal, API, or SA credentials provisioned by JHBI.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128016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8" name="Text 6"/>
          <p:cNvSpPr/>
          <p:nvPr/>
        </p:nvSpPr>
        <p:spPr>
          <a:xfrm>
            <a:off x="228600" y="74980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508760" y="749808"/>
            <a:ext cx="256032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7498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Method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069080" y="749808"/>
            <a:ext cx="274320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2" name="Text 10"/>
          <p:cNvSpPr/>
          <p:nvPr/>
        </p:nvSpPr>
        <p:spPr>
          <a:xfrm>
            <a:off x="4069080" y="74980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Setup Required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812280" y="749808"/>
            <a:ext cx="2834640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4" name="Text 12"/>
          <p:cNvSpPr/>
          <p:nvPr/>
        </p:nvSpPr>
        <p:spPr>
          <a:xfrm>
            <a:off x="6812280" y="74980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46920" y="749808"/>
            <a:ext cx="2542032" cy="320040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16" name="Text 14"/>
          <p:cNvSpPr/>
          <p:nvPr/>
        </p:nvSpPr>
        <p:spPr>
          <a:xfrm>
            <a:off x="9646920" y="749808"/>
            <a:ext cx="25420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Attribution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28600" y="1069848"/>
            <a:ext cx="1280160" cy="1243584"/>
          </a:xfrm>
          <a:prstGeom prst="rect">
            <a:avLst/>
          </a:prstGeom>
          <a:solidFill>
            <a:srgbClr val="595959"/>
          </a:solidFill>
          <a:ln/>
        </p:spPr>
      </p:sp>
      <p:sp>
        <p:nvSpPr>
          <p:cNvPr id="18" name="Text 16"/>
          <p:cNvSpPr/>
          <p:nvPr/>
        </p:nvSpPr>
        <p:spPr>
          <a:xfrm>
            <a:off x="228600" y="150876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1508760" y="1069848"/>
            <a:ext cx="2560320" cy="1243584"/>
          </a:xfrm>
          <a:prstGeom prst="rect">
            <a:avLst/>
          </a:prstGeom>
          <a:solidFill>
            <a:srgbClr val="E9EE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600200" y="1179576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 Portal only (browser)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069080" y="1069848"/>
            <a:ext cx="2743200" cy="1243584"/>
          </a:xfrm>
          <a:prstGeom prst="rect">
            <a:avLst/>
          </a:prstGeom>
          <a:solidFill>
            <a:srgbClr val="E9EE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179576"/>
            <a:ext cx="2596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credentials — email/password or IdP federation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812280" y="1069848"/>
            <a:ext cx="2834640" cy="1243584"/>
          </a:xfrm>
          <a:prstGeom prst="rect">
            <a:avLst/>
          </a:prstGeom>
          <a:solidFill>
            <a:srgbClr val="E9EE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179576"/>
            <a:ext cx="268833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GCP exposure whatsoever. All queries run server-side. fi_id enforced from JWT.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46920" y="1069848"/>
            <a:ext cx="2542032" cy="1243584"/>
          </a:xfrm>
          <a:prstGeom prst="rect">
            <a:avLst/>
          </a:prstGeom>
          <a:solidFill>
            <a:srgbClr val="E9EEF3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38360" y="1179576"/>
            <a:ext cx="239572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Per-seat subscription; API metering not needed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28600" y="2386584"/>
            <a:ext cx="1280160" cy="1243584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28" name="Text 26"/>
          <p:cNvSpPr/>
          <p:nvPr/>
        </p:nvSpPr>
        <p:spPr>
          <a:xfrm>
            <a:off x="228600" y="282549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508760" y="2386584"/>
            <a:ext cx="25603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2496312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REST API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069080" y="2386584"/>
            <a:ext cx="274320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496312"/>
            <a:ext cx="2596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(OAuth 2.0 client credentials)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6812280" y="2386584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2496312"/>
            <a:ext cx="268833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 pulls data into their own systems. fi_id enforced at token issuance. No GCP setup.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9646920" y="2386584"/>
            <a:ext cx="2542032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38360" y="2496312"/>
            <a:ext cx="239572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 metering: fi_id + endpoint + rows + bytes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28600" y="3703320"/>
            <a:ext cx="1280160" cy="1243584"/>
          </a:xfrm>
          <a:prstGeom prst="rect">
            <a:avLst/>
          </a:prstGeom>
          <a:solidFill>
            <a:srgbClr val="B08000"/>
          </a:solidFill>
          <a:ln/>
        </p:spPr>
      </p:sp>
      <p:sp>
        <p:nvSpPr>
          <p:cNvPr id="38" name="Text 36"/>
          <p:cNvSpPr/>
          <p:nvPr/>
        </p:nvSpPr>
        <p:spPr>
          <a:xfrm>
            <a:off x="228600" y="414223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1508760" y="3703320"/>
            <a:ext cx="2560320" cy="1243584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00200" y="3813048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+ API + Direct BigQuery SA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069080" y="3703320"/>
            <a:ext cx="2743200" cy="1243584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3813048"/>
            <a:ext cx="2596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JHBI-provisioned SA key; no GCP console access needed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812280" y="3703320"/>
            <a:ext cx="2834640" cy="1243584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03720" y="3813048"/>
            <a:ext cx="268833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/ Tableau / Looker connect directly. SA scoped to Gold External + RLS for their fi_id only.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9646920" y="3703320"/>
            <a:ext cx="2542032" cy="1243584"/>
          </a:xfrm>
          <a:prstGeom prst="rect">
            <a:avLst/>
          </a:prstGeom>
          <a:solidFill>
            <a:srgbClr val="FFF8E1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38360" y="3813048"/>
            <a:ext cx="239572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SA-level job attribution + metering table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228600" y="5020056"/>
            <a:ext cx="1280160" cy="1243584"/>
          </a:xfrm>
          <a:prstGeom prst="rect">
            <a:avLst/>
          </a:prstGeom>
          <a:solidFill>
            <a:srgbClr val="1E7A4A"/>
          </a:solidFill>
          <a:ln/>
        </p:spPr>
      </p:sp>
      <p:sp>
        <p:nvSpPr>
          <p:cNvPr id="48" name="Text 46"/>
          <p:cNvSpPr/>
          <p:nvPr/>
        </p:nvSpPr>
        <p:spPr>
          <a:xfrm>
            <a:off x="228600" y="545896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508760" y="5020056"/>
            <a:ext cx="256032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600200" y="5129784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+ dedicated BQ dataset or GCS export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069080" y="5020056"/>
            <a:ext cx="274320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0520" y="5129784"/>
            <a:ext cx="259689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JHBI creates dedicated project for FI; or SFTP delivery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6812280" y="5020056"/>
            <a:ext cx="2834640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03720" y="5129784"/>
            <a:ext cx="268833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contract requires data residency or dedicated isolation. Promoted via Terraform from shared model.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646920" y="5020056"/>
            <a:ext cx="2542032" cy="1243584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9738360" y="5129784"/>
            <a:ext cx="2395728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per-FI project billing; no labels needed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28600" y="6400800"/>
            <a:ext cx="1173175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Enterprise tier is the only tier where a dedicated GCP project may be provisioned. JHBI owns and manages it — the FI never interacts with GCP directly.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1F4E7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54864"/>
            <a:ext cx="114300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&amp; Decision Framework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365760"/>
            <a:ext cx="11430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simple, build the migration path in from day one, promote FIs to dedicated projects as business requires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6556248"/>
            <a:ext cx="12188952" cy="201168"/>
          </a:xfrm>
          <a:prstGeom prst="rect">
            <a:avLst/>
          </a:prstGeom>
          <a:solidFill>
            <a:srgbClr val="E9EEF3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56539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 Henry Business Intelligence  |  GCP Tenancy &amp; Cost Attribution  |  Confidential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8600" y="749808"/>
            <a:ext cx="3822192" cy="566928"/>
          </a:xfrm>
          <a:prstGeom prst="rect">
            <a:avLst/>
          </a:prstGeom>
          <a:solidFill>
            <a:srgbClr val="C55A11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74980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102412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A: Single Project + Label Discipline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316736"/>
            <a:ext cx="3822192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" y="138988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Config-driven BQ_PROJECT_ID — never hardcoded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6616" y="1901952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Shared query module: mandatory fi_id labels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56616" y="241401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GCP Billing Export to BigQuery enabled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6616" y="2926080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fi_id partition + cluster on all tables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6616" y="3438144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all datasets + IAM from day one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4059936"/>
            <a:ext cx="3822192" cy="548640"/>
          </a:xfrm>
          <a:prstGeom prst="rect">
            <a:avLst/>
          </a:prstGeom>
          <a:solidFill>
            <a:srgbClr val="FFF0E6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4078224"/>
            <a:ext cx="3675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Trigger: First FI, or cost attribution request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05656" y="2487168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4224528" y="749808"/>
            <a:ext cx="3822192" cy="566928"/>
          </a:xfrm>
          <a:prstGeom prst="rect">
            <a:avLst/>
          </a:prstGeom>
          <a:solidFill>
            <a:srgbClr val="2E75B6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224528" y="74980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3–6 mo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24528" y="102412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B: Functional Project Separation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224528" y="1316736"/>
            <a:ext cx="3822192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2E75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352544" y="138988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ingestion / datalake / serving / devops projects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352544" y="1901952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Update BQ_PROJECT_ID config — no code changes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352544" y="241401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Per-project budget alerts + quotas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52544" y="2926080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Parallel run during cutover; zero FI downtime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352544" y="3438144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SOC 2 audit evidence improves significantly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224528" y="4059936"/>
            <a:ext cx="3822192" cy="548640"/>
          </a:xfrm>
          <a:prstGeom prst="rect">
            <a:avLst/>
          </a:prstGeom>
          <a:solidFill>
            <a:srgbClr val="EAF2FA"/>
          </a:solidFill>
          <a:ln w="6350">
            <a:solidFill>
              <a:srgbClr val="2E75B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15968" y="4078224"/>
            <a:ext cx="3675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Trigger: SOC 2 prep, &gt;20 FIs, or cost opacity pain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101584" y="2487168"/>
            <a:ext cx="25603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8496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8220456" y="749808"/>
            <a:ext cx="3822192" cy="566928"/>
          </a:xfrm>
          <a:prstGeom prst="rect">
            <a:avLst/>
          </a:prstGeom>
          <a:solidFill>
            <a:srgbClr val="1E7A4A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220456" y="74980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EEE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demand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220456" y="1024128"/>
            <a:ext cx="38221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C: Per-FI Projects (JHBI-managed)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0456" y="1316736"/>
            <a:ext cx="3822192" cy="2743200"/>
          </a:xfrm>
          <a:prstGeom prst="rect">
            <a:avLst/>
          </a:prstGeom>
          <a:solidFill>
            <a:srgbClr val="FFFFFF"/>
          </a:solidFill>
          <a:ln w="7620">
            <a:solidFill>
              <a:srgbClr val="1E7A4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348472" y="1389888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module/jhbi-fi-tenant Terraform module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348472" y="1901952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fi_routing config table in BQ — project per fi_id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348472" y="2414016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terraform apply -var fi_id=X onboards in minutes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348472" y="2926080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per-FI billing — no labels required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348472" y="3438144"/>
            <a:ext cx="36027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Offboard cleanly: terraform destroy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220456" y="4059936"/>
            <a:ext cx="3822192" cy="548640"/>
          </a:xfrm>
          <a:prstGeom prst="rect">
            <a:avLst/>
          </a:prstGeom>
          <a:solidFill>
            <a:srgbClr val="E8F5EC"/>
          </a:solidFill>
          <a:ln w="6350">
            <a:solidFill>
              <a:srgbClr val="1E7A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11896" y="4078224"/>
            <a:ext cx="367588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E7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Trigger: Enterprise contract, data residency, or volume tier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228600" y="4773168"/>
            <a:ext cx="11731752" cy="1371600"/>
          </a:xfrm>
          <a:prstGeom prst="rect">
            <a:avLst/>
          </a:prstGeom>
          <a:solidFill>
            <a:srgbClr val="EAF2FA"/>
          </a:solidFill>
          <a:ln w="10160">
            <a:solidFill>
              <a:srgbClr val="2E75B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28600" y="4773168"/>
            <a:ext cx="91440" cy="1371600"/>
          </a:xfrm>
          <a:prstGeom prst="rect">
            <a:avLst/>
          </a:prstGeom>
          <a:solidFill>
            <a:srgbClr val="2E75B6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828032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Migration-Safe Design Rule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57200" y="5157216"/>
            <a:ext cx="11430000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BQ_PROJECT_ID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 </a:t>
            </a:r>
            <a:pPr indent="0" marL="0">
              <a:buNone/>
            </a:pPr>
            <a:r>
              <a:rPr lang="en-US" sz="1050" b="1" dirty="0">
                <a:solidFill>
                  <a:srgbClr val="2E75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DATASET_ID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must be config variables, not string literals, everywhere in the codebase. All BQ jobs must flow through a single shared execution module that applies the </a:t>
            </a:r>
            <a:pPr indent="0" marL="0">
              <a:buNone/>
            </a:pPr>
            <a:r>
              <a:rPr lang="en-US" sz="105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fi_id label</a:t>
            </a:r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With these two rules in place, the path from Option A to Option C is a Terraform apply and a config table update — not a re-engineering event.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2026-02-24T18:36:53Z</dcterms:created>
  <dcterms:modified xsi:type="dcterms:W3CDTF">2026-02-24T18:36:53Z</dcterms:modified>
</cp:coreProperties>
</file>